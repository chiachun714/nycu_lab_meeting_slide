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98" r:id="rId3"/>
    <p:sldId id="294" r:id="rId4"/>
    <p:sldId id="300" r:id="rId5"/>
    <p:sldId id="295" r:id="rId6"/>
    <p:sldId id="301" r:id="rId7"/>
    <p:sldId id="303" r:id="rId8"/>
    <p:sldId id="304" r:id="rId9"/>
    <p:sldId id="296" r:id="rId10"/>
    <p:sldId id="305" r:id="rId11"/>
    <p:sldId id="306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02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67416-E885-412F-84DB-27A49CF017DB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8B45F-093E-4D06-A392-4E5BB62352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81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974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05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726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487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2551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76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967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369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456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708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397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973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303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9978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517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251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514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986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03AC3-F930-40F8-B2E2-C7FEDDC59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5B0ADB-9DE4-4D32-B9FE-BFAAEEB97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41C9E9-0CAE-45F3-B27A-338220EA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5DD923-94F8-40DB-9FC8-835CC40D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560413-01EB-4FEF-B3C6-0FFBEACD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18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D9DF4-2852-4024-8802-797DAE73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29D3BF-D626-49B5-B53E-41746F679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DFED1C-7EB1-4453-A79F-56D3B317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FE8691-9180-4949-A8FC-2B2B0252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66FC31-A0F0-4E38-9F53-95EFB865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62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6EF944-1615-4175-9B87-8BEDD41D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C656FA-9B96-4463-A1BE-B8A21086E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DEF507-4A89-4ECB-9B2A-C2B8DA94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B1B8C0-2170-4863-B946-0CE37DEF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42545E-AB3B-474C-8B81-DCFAACE0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27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BFA21-1D78-484C-B665-871ECA9E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CA08C7-C6F7-46BC-B7D3-87C6B8E05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73A451-4259-4C2D-BBF0-819ABE50A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21EDB-A518-4D05-A3D3-30D82FF3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E9ABF7-0D5C-4AE7-91BF-F61757B1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F88571-5AE6-4803-AAA1-F03173B5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16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E49CE3-F1FC-4AEF-9AE0-BE449D7B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A84702-8434-4368-B907-89B6B256E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169353-2A0F-4DB7-A0BD-47DE77B27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3B0828-708E-424D-855A-812791623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4A33736-DBEF-4942-A725-8D36D0B00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58A6BA1-105E-4FC3-AA97-97886B03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4F2E56-CB40-4D13-A1AC-2866544C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CEB961-17E1-4588-A12A-B093BF8E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86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E7AE01-F084-4DC2-90E3-2603A0B4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D976C43-F8B0-4DD3-A880-E66990C4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D8F781-8210-4BA4-9025-1BE93B24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055031-FE24-40A4-9472-31EFFA0C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75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FCFF300-24FE-4366-8C37-0FE0031B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ACD1D94-4F5B-4D50-9FA5-F44BC0F3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B7F6A5-9CD3-4836-BD50-A86E3ACC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41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69CBA-E0B5-4C9D-B466-C7057422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088BC5-250E-49DA-80AC-FD0096A7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D9B526-F06B-42DB-8893-EDA0742A8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C5825D-BB97-4EEA-8638-18706545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C2EC62-F9F0-45D8-93F1-2A6F9465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FB231D-C5B4-4C4B-A246-2ACDC51F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18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073B0-25BD-430B-A976-C63D01D7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866C5C6-0D1C-41EA-8D68-5C3EF956A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E30DED-0E13-4B86-A91A-3554CB994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A25818-A4DC-4E53-8E0C-BD828F93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094486-C775-49C7-B38B-FAF93655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5D6368-B2E2-48BC-9AD8-11B0D20A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93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7B9CA-970D-478A-9125-6E53A981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2ECB6F-41F2-46F1-BC5D-B82FE1A1D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1139EF-C7CF-4500-A1F6-C2C75CD0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C62800-825F-4C7F-AF02-52D85DFD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9EFC94-01CA-467D-A41F-45E7B170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915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5E719A7-2595-4C3E-90BF-C77EAA379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B0EF5D-D2FB-43FA-9BBA-ADBFEB526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9D1FC-40AB-41CF-B316-E875F43D3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9433AA-B3AD-4C2F-8150-C322DDC1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FBC503-6661-4A51-AC97-EE591AE6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09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C2CE42D-5238-4009-85AE-9826FC5A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09846A-EE8A-4A77-956F-0CC99F31A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16DE27-E29B-4288-B6C2-11DBB6AED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211D-E91B-4154-A499-1C8CD717317E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68FECD-0C99-4D9D-B7DE-98D2D94ED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1FA8F6-1113-4BCD-8C56-3F0C9DF4D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87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2024/05/22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Papers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A64EE11-A1F5-4626-A653-B6B1871159A9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/>
              <a:t>Toward Knowledge-Driven Speech-Based Models of Depression: Leveraging Spectro-temporal Variations in Speech Vowels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>
                <a:ea typeface="標楷體" panose="03000509000000000000" pitchFamily="65" charset="-120"/>
              </a:rPr>
              <a:t>A Knowledge-Driven Vowel-Based Approach of Depression Classification from Speech using Data Augmentation</a:t>
            </a:r>
          </a:p>
          <a:p>
            <a:pPr lvl="2"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341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Toward Knowledge-Driven Speech-Based Models of Depression: Leveraging Spectro-temporal Variations in Speech Vowels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990599" y="16089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有研究顯示憂鬱症病患與健康的人相比，發出的母音</a:t>
            </a:r>
            <a:r>
              <a:rPr lang="en-US" altLang="zh-TW" dirty="0">
                <a:ea typeface="標楷體" panose="03000509000000000000" pitchFamily="65" charset="-120"/>
              </a:rPr>
              <a:t>(Vowel)</a:t>
            </a:r>
            <a:r>
              <a:rPr lang="zh-TW" altLang="en-US" dirty="0">
                <a:ea typeface="標楷體" panose="03000509000000000000" pitchFamily="65" charset="-120"/>
              </a:rPr>
              <a:t>的頻率範圍較少，或者是在母音之間產生明顯的能量變化。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他的方法拆分成三個步驟</a:t>
            </a:r>
            <a:r>
              <a:rPr lang="en-US" altLang="zh-TW" dirty="0">
                <a:ea typeface="標楷體" panose="03000509000000000000" pitchFamily="65" charset="-120"/>
              </a:rPr>
              <a:t>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>
                <a:ea typeface="標楷體" panose="03000509000000000000" pitchFamily="65" charset="-120"/>
              </a:rPr>
              <a:t>Vowel segmentation module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>
                <a:ea typeface="標楷體" panose="03000509000000000000" pitchFamily="65" charset="-120"/>
              </a:rPr>
              <a:t>Vowel classification module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>
                <a:ea typeface="標楷體" panose="03000509000000000000" pitchFamily="65" charset="-120"/>
              </a:rPr>
              <a:t>Depression classification module</a:t>
            </a: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Vowel segmentation module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8FBBC64-6162-4994-B091-CA4481222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196" y="1243806"/>
            <a:ext cx="77057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7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9C64E26-791C-4A66-9979-11A5A112792B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訓練模型做 </a:t>
            </a:r>
            <a:r>
              <a:rPr lang="en-US" altLang="zh-TW" dirty="0">
                <a:ea typeface="標楷體" panose="03000509000000000000" pitchFamily="65" charset="-120"/>
              </a:rPr>
              <a:t>vowel classification task</a:t>
            </a: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Vowel classification module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000FF04-3CE5-4564-98B8-C756E85E0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7" y="2675432"/>
            <a:ext cx="98393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8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9C64E26-791C-4A66-9979-11A5A112792B}"/>
              </a:ext>
            </a:extLst>
          </p:cNvPr>
          <p:cNvSpPr txBox="1">
            <a:spLocks/>
          </p:cNvSpPr>
          <p:nvPr/>
        </p:nvSpPr>
        <p:spPr>
          <a:xfrm>
            <a:off x="948654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訓練 </a:t>
            </a:r>
            <a:r>
              <a:rPr lang="en-US" altLang="zh-TW" dirty="0">
                <a:ea typeface="標楷體" panose="03000509000000000000" pitchFamily="65" charset="-120"/>
              </a:rPr>
              <a:t>LSTM </a:t>
            </a:r>
            <a:r>
              <a:rPr lang="zh-TW" altLang="en-US" dirty="0">
                <a:ea typeface="標楷體" panose="03000509000000000000" pitchFamily="65" charset="-120"/>
              </a:rPr>
              <a:t>進行 </a:t>
            </a:r>
            <a:r>
              <a:rPr lang="en-US" altLang="zh-TW" dirty="0">
                <a:ea typeface="標楷體" panose="03000509000000000000" pitchFamily="65" charset="-120"/>
              </a:rPr>
              <a:t>Depression Detection</a:t>
            </a: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Depression classification module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CE2A5EA-482D-4FD1-B85A-E0A06892A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231215"/>
            <a:ext cx="7477125" cy="45529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04C89AF-B51B-4939-96AF-51A412A2D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427" y="2231215"/>
            <a:ext cx="8909108" cy="200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4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Vowel classification module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7297168-33E4-45C8-95AD-34DE898BD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580"/>
            <a:ext cx="12192000" cy="211706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764A3C3-F083-467F-B1B5-27BA81F24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77245"/>
            <a:ext cx="12192000" cy="1966452"/>
          </a:xfrm>
          <a:prstGeom prst="rect">
            <a:avLst/>
          </a:prstGeom>
        </p:spPr>
      </p:pic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940265" y="1192892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b="0" i="0" dirty="0">
                <a:effectLst/>
                <a:latin typeface="Arial" panose="020B0604020202020204" pitchFamily="34" charset="0"/>
              </a:rPr>
              <a:t>Precision/recall/f1-score Of Vowel Classification With Different Confidence Thresholds (CT).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2800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Depression classification module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838201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b="0" i="0" dirty="0">
                <a:effectLst/>
                <a:latin typeface="Arial" panose="020B0604020202020204" pitchFamily="34" charset="0"/>
              </a:rPr>
              <a:t>Depression Classification Performance For The Proposed And</a:t>
            </a:r>
            <a:r>
              <a:rPr lang="zh-TW" alt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</a:rPr>
              <a:t>B</a:t>
            </a:r>
            <a:r>
              <a:rPr lang="en-US" altLang="zh-TW" b="0" i="0" dirty="0">
                <a:effectLst/>
                <a:latin typeface="Arial" panose="020B0604020202020204" pitchFamily="34" charset="0"/>
              </a:rPr>
              <a:t>aseline Methods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CEC04C4-F5B0-4221-A7D2-A5F1D494A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0866"/>
            <a:ext cx="12192000" cy="26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15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1A2F610-645A-4239-B0BF-502FA5BBBD95}"/>
              </a:ext>
            </a:extLst>
          </p:cNvPr>
          <p:cNvSpPr txBox="1">
            <a:spLocks/>
          </p:cNvSpPr>
          <p:nvPr/>
        </p:nvSpPr>
        <p:spPr>
          <a:xfrm>
            <a:off x="990599" y="16089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用</a:t>
            </a:r>
            <a:r>
              <a:rPr lang="en-US" altLang="zh-TW" dirty="0">
                <a:ea typeface="標楷體" panose="03000509000000000000" pitchFamily="65" charset="-120"/>
              </a:rPr>
              <a:t>LIME (Local Interpretable Model-Agnostic Explanation)</a:t>
            </a:r>
            <a:r>
              <a:rPr lang="zh-TW" altLang="en-US" dirty="0">
                <a:ea typeface="標楷體" panose="03000509000000000000" pitchFamily="65" charset="-120"/>
              </a:rPr>
              <a:t> 嘗試評估每個母音類別對 </a:t>
            </a:r>
            <a:r>
              <a:rPr lang="en-US" altLang="zh-TW" dirty="0">
                <a:ea typeface="標楷體" panose="03000509000000000000" pitchFamily="65" charset="-120"/>
              </a:rPr>
              <a:t>LSTM</a:t>
            </a:r>
            <a:r>
              <a:rPr lang="zh-TW" altLang="en-US" dirty="0">
                <a:ea typeface="標楷體" panose="03000509000000000000" pitchFamily="65" charset="-120"/>
              </a:rPr>
              <a:t> 模型的 </a:t>
            </a:r>
            <a:r>
              <a:rPr lang="en-US" altLang="zh-TW" dirty="0">
                <a:ea typeface="標楷體" panose="03000509000000000000" pitchFamily="65" charset="-120"/>
              </a:rPr>
              <a:t>classification output </a:t>
            </a:r>
            <a:r>
              <a:rPr lang="zh-TW" altLang="en-US" dirty="0">
                <a:ea typeface="標楷體" panose="03000509000000000000" pitchFamily="65" charset="-120"/>
              </a:rPr>
              <a:t>的貢獻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Why Should I Trust You?”: Explaining the Predictions of Any Classifier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883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Local Interpretable Model-Agnostic Explanation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838201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對於一個分類器</a:t>
            </a:r>
            <a:r>
              <a:rPr lang="en-US" altLang="zh-TW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複雜模型</a:t>
            </a:r>
            <a:r>
              <a:rPr lang="en-US" altLang="zh-TW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，想要用一個可解釋模型</a:t>
            </a:r>
            <a:r>
              <a:rPr lang="en-US" altLang="zh-TW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簡單模型</a:t>
            </a:r>
            <a:r>
              <a:rPr lang="en-US" altLang="zh-TW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，搭配可解釋的特徵</a:t>
            </a:r>
            <a:r>
              <a:rPr lang="en-US" altLang="zh-TW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(Feature)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，並且這個可解釋模型在局部的表現上，很接近複雜模型的效果。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3E19B0-98CA-40A8-A800-0208306E1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95" y="3286387"/>
            <a:ext cx="66675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C97FEF9-862A-4185-8D07-954943265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248" y="3657862"/>
            <a:ext cx="20574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5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Local Interpretable Model-Agnostic Explanation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838201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對欲解釋的資料做隨機擾動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(perturbation)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F873F4-47DF-48D4-BCD4-75BF83DD8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358" y="2711164"/>
            <a:ext cx="9571283" cy="280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193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Local Interpretable Model-Agnostic Explanation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838201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對欲解釋的資料做隨機擾動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(perturbation)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A258E82-7345-4B75-B391-29FAF6969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098" y="2170871"/>
            <a:ext cx="6296025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463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Local Interpretable Model-Agnostic Explanation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838201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將擾動後的資料丟入複雜模型產生出擾動資料對應的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label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FDC2793-C3E0-4BCE-9009-9C0E8FDC7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708" y="2406534"/>
            <a:ext cx="10248091" cy="338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218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Local Interpretable Model-Agnostic Explanation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838201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將擾動資料與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label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拿去訓練一個簡單模型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8B52E09-1079-4ECB-B474-29CE3C1CC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89" y="2616980"/>
            <a:ext cx="990600" cy="33051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1EFF18D-E449-48A0-99E4-BBE554919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074" y="2721755"/>
            <a:ext cx="1162050" cy="3200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F668D87-DF15-4D12-B80F-B48B15F82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467" y="3199497"/>
            <a:ext cx="2324100" cy="7143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DAD9A5F-B860-44F8-83C9-82654DFD0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467" y="4081739"/>
            <a:ext cx="2324100" cy="7143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3087FE8-D0BD-43DC-9D37-C9075F958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467" y="5073038"/>
            <a:ext cx="2324100" cy="714375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FFB8B8B2-CD32-4887-9DFD-596D70B51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814" y="3224235"/>
            <a:ext cx="43053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F8156C-BDE3-43A6-BA36-4227B886F4AF}"/>
              </a:ext>
            </a:extLst>
          </p:cNvPr>
          <p:cNvSpPr txBox="1"/>
          <p:nvPr/>
        </p:nvSpPr>
        <p:spPr>
          <a:xfrm>
            <a:off x="2519143" y="245797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Input</a:t>
            </a:r>
            <a:endParaRPr lang="zh-TW" altLang="en-US" sz="28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2326942-6228-4707-BB14-A036AF3E1286}"/>
              </a:ext>
            </a:extLst>
          </p:cNvPr>
          <p:cNvSpPr txBox="1"/>
          <p:nvPr/>
        </p:nvSpPr>
        <p:spPr>
          <a:xfrm>
            <a:off x="4277074" y="245797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label</a:t>
            </a:r>
            <a:endParaRPr lang="zh-TW" altLang="en-US" sz="2800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96B2AF0-5B61-4033-9918-54198E54394B}"/>
              </a:ext>
            </a:extLst>
          </p:cNvPr>
          <p:cNvSpPr/>
          <p:nvPr/>
        </p:nvSpPr>
        <p:spPr>
          <a:xfrm>
            <a:off x="6476301" y="3913872"/>
            <a:ext cx="1526796" cy="104402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g(z’)</a:t>
            </a:r>
            <a:endParaRPr lang="zh-TW" altLang="en-US" sz="3600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E6FBF9B6-70E3-4142-915B-49DFCFCC0F47}"/>
              </a:ext>
            </a:extLst>
          </p:cNvPr>
          <p:cNvSpPr/>
          <p:nvPr/>
        </p:nvSpPr>
        <p:spPr>
          <a:xfrm>
            <a:off x="5672005" y="4284666"/>
            <a:ext cx="619387" cy="3024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E28F570-C1D6-4A39-8C59-8394D86E001B}"/>
              </a:ext>
            </a:extLst>
          </p:cNvPr>
          <p:cNvSpPr txBox="1"/>
          <p:nvPr/>
        </p:nvSpPr>
        <p:spPr>
          <a:xfrm>
            <a:off x="5485701" y="3746347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train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10368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Local Interpretable Model-Agnostic Explanation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9064B3E4-9422-4F97-B77F-D05945BAA907}"/>
              </a:ext>
            </a:extLst>
          </p:cNvPr>
          <p:cNvSpPr txBox="1">
            <a:spLocks/>
          </p:cNvSpPr>
          <p:nvPr/>
        </p:nvSpPr>
        <p:spPr>
          <a:xfrm>
            <a:off x="838201" y="1343818"/>
            <a:ext cx="10515600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將擾動資料與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label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拿去訓練一個簡單模型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BC32D749-CCEB-44CF-BD26-D51A8B105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44" y="2905125"/>
            <a:ext cx="3724275" cy="523875"/>
          </a:xfrm>
          <a:prstGeom prst="rect">
            <a:avLst/>
          </a:prstGeom>
        </p:spPr>
      </p:pic>
      <p:graphicFrame>
        <p:nvGraphicFramePr>
          <p:cNvPr id="21" name="表格 21">
            <a:extLst>
              <a:ext uri="{FF2B5EF4-FFF2-40B4-BE49-F238E27FC236}">
                <a16:creationId xmlns:a16="http://schemas.microsoft.com/office/drawing/2014/main" id="{80E850F9-B6D9-48EB-859A-749F68980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135219"/>
              </p:ext>
            </p:extLst>
          </p:nvPr>
        </p:nvGraphicFramePr>
        <p:xfrm>
          <a:off x="970544" y="3560272"/>
          <a:ext cx="37242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855">
                  <a:extLst>
                    <a:ext uri="{9D8B030D-6E8A-4147-A177-3AD203B41FA5}">
                      <a16:colId xmlns:a16="http://schemas.microsoft.com/office/drawing/2014/main" val="606480301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3344648921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120346134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840349777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4056933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W3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Wm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515472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59A8A891-2276-4491-940C-9B46B49DCEB7}"/>
              </a:ext>
            </a:extLst>
          </p:cNvPr>
          <p:cNvSpPr txBox="1"/>
          <p:nvPr/>
        </p:nvSpPr>
        <p:spPr>
          <a:xfrm>
            <a:off x="7835316" y="3560272"/>
            <a:ext cx="3649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W3</a:t>
            </a:r>
            <a:r>
              <a:rPr lang="zh-TW" altLang="en-US" sz="2800" dirty="0"/>
              <a:t>、</a:t>
            </a:r>
            <a:r>
              <a:rPr lang="en-US" altLang="zh-TW" sz="2800" dirty="0"/>
              <a:t>W4</a:t>
            </a:r>
            <a:r>
              <a:rPr lang="zh-TW" altLang="en-US" sz="2800" dirty="0"/>
              <a:t>、</a:t>
            </a:r>
            <a:r>
              <a:rPr lang="en-US" altLang="zh-TW" sz="2800" dirty="0"/>
              <a:t>W5 …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大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A34D57AE-7C71-4CBD-8E6E-5A23B2D01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529" y="2784225"/>
            <a:ext cx="2162175" cy="2152650"/>
          </a:xfrm>
          <a:prstGeom prst="rect">
            <a:avLst/>
          </a:prstGeom>
        </p:spPr>
      </p:pic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2DAAAED6-5FD7-4302-A193-1330AB6677D0}"/>
              </a:ext>
            </a:extLst>
          </p:cNvPr>
          <p:cNvSpPr/>
          <p:nvPr/>
        </p:nvSpPr>
        <p:spPr>
          <a:xfrm>
            <a:off x="2069283" y="4096945"/>
            <a:ext cx="1526796" cy="104402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g(z’)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3177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Impact of the Vowels on the Model’s Decisions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34C80ED-A57D-4C6E-A8AF-CC99E02CE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03" y="1002194"/>
            <a:ext cx="9747615" cy="217374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D80156A-74DC-48E2-8A93-244BCFB26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96" y="3175938"/>
            <a:ext cx="2855044" cy="370578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3011DF8-C53F-40B8-933F-A96A8EF6E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838" y="3611526"/>
            <a:ext cx="7782748" cy="283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18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Impact of the Vowels on the Model’s Decisions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29EA266-6173-4460-940D-5F8F106BA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343818"/>
            <a:ext cx="104775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69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Impact of the Vowels on the Model’s Decisions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B3C32B8-A0AC-416B-951F-055A2D0DE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69" y="1857156"/>
            <a:ext cx="3907692" cy="314368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98A9888-109C-48CD-93E4-BAEC0A247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971" y="2275971"/>
            <a:ext cx="1026953" cy="2191373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5F2BFEDE-D0F9-47CD-BD59-6603552C71FA}"/>
              </a:ext>
            </a:extLst>
          </p:cNvPr>
          <p:cNvSpPr txBox="1">
            <a:spLocks/>
          </p:cNvSpPr>
          <p:nvPr/>
        </p:nvSpPr>
        <p:spPr>
          <a:xfrm>
            <a:off x="6136163" y="1396438"/>
            <a:ext cx="5804868" cy="124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統計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35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位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participant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中，每個母音的排名次數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86E608C-8473-4549-BC9B-0708F4816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357" y="2492337"/>
            <a:ext cx="4652239" cy="395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46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Impact of the Vowels on the Model’s Decisions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F5799F6-8C91-4BCE-9A6E-B48885B36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61" y="1571974"/>
            <a:ext cx="113252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41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 Knowledge-Driven Vowel-Based Approach of Depression Classification from Speech using Data Augmentation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990599" y="16089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改善第一篇 </a:t>
            </a:r>
            <a:r>
              <a:rPr lang="en-US" altLang="zh-TW" dirty="0">
                <a:ea typeface="標楷體" panose="03000509000000000000" pitchFamily="65" charset="-120"/>
              </a:rPr>
              <a:t>paper </a:t>
            </a:r>
            <a:r>
              <a:rPr lang="zh-TW" altLang="en-US" dirty="0">
                <a:ea typeface="標楷體" panose="03000509000000000000" pitchFamily="65" charset="-120"/>
              </a:rPr>
              <a:t>的 </a:t>
            </a:r>
            <a:r>
              <a:rPr lang="en-US" altLang="zh-TW" dirty="0">
                <a:ea typeface="標楷體" panose="03000509000000000000" pitchFamily="65" charset="-120"/>
              </a:rPr>
              <a:t>augmentation</a:t>
            </a: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937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1072</Words>
  <Application>Microsoft Office PowerPoint</Application>
  <PresentationFormat>寬螢幕</PresentationFormat>
  <Paragraphs>159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-apple-system</vt:lpstr>
      <vt:lpstr>標楷體</vt:lpstr>
      <vt:lpstr>Arial</vt:lpstr>
      <vt:lpstr>Calibri</vt:lpstr>
      <vt:lpstr>Calibri Light</vt:lpstr>
      <vt:lpstr>Office 佈景主題</vt:lpstr>
      <vt:lpstr>2024/05/22 Meeting Report</vt:lpstr>
      <vt:lpstr>Papers</vt:lpstr>
      <vt:lpstr>Toward Knowledge-Driven Speech-Based Models of Depression: Leveraging Spectro-temporal Variations in Speech Vowels</vt:lpstr>
      <vt:lpstr>Vowel segmentation module</vt:lpstr>
      <vt:lpstr>Vowel classification module</vt:lpstr>
      <vt:lpstr>Depression classification module</vt:lpstr>
      <vt:lpstr>Vowel classification module</vt:lpstr>
      <vt:lpstr>Depression classification module</vt:lpstr>
      <vt:lpstr>實驗</vt:lpstr>
      <vt:lpstr>Local Interpretable Model-Agnostic Explanation</vt:lpstr>
      <vt:lpstr>Local Interpretable Model-Agnostic Explanation</vt:lpstr>
      <vt:lpstr>Local Interpretable Model-Agnostic Explanation</vt:lpstr>
      <vt:lpstr>Local Interpretable Model-Agnostic Explanation</vt:lpstr>
      <vt:lpstr>Local Interpretable Model-Agnostic Explanation</vt:lpstr>
      <vt:lpstr>Local Interpretable Model-Agnostic Explanation</vt:lpstr>
      <vt:lpstr>Impact of the Vowels on the Model’s Decisions</vt:lpstr>
      <vt:lpstr>Impact of the Vowels on the Model’s Decisions</vt:lpstr>
      <vt:lpstr>Impact of the Vowels on the Model’s Decisions</vt:lpstr>
      <vt:lpstr>Impact of the Vowels on the Model’s Decisions</vt:lpstr>
      <vt:lpstr>A Knowledge-Driven Vowel-Based Approach of Depression Classification from Speech using Data Augmentation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2023/01/17 Meeting Report</dc:title>
  <dc:creator>Chun</dc:creator>
  <cp:lastModifiedBy>嘉均 簡</cp:lastModifiedBy>
  <cp:revision>60</cp:revision>
  <dcterms:created xsi:type="dcterms:W3CDTF">2024-01-17T04:52:56Z</dcterms:created>
  <dcterms:modified xsi:type="dcterms:W3CDTF">2024-05-22T10:29:14Z</dcterms:modified>
</cp:coreProperties>
</file>