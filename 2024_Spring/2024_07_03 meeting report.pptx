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94" r:id="rId3"/>
    <p:sldId id="311" r:id="rId4"/>
    <p:sldId id="313" r:id="rId5"/>
    <p:sldId id="312" r:id="rId6"/>
    <p:sldId id="316" r:id="rId7"/>
    <p:sldId id="317" r:id="rId8"/>
    <p:sldId id="319" r:id="rId9"/>
    <p:sldId id="305" r:id="rId10"/>
    <p:sldId id="318" r:id="rId11"/>
    <p:sldId id="314" r:id="rId12"/>
    <p:sldId id="315" r:id="rId13"/>
    <p:sldId id="310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67416-E885-412F-84DB-27A49CF017DB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8B45F-093E-4D06-A392-4E5BB62352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81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474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824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40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101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91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185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417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69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897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3677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552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03AC3-F930-40F8-B2E2-C7FEDDC59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5B0ADB-9DE4-4D32-B9FE-BFAAEEB97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41C9E9-0CAE-45F3-B27A-338220EA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DD923-94F8-40DB-9FC8-835CC40D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560413-01EB-4FEF-B3C6-0FFBEACD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18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D9DF4-2852-4024-8802-797DAE73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9D3BF-D626-49B5-B53E-41746F67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DFED1C-7EB1-4453-A79F-56D3B317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FE8691-9180-4949-A8FC-2B2B0252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66FC31-A0F0-4E38-9F53-95EFB865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6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6EF944-1615-4175-9B87-8BEDD41D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C656FA-9B96-4463-A1BE-B8A21086E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DEF507-4A89-4ECB-9B2A-C2B8DA94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B1B8C0-2170-4863-B946-0CE37DEF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42545E-AB3B-474C-8B81-DCFAACE0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27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BFA21-1D78-484C-B665-871ECA9E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CA08C7-C6F7-46BC-B7D3-87C6B8E05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73A451-4259-4C2D-BBF0-819ABE50A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21EDB-A518-4D05-A3D3-30D82FF3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E9ABF7-0D5C-4AE7-91BF-F61757B1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F88571-5AE6-4803-AAA1-F03173B5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16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49CE3-F1FC-4AEF-9AE0-BE449D7B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A84702-8434-4368-B907-89B6B256E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169353-2A0F-4DB7-A0BD-47DE77B27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3B0828-708E-424D-855A-812791623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4A33736-DBEF-4942-A725-8D36D0B00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58A6BA1-105E-4FC3-AA97-97886B03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4F2E56-CB40-4D13-A1AC-2866544C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CEB961-17E1-4588-A12A-B093BF8E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86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E7AE01-F084-4DC2-90E3-2603A0B4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D976C43-F8B0-4DD3-A880-E66990C4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D8F781-8210-4BA4-9025-1BE93B24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055031-FE24-40A4-9472-31EFFA0C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75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CFF300-24FE-4366-8C37-0FE0031B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ACD1D94-4F5B-4D50-9FA5-F44BC0F3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B7F6A5-9CD3-4836-BD50-A86E3ACC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41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69CBA-E0B5-4C9D-B466-C7057422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088BC5-250E-49DA-80AC-FD0096A7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D9B526-F06B-42DB-8893-EDA0742A8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C5825D-BB97-4EEA-8638-18706545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C2EC62-F9F0-45D8-93F1-2A6F9465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FB231D-C5B4-4C4B-A246-2ACDC51F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18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073B0-25BD-430B-A976-C63D01D7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866C5C6-0D1C-41EA-8D68-5C3EF956A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E30DED-0E13-4B86-A91A-3554CB994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A25818-A4DC-4E53-8E0C-BD828F93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094486-C775-49C7-B38B-FAF93655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5D6368-B2E2-48BC-9AD8-11B0D20A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93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7B9CA-970D-478A-9125-6E53A981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2ECB6F-41F2-46F1-BC5D-B82FE1A1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1139EF-C7CF-4500-A1F6-C2C75CD0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C62800-825F-4C7F-AF02-52D85DFD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9EFC94-01CA-467D-A41F-45E7B170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15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5E719A7-2595-4C3E-90BF-C77EAA379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B0EF5D-D2FB-43FA-9BBA-ADBFEB526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9D1FC-40AB-41CF-B316-E875F43D3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9433AA-B3AD-4C2F-8150-C322DDC1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FBC503-6661-4A51-AC97-EE591AE6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09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2CE42D-5238-4009-85AE-9826FC5A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09846A-EE8A-4A77-956F-0CC99F31A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16DE27-E29B-4288-B6C2-11DBB6AED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211D-E91B-4154-A499-1C8CD717317E}" type="datetimeFigureOut">
              <a:rPr lang="zh-TW" altLang="en-US" smtClean="0"/>
              <a:t>2024/7/3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68FECD-0C99-4D9D-B7DE-98D2D94ED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1FA8F6-1113-4BCD-8C56-3F0C9DF4D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87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2024/07/03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Implementing gender-dependent vowel-level analysis for boosting</a:t>
            </a:r>
            <a:b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b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speech-based depression recognition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ea typeface="標楷體" panose="03000509000000000000" pitchFamily="65" charset="-120"/>
              </a:rPr>
              <a:t>force alignment </a:t>
            </a:r>
            <a:r>
              <a:rPr lang="zh-TW" altLang="en-US" sz="2400" dirty="0">
                <a:ea typeface="標楷體" panose="03000509000000000000" pitchFamily="65" charset="-120"/>
              </a:rPr>
              <a:t>標註語音檔中的訊號屬於哪種音素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0CFD1CB-B506-4371-948C-CCB64BE3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299" y="1836198"/>
            <a:ext cx="73914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如何產生訓練資料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對語音檔中的每一句話都產生一組 </a:t>
            </a:r>
            <a:r>
              <a:rPr lang="en-US" altLang="zh-TW" sz="2400" dirty="0">
                <a:ea typeface="標楷體" panose="03000509000000000000" pitchFamily="65" charset="-120"/>
              </a:rPr>
              <a:t>Vowel level feature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AB3CC85-F672-415E-A63A-C786CE36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01019"/>
            <a:ext cx="12192000" cy="362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0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如何產生訓練資料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從資料集中的所有訊號中統計每種音素的第一、第二共振峰頻率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再計算每種音素的平均值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B2D7212-2B68-48E6-905E-93DA218A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4953"/>
            <a:ext cx="12192000" cy="30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0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如何產生訓練資料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Vowel level feature </a:t>
            </a:r>
            <a:r>
              <a:rPr lang="zh-TW" altLang="en-US" sz="2400" dirty="0">
                <a:ea typeface="標楷體" panose="03000509000000000000" pitchFamily="65" charset="-120"/>
              </a:rPr>
              <a:t>是 </a:t>
            </a:r>
            <a:r>
              <a:rPr lang="en-US" altLang="zh-TW" sz="2400" dirty="0">
                <a:ea typeface="標楷體" panose="03000509000000000000" pitchFamily="65" charset="-120"/>
              </a:rPr>
              <a:t>Template value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>
                <a:ea typeface="標楷體" panose="03000509000000000000" pitchFamily="65" charset="-120"/>
              </a:rPr>
              <a:t>turn-level feature </a:t>
            </a:r>
            <a:r>
              <a:rPr lang="zh-TW" altLang="en-US" sz="2400" dirty="0">
                <a:ea typeface="標楷體" panose="03000509000000000000" pitchFamily="65" charset="-120"/>
              </a:rPr>
              <a:t>的加權平均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9119BCA-7D06-4990-98BE-A1000F7D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199" y="1983777"/>
            <a:ext cx="7086600" cy="221932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C7451CA-257B-4E75-AFBC-A0522DC31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64" y="4275932"/>
            <a:ext cx="99345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96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如何訓練模型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5140CD-5C7A-44F7-A900-1D1B7105B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799"/>
            <a:ext cx="12192000" cy="292363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FCE3740-6D90-4555-995C-A3C2736CD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27" y="3850300"/>
            <a:ext cx="11073468" cy="29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7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如何測試模型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9CF9184-98C6-456F-8A84-E2E183F9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25625"/>
            <a:ext cx="12192000" cy="36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1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研究方向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A64EE11-A1F5-4626-A653-B6B1871159A9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探討健康的人與憂鬱症患者的元音與輔音共振峰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差異</a:t>
            </a:r>
            <a:endParaRPr lang="en-US" altLang="zh-TW" sz="2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不同的性別族群中，</a:t>
            </a: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健康的人與憂鬱症患者的元音、輔音共振峰差異是否也不同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09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可以做什麼實驗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9ECDF27-AC35-4180-9239-0BC049AC7096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論文只使用元音</a:t>
            </a:r>
            <a:r>
              <a:rPr lang="en-US" altLang="zh-TW" sz="2400" dirty="0">
                <a:ea typeface="標楷體" panose="03000509000000000000" pitchFamily="65" charset="-120"/>
              </a:rPr>
              <a:t>(Vowels)</a:t>
            </a:r>
            <a:r>
              <a:rPr lang="zh-TW" altLang="en-US" sz="2400" dirty="0">
                <a:ea typeface="標楷體" panose="03000509000000000000" pitchFamily="65" charset="-120"/>
              </a:rPr>
              <a:t>的共振峰頻率，可以結合使用輔音</a:t>
            </a:r>
            <a:r>
              <a:rPr lang="en-US" altLang="zh-TW" sz="2400" dirty="0">
                <a:ea typeface="標楷體" panose="03000509000000000000" pitchFamily="65" charset="-120"/>
              </a:rPr>
              <a:t>(Consonants)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將 </a:t>
            </a:r>
            <a:r>
              <a:rPr lang="en-US" altLang="zh-TW" sz="2400" dirty="0">
                <a:ea typeface="標楷體" panose="03000509000000000000" pitchFamily="65" charset="-120"/>
              </a:rPr>
              <a:t>SVM</a:t>
            </a:r>
            <a:r>
              <a:rPr lang="zh-TW" altLang="en-US" sz="2400" dirty="0">
                <a:ea typeface="標楷體" panose="03000509000000000000" pitchFamily="65" charset="-120"/>
              </a:rPr>
              <a:t> 換成 </a:t>
            </a:r>
            <a:r>
              <a:rPr lang="en-US" altLang="zh-TW" sz="2400" dirty="0">
                <a:ea typeface="標楷體" panose="03000509000000000000" pitchFamily="65" charset="-120"/>
              </a:rPr>
              <a:t>Deep Neural Network</a:t>
            </a:r>
            <a:r>
              <a:rPr lang="zh-TW" altLang="en-US" sz="2400" dirty="0">
                <a:ea typeface="標楷體" panose="03000509000000000000" pitchFamily="65" charset="-120"/>
              </a:rPr>
              <a:t>，輸入改成音素的聲譜圖</a:t>
            </a:r>
            <a:r>
              <a:rPr lang="en-US" altLang="zh-TW" sz="2400" dirty="0">
                <a:ea typeface="標楷體" panose="03000509000000000000" pitchFamily="65" charset="-120"/>
              </a:rPr>
              <a:t>(Spectrogram)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對某一個特定性別去統計憂鬱症與健康患者的音素的共振峰頻率，將兩者的音素的差異做成表格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觀察不同的性別族群中，健康的人與憂鬱症患者的元音、輔音共振峰差異是否也不同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對某一個特定性別中的每種音素的共振峰頻率，進行 </a:t>
            </a:r>
            <a:r>
              <a:rPr lang="en-US" altLang="zh-TW" sz="2400" dirty="0">
                <a:ea typeface="標楷體" panose="03000509000000000000" pitchFamily="65" charset="-120"/>
              </a:rPr>
              <a:t>feature selection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觀察不同的性別族群中，哪些音素特徵能使得模型分辨憂鬱症患者分數最高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Feature selection</a:t>
            </a:r>
            <a:r>
              <a:rPr lang="zh-TW" altLang="en-US" sz="2000" dirty="0">
                <a:ea typeface="標楷體" panose="03000509000000000000" pitchFamily="65" charset="-120"/>
              </a:rPr>
              <a:t>的方法：</a:t>
            </a:r>
            <a:r>
              <a:rPr lang="en-US" altLang="zh-TW" sz="2000" dirty="0">
                <a:ea typeface="標楷體" panose="03000509000000000000" pitchFamily="65" charset="-120"/>
              </a:rPr>
              <a:t>z-test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ea typeface="標楷體" panose="03000509000000000000" pitchFamily="65" charset="-120"/>
              </a:rPr>
              <a:t>mRMR</a:t>
            </a:r>
            <a:r>
              <a:rPr lang="en-US" altLang="zh-TW" sz="2000" dirty="0">
                <a:ea typeface="標楷體" panose="03000509000000000000" pitchFamily="65" charset="-120"/>
              </a:rPr>
              <a:t>(minimum-Redundancy-Maximum-Relevance)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Pearson correlation coefficient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425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目標規劃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9ECDF27-AC35-4180-9239-0BC049AC7096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學習使用 </a:t>
            </a:r>
            <a:r>
              <a:rPr lang="en-US" altLang="zh-TW" sz="2400" dirty="0" err="1">
                <a:ea typeface="標楷體" panose="03000509000000000000" pitchFamily="65" charset="-120"/>
              </a:rPr>
              <a:t>Praat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Montreal-Forced-Aligner</a:t>
            </a:r>
            <a:r>
              <a:rPr lang="zh-TW" altLang="en-US" sz="2400" dirty="0">
                <a:ea typeface="標楷體" panose="03000509000000000000" pitchFamily="65" charset="-120"/>
              </a:rPr>
              <a:t>軟體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將資料集轉錄檔轉換成 </a:t>
            </a:r>
            <a:r>
              <a:rPr lang="en-US" altLang="zh-TW" sz="2400" dirty="0">
                <a:ea typeface="標楷體" panose="03000509000000000000" pitchFamily="65" charset="-120"/>
              </a:rPr>
              <a:t>Aligner</a:t>
            </a:r>
            <a:r>
              <a:rPr lang="zh-TW" altLang="en-US" sz="2400" dirty="0">
                <a:ea typeface="標楷體" panose="03000509000000000000" pitchFamily="65" charset="-120"/>
              </a:rPr>
              <a:t> 可以使用的格式，進行 </a:t>
            </a:r>
            <a:r>
              <a:rPr lang="en-US" altLang="zh-TW" sz="2400" dirty="0">
                <a:ea typeface="標楷體" panose="03000509000000000000" pitchFamily="65" charset="-120"/>
              </a:rPr>
              <a:t>force alignment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 err="1">
                <a:ea typeface="標楷體" panose="03000509000000000000" pitchFamily="65" charset="-120"/>
              </a:rPr>
              <a:t>Praat</a:t>
            </a:r>
            <a:r>
              <a:rPr lang="en-US" altLang="zh-TW" sz="2400" dirty="0">
                <a:ea typeface="標楷體" panose="03000509000000000000" pitchFamily="65" charset="-120"/>
              </a:rPr>
              <a:t> Script </a:t>
            </a:r>
            <a:r>
              <a:rPr lang="zh-TW" altLang="en-US" sz="2400" dirty="0">
                <a:ea typeface="標楷體" panose="03000509000000000000" pitchFamily="65" charset="-120"/>
              </a:rPr>
              <a:t>自動計算音素的共振峰頻率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先復現論文成果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162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Template value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的計算方法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-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第二種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從資料集中的音檔依照憂鬱症標籤分為兩類，計算兩組 </a:t>
            </a:r>
            <a:r>
              <a:rPr lang="en-US" altLang="zh-TW" sz="2400" dirty="0">
                <a:ea typeface="標楷體" panose="03000509000000000000" pitchFamily="65" charset="-120"/>
              </a:rPr>
              <a:t>Template value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3BE620-0630-4CE3-8BE1-AEE91AA9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1" y="2187994"/>
            <a:ext cx="116109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41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Template value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的計算方法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-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第三種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依照每個人的音檔計算各自的 </a:t>
            </a:r>
            <a:r>
              <a:rPr lang="en-US" altLang="zh-TW" sz="2400" dirty="0">
                <a:ea typeface="標楷體" panose="03000509000000000000" pitchFamily="65" charset="-120"/>
              </a:rPr>
              <a:t>template value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11756B-AB03-4758-9A84-3DC13879A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2007639"/>
            <a:ext cx="10196864" cy="440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96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元音與輔音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75F805E-E14E-4341-91BA-2627B8767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582" y="138112"/>
            <a:ext cx="7800975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7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3354</TotalTime>
  <Words>795</Words>
  <Application>Microsoft Office PowerPoint</Application>
  <PresentationFormat>寬螢幕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Office 佈景主題</vt:lpstr>
      <vt:lpstr>2024/07/03 Meeting Report</vt:lpstr>
      <vt:lpstr>Implementing gender-dependent vowel-level analysis for boosting speech-based depression recognition</vt:lpstr>
      <vt:lpstr>如何產生訓練資料 ?</vt:lpstr>
      <vt:lpstr>如何產生訓練資料 ?</vt:lpstr>
      <vt:lpstr>如何產生訓練資料 ?</vt:lpstr>
      <vt:lpstr>如何訓練模型 ?</vt:lpstr>
      <vt:lpstr>如何測試模型 ?</vt:lpstr>
      <vt:lpstr>研究方向</vt:lpstr>
      <vt:lpstr>可以做什麼實驗 ?</vt:lpstr>
      <vt:lpstr>目標規劃</vt:lpstr>
      <vt:lpstr>Template value 的計算方法 - 第二種</vt:lpstr>
      <vt:lpstr>Template value 的計算方法 - 第三種</vt:lpstr>
      <vt:lpstr>元音與輔音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2023/01/17 Meeting Report</dc:title>
  <dc:creator>Chun</dc:creator>
  <cp:lastModifiedBy>嘉均 簡</cp:lastModifiedBy>
  <cp:revision>119</cp:revision>
  <dcterms:created xsi:type="dcterms:W3CDTF">2024-01-17T04:52:56Z</dcterms:created>
  <dcterms:modified xsi:type="dcterms:W3CDTF">2024-07-03T06:40:35Z</dcterms:modified>
</cp:coreProperties>
</file>