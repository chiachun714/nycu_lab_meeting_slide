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98" r:id="rId3"/>
    <p:sldId id="294" r:id="rId4"/>
    <p:sldId id="305" r:id="rId5"/>
    <p:sldId id="306" r:id="rId6"/>
    <p:sldId id="308" r:id="rId7"/>
    <p:sldId id="30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67416-E885-412F-84DB-27A49CF017DB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8B45F-093E-4D06-A392-4E5BB62352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81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974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417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506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502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8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03AC3-F930-40F8-B2E2-C7FEDDC59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5B0ADB-9DE4-4D32-B9FE-BFAAEEB97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41C9E9-0CAE-45F3-B27A-338220EA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DD923-94F8-40DB-9FC8-835CC40D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560413-01EB-4FEF-B3C6-0FFBEACD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18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D9DF4-2852-4024-8802-797DAE73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9D3BF-D626-49B5-B53E-41746F67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DFED1C-7EB1-4453-A79F-56D3B317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FE8691-9180-4949-A8FC-2B2B0252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66FC31-A0F0-4E38-9F53-95EFB865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6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EF944-1615-4175-9B87-8BEDD41D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C656FA-9B96-4463-A1BE-B8A21086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DEF507-4A89-4ECB-9B2A-C2B8DA94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B1B8C0-2170-4863-B946-0CE37DEF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42545E-AB3B-474C-8B81-DCFAACE0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27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BFA21-1D78-484C-B665-871ECA9E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CA08C7-C6F7-46BC-B7D3-87C6B8E05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73A451-4259-4C2D-BBF0-819ABE50A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21EDB-A518-4D05-A3D3-30D82FF3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E9ABF7-0D5C-4AE7-91BF-F61757B1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F88571-5AE6-4803-AAA1-F03173B5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16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49CE3-F1FC-4AEF-9AE0-BE449D7B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A84702-8434-4368-B907-89B6B256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169353-2A0F-4DB7-A0BD-47DE77B27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3B0828-708E-424D-855A-812791623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A33736-DBEF-4942-A725-8D36D0B00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58A6BA1-105E-4FC3-AA97-97886B03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4F2E56-CB40-4D13-A1AC-2866544C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CEB961-17E1-4588-A12A-B093BF8E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86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E7AE01-F084-4DC2-90E3-2603A0B4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976C43-F8B0-4DD3-A880-E66990C4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D8F781-8210-4BA4-9025-1BE93B24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055031-FE24-40A4-9472-31EFFA0C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75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CFF300-24FE-4366-8C37-0FE0031B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CD1D94-4F5B-4D50-9FA5-F44BC0F3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B7F6A5-9CD3-4836-BD50-A86E3ACC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1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9CBA-E0B5-4C9D-B466-C7057422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088BC5-250E-49DA-80AC-FD0096A74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D9B526-F06B-42DB-8893-EDA0742A8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C5825D-BB97-4EEA-8638-18706545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C2EC62-F9F0-45D8-93F1-2A6F9465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FB231D-C5B4-4C4B-A246-2ACDC51F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18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073B0-25BD-430B-A976-C63D01D7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866C5C6-0D1C-41EA-8D68-5C3EF956A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E30DED-0E13-4B86-A91A-3554CB994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A25818-A4DC-4E53-8E0C-BD828F93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094486-C775-49C7-B38B-FAF93655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5D6368-B2E2-48BC-9AD8-11B0D20A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93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7B9CA-970D-478A-9125-6E53A981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2ECB6F-41F2-46F1-BC5D-B82FE1A1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1139EF-C7CF-4500-A1F6-C2C75CD0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C62800-825F-4C7F-AF02-52D85DFD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EFC94-01CA-467D-A41F-45E7B1703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915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5E719A7-2595-4C3E-90BF-C77EAA379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B0EF5D-D2FB-43FA-9BBA-ADBFEB526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9D1FC-40AB-41CF-B316-E875F43D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9433AA-B3AD-4C2F-8150-C322DDC1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FBC503-6661-4A51-AC97-EE591AE6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309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C2CE42D-5238-4009-85AE-9826FC5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09846A-EE8A-4A77-956F-0CC99F31A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16DE27-E29B-4288-B6C2-11DBB6AED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211D-E91B-4154-A499-1C8CD717317E}" type="datetimeFigureOut">
              <a:rPr lang="zh-TW" altLang="en-US" smtClean="0"/>
              <a:t>2024/6/19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8FECD-0C99-4D9D-B7DE-98D2D94ED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1FA8F6-1113-4BCD-8C56-3F0C9DF4D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386C-BB12-44C1-914D-8DC6A1EAB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87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2024/06/19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Papers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A64EE11-A1F5-4626-A653-B6B1871159A9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341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統計 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資料集中，男性與女性</a:t>
            </a:r>
            <a:r>
              <a:rPr lang="en-US" altLang="zh-TW" sz="2400" dirty="0">
                <a:ea typeface="標楷體" panose="03000509000000000000" pitchFamily="65" charset="-120"/>
              </a:rPr>
              <a:t>15</a:t>
            </a:r>
            <a:r>
              <a:rPr lang="zh-TW" altLang="en-US" sz="2400" dirty="0">
                <a:ea typeface="標楷體" panose="03000509000000000000" pitchFamily="65" charset="-120"/>
              </a:rPr>
              <a:t>種音素</a:t>
            </a:r>
            <a:r>
              <a:rPr lang="en-US" altLang="zh-TW" sz="2400" dirty="0">
                <a:ea typeface="標楷體" panose="03000509000000000000" pitchFamily="65" charset="-120"/>
              </a:rPr>
              <a:t>(phoneme)</a:t>
            </a:r>
            <a:r>
              <a:rPr lang="zh-TW" altLang="en-US" sz="2400" dirty="0">
                <a:ea typeface="標楷體" panose="03000509000000000000" pitchFamily="65" charset="-120"/>
              </a:rPr>
              <a:t>的第一、第二共振峰頻率</a:t>
            </a:r>
            <a:r>
              <a:rPr lang="en-US" altLang="zh-TW" sz="2400" dirty="0">
                <a:ea typeface="標楷體" panose="03000509000000000000" pitchFamily="65" charset="-120"/>
              </a:rPr>
              <a:t>(formant frequency)</a:t>
            </a:r>
            <a:r>
              <a:rPr lang="zh-TW" altLang="en-US" sz="2400" dirty="0">
                <a:ea typeface="標楷體" panose="03000509000000000000" pitchFamily="65" charset="-120"/>
              </a:rPr>
              <a:t>的平均值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12F12A5-0A5A-495A-A241-1E415BB7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8" y="2204173"/>
            <a:ext cx="9426779" cy="465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9ECDF27-AC35-4180-9239-0BC049AC7096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使用從語音訊號計算的</a:t>
            </a:r>
            <a:r>
              <a:rPr lang="en-US" altLang="zh-TW" sz="2400" dirty="0">
                <a:ea typeface="標楷體" panose="03000509000000000000" pitchFamily="65" charset="-120"/>
              </a:rPr>
              <a:t>10</a:t>
            </a:r>
            <a:r>
              <a:rPr lang="zh-TW" altLang="en-US" sz="2400" dirty="0">
                <a:ea typeface="標楷體" panose="03000509000000000000" pitchFamily="65" charset="-120"/>
              </a:rPr>
              <a:t>種音素的</a:t>
            </a:r>
            <a:r>
              <a:rPr lang="en-US" altLang="zh-TW" sz="2400" dirty="0">
                <a:ea typeface="標楷體" panose="03000509000000000000" pitchFamily="65" charset="-120"/>
              </a:rPr>
              <a:t>F1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F2</a:t>
            </a:r>
            <a:r>
              <a:rPr lang="zh-TW" altLang="en-US" sz="2400" dirty="0">
                <a:ea typeface="標楷體" panose="03000509000000000000" pitchFamily="65" charset="-120"/>
              </a:rPr>
              <a:t>作為訓練特徵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訓練男性與女性專用的分類器 </a:t>
            </a:r>
            <a:r>
              <a:rPr lang="en-US" altLang="zh-TW" sz="2400" dirty="0">
                <a:ea typeface="標楷體" panose="03000509000000000000" pitchFamily="65" charset="-120"/>
              </a:rPr>
              <a:t>(gender-dependent classification)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分類器：簡單的線性回歸</a:t>
            </a:r>
            <a:r>
              <a:rPr lang="en-US" altLang="zh-TW" sz="2400" dirty="0">
                <a:ea typeface="標楷體" panose="03000509000000000000" pitchFamily="65" charset="-120"/>
              </a:rPr>
              <a:t>(Linear classification)</a:t>
            </a:r>
            <a:r>
              <a:rPr lang="zh-TW" altLang="en-US" sz="2400" dirty="0">
                <a:ea typeface="標楷體" panose="03000509000000000000" pitchFamily="65" charset="-120"/>
              </a:rPr>
              <a:t>，</a:t>
            </a:r>
            <a:r>
              <a:rPr lang="en-US" altLang="zh-TW" sz="2400" dirty="0">
                <a:ea typeface="標楷體" panose="03000509000000000000" pitchFamily="65" charset="-120"/>
              </a:rPr>
              <a:t>0.81</a:t>
            </a: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5ACACD-5412-4670-BEF3-47CB13E1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786" y="2923587"/>
            <a:ext cx="8633671" cy="3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5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 fontScale="90000"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Implementing gender-dependent vowel-level analysis for boosting</a:t>
            </a:r>
            <a:b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</a:b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speech-based depression recognition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9ECDF27-AC35-4180-9239-0BC049AC7096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2021 - Gender Bias in Depression Detection Using Audio Features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0.658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Unsupervised Instance Discriminative Learning for Depression Detection from Speech Signals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0.6834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A Step Towards Preserving Speakers’ Identity While Detecting Depression Via Speaker Disentanglement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0.692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</a:t>
            </a:r>
            <a:r>
              <a:rPr lang="en-US" altLang="zh-TW" sz="2400" dirty="0" err="1">
                <a:ea typeface="標楷體" panose="03000509000000000000" pitchFamily="65" charset="-120"/>
              </a:rPr>
              <a:t>FrAUG</a:t>
            </a:r>
            <a:r>
              <a:rPr lang="en-US" altLang="zh-TW" sz="2400" dirty="0">
                <a:ea typeface="標楷體" panose="03000509000000000000" pitchFamily="65" charset="-120"/>
              </a:rPr>
              <a:t>: A Frame Rate Based Data Augmentation Method for Depression Detection from Speech Signals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0.656 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Toward Knowledge-Driven Speech-Based Models of Depression: Leveraging </a:t>
            </a:r>
            <a:r>
              <a:rPr lang="en-US" altLang="zh-TW" sz="2400" dirty="0" err="1">
                <a:ea typeface="標楷體" panose="03000509000000000000" pitchFamily="65" charset="-120"/>
              </a:rPr>
              <a:t>Spectrotemporal</a:t>
            </a:r>
            <a:r>
              <a:rPr lang="en-US" altLang="zh-TW" sz="2400" dirty="0">
                <a:ea typeface="標楷體" panose="03000509000000000000" pitchFamily="65" charset="-120"/>
              </a:rPr>
              <a:t> Variations in Speech Vowels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dirty="0">
                <a:ea typeface="標楷體" panose="03000509000000000000" pitchFamily="65" charset="-120"/>
              </a:rPr>
              <a:t>F1: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</a:t>
            </a:r>
            <a:r>
              <a:rPr lang="en-US" altLang="zh-TW" sz="2400" dirty="0">
                <a:ea typeface="標楷體" panose="03000509000000000000" pitchFamily="65" charset="-120"/>
              </a:rPr>
              <a:t>, Marco F1: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0.70</a:t>
            </a: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2023 - A Knowledge-Driven Vowel-Based Approach of Depression Classification from Speech using Data Augmentation</a:t>
            </a:r>
            <a:r>
              <a:rPr lang="zh-TW" altLang="en-US" sz="2400" dirty="0">
                <a:ea typeface="標楷體" panose="03000509000000000000" pitchFamily="65" charset="-120"/>
              </a:rPr>
              <a:t>：</a:t>
            </a:r>
            <a:r>
              <a:rPr lang="en-US" altLang="zh-TW" sz="2400" dirty="0">
                <a:ea typeface="標楷體" panose="03000509000000000000" pitchFamily="65" charset="-120"/>
              </a:rPr>
              <a:t>F1: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0.64</a:t>
            </a:r>
            <a:r>
              <a:rPr lang="en-US" altLang="zh-TW" sz="2400" dirty="0">
                <a:ea typeface="標楷體" panose="03000509000000000000" pitchFamily="65" charset="-120"/>
              </a:rPr>
              <a:t>, Marco F1:</a:t>
            </a:r>
            <a:r>
              <a:rPr lang="en-US" altLang="zh-TW" sz="2400" b="1" dirty="0">
                <a:solidFill>
                  <a:schemeClr val="accent4">
                    <a:lumMod val="75000"/>
                  </a:schemeClr>
                </a:solidFill>
                <a:ea typeface="標楷體" panose="03000509000000000000" pitchFamily="65" charset="-120"/>
              </a:rPr>
              <a:t>0.73</a:t>
            </a:r>
          </a:p>
          <a:p>
            <a:pPr>
              <a:lnSpc>
                <a:spcPct val="100000"/>
              </a:lnSpc>
            </a:pPr>
            <a:endParaRPr lang="en-US" altLang="zh-TW" sz="2400" b="1" dirty="0">
              <a:solidFill>
                <a:schemeClr val="accent4">
                  <a:lumMod val="75000"/>
                </a:schemeClr>
              </a:solidFill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64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Papers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A64EE11-A1F5-4626-A653-B6B1871159A9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2023 - </a:t>
            </a:r>
            <a:r>
              <a:rPr lang="en-US" altLang="zh-TW" sz="28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AudVowelConsNet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 A Phoneme-Level Based Deep CNN Architecture for Clinical Depression Diagnosis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使用子音與母音的 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MFCC spectrogram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/>
              <a:t>2023 - Cost-effective Models for Detecting Depression from Speech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比較模型使用兩種 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feature set (conventional hand-curated and deep representation features) 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訓練的差異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196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Appendix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pic>
        <p:nvPicPr>
          <p:cNvPr id="1026" name="Picture 2" descr="The 44 Phonemes of English Language (Underhill, 2008) | Download Scientific  Diagram">
            <a:extLst>
              <a:ext uri="{FF2B5EF4-FFF2-40B4-BE49-F238E27FC236}">
                <a16:creationId xmlns:a16="http://schemas.microsoft.com/office/drawing/2014/main" id="{36E2B78C-7D97-43F5-8213-1161769BA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67612"/>
            <a:ext cx="809625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48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474</Words>
  <Application>Microsoft Office PowerPoint</Application>
  <PresentationFormat>寬螢幕</PresentationFormat>
  <Paragraphs>77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Office 佈景主題</vt:lpstr>
      <vt:lpstr>2024/06/19 Meeting Report</vt:lpstr>
      <vt:lpstr>Papers</vt:lpstr>
      <vt:lpstr>Implementing gender-dependent vowel-level analysis for boosting speech-based depression recognition</vt:lpstr>
      <vt:lpstr>Implementing gender-dependent vowel-level analysis for boosting speech-based depression recognition</vt:lpstr>
      <vt:lpstr>Implementing gender-dependent vowel-level analysis for boosting speech-based depression recognition</vt:lpstr>
      <vt:lpstr>Papers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2023/01/17 Meeting Report</dc:title>
  <dc:creator>Chun</dc:creator>
  <cp:lastModifiedBy>嘉均 簡</cp:lastModifiedBy>
  <cp:revision>69</cp:revision>
  <dcterms:created xsi:type="dcterms:W3CDTF">2024-01-17T04:52:56Z</dcterms:created>
  <dcterms:modified xsi:type="dcterms:W3CDTF">2024-06-19T08:37:26Z</dcterms:modified>
</cp:coreProperties>
</file>