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309" r:id="rId3"/>
    <p:sldId id="310" r:id="rId4"/>
    <p:sldId id="327" r:id="rId5"/>
    <p:sldId id="325" r:id="rId6"/>
    <p:sldId id="328" r:id="rId7"/>
    <p:sldId id="329" r:id="rId8"/>
    <p:sldId id="330" r:id="rId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83FCE3-478C-431E-87AB-BE170C516E69}" type="datetimeFigureOut">
              <a:rPr lang="zh-TW" altLang="en-US" smtClean="0"/>
              <a:t>2024/12/18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F28D4C-F25D-4326-8B73-8471B974A0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3185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AA43A8-D8AF-4A57-B3C3-ACEB87B86596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40039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34302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60977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68862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19897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55013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33324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84464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04A3D9-15E9-4086-9416-05789441AE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27BC534-F64A-4BAC-AEAD-A2043EDB35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95E37C9-7BD0-4DCD-910F-A6C7E31F4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1045B-A1E6-44A0-A725-97F99BB28122}" type="datetimeFigureOut">
              <a:rPr lang="zh-TW" altLang="en-US" smtClean="0"/>
              <a:t>2024/12/18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3166B29-95AE-40F6-8B6C-FF04BA8E0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546CC68-0B78-449E-A300-BE6492469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9E302-4139-4D9D-989B-DA70CE82B6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01732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531F92-87DB-4A03-B534-2E8C2272C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E5A9A84-0B06-42E3-A6FF-CF152780A5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5249F61-91D8-4AF1-93F3-4427C1189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1045B-A1E6-44A0-A725-97F99BB28122}" type="datetimeFigureOut">
              <a:rPr lang="zh-TW" altLang="en-US" smtClean="0"/>
              <a:t>2024/12/18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E055F53-6359-4ED8-A61B-0C03615B2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0631735-F8E1-4AA6-BD18-E480F6D97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9E302-4139-4D9D-989B-DA70CE82B6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8927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BB6B74-1F25-4025-89D1-3FD1370B5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0B2351E-9E60-47C4-AC59-64AF7079B6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E1937E6-660F-4C46-B477-20D78A462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1045B-A1E6-44A0-A725-97F99BB28122}" type="datetimeFigureOut">
              <a:rPr lang="zh-TW" altLang="en-US" smtClean="0"/>
              <a:t>2024/12/18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E888549-25B1-4EE2-9D8F-AC4917253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F290F1E-C4BD-4C66-8A1E-6256F22BC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9E302-4139-4D9D-989B-DA70CE82B6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4122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B89A568-1BE1-48A2-8EC9-EC98EE6E8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B1E703-6AEA-4325-825F-B5AB5725C0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6A186C0-B94D-4AE8-88EB-EE7520C2DA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A219445-A430-4EDA-8CDB-750FA05D9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1045B-A1E6-44A0-A725-97F99BB28122}" type="datetimeFigureOut">
              <a:rPr lang="zh-TW" altLang="en-US" smtClean="0"/>
              <a:t>2024/12/18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BE602F1-C8E8-4B65-9D11-BECA640DC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782FA8A-4374-4FE7-A684-E9EBD090A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9E302-4139-4D9D-989B-DA70CE82B6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935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85D98E-0400-4C92-8B1C-79D3D446E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3181CD2-678D-4171-82ED-EDEBC8424B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4ED527C-AF3D-4030-AC73-974CD0A695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E005D37-5DAA-46A4-8847-C428339D73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37FFD1D8-DC2F-464F-89CB-3F309D56C7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53D14D72-90B7-4AC4-B35E-60D8ECFF6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1045B-A1E6-44A0-A725-97F99BB28122}" type="datetimeFigureOut">
              <a:rPr lang="zh-TW" altLang="en-US" smtClean="0"/>
              <a:t>2024/12/18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72E2AB7-7C06-44A2-A09A-917A67E23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C5C4994-9C35-4585-BEE1-2A20ECA1F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9E302-4139-4D9D-989B-DA70CE82B6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53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789B3A-3305-4A3A-923B-289F25A93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F0A53EE-3FEF-46D9-AD75-6B57192FD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1045B-A1E6-44A0-A725-97F99BB28122}" type="datetimeFigureOut">
              <a:rPr lang="zh-TW" altLang="en-US" smtClean="0"/>
              <a:t>2024/12/18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0DFCF92-E46E-48EF-9432-0891C63C7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BBE9FF3-5389-491A-9627-8F6B0E76A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9E302-4139-4D9D-989B-DA70CE82B6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2513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75B2888-479E-47E0-9AC3-845F29035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1045B-A1E6-44A0-A725-97F99BB28122}" type="datetimeFigureOut">
              <a:rPr lang="zh-TW" altLang="en-US" smtClean="0"/>
              <a:t>2024/12/18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F6B3824-EEA0-4AE9-8D56-A9C632F78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CB8FA32-B005-4772-AF93-98857F7F5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9E302-4139-4D9D-989B-DA70CE82B6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5369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BAD46B-27BE-4814-B1C5-162EC11E7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0203E8E-E52C-494C-BFB6-4BF1B07A17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EF397A1-5A73-47E6-9B11-6909468158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4C03C9A-8DCB-47E9-A1E4-3ED3B7BEA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1045B-A1E6-44A0-A725-97F99BB28122}" type="datetimeFigureOut">
              <a:rPr lang="zh-TW" altLang="en-US" smtClean="0"/>
              <a:t>2024/12/18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780F470-6778-420B-8A93-97709E635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DEB09AE-4183-4A3C-8287-043BA88FF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9E302-4139-4D9D-989B-DA70CE82B6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0252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39FF56-56A6-4B6F-85AE-6B5E79B75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7A72E51C-DBFB-49CB-845F-6F7CF244A0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88C8888-AFD5-4943-AE5C-0A2C0A57C7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E9F613C-0A88-4A59-A82F-6F3B0703B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1045B-A1E6-44A0-A725-97F99BB28122}" type="datetimeFigureOut">
              <a:rPr lang="zh-TW" altLang="en-US" smtClean="0"/>
              <a:t>2024/12/18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BBA4FC6-D27B-4EDF-8C76-C345F6EFF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AB4B0F6-359D-41DA-B573-2A00027B5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9E302-4139-4D9D-989B-DA70CE82B6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8743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E2C750-B0A2-4D3A-ADB4-A3FEFF6F1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691C6F4-772F-460D-A51A-467DF1BC03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121F333-A86D-4708-9A90-D71590455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1045B-A1E6-44A0-A725-97F99BB28122}" type="datetimeFigureOut">
              <a:rPr lang="zh-TW" altLang="en-US" smtClean="0"/>
              <a:t>2024/12/18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AD49260-352E-42E8-B5DA-5197516C7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7621D93-B296-4823-8786-B95B850B7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9E302-4139-4D9D-989B-DA70CE82B6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431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1DF3E2F-06A1-4089-BE94-1797AE548A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4D3E8AD-73C8-4B6A-BCBC-395990E460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02683CB-806B-4713-80FE-D73D13C63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1045B-A1E6-44A0-A725-97F99BB28122}" type="datetimeFigureOut">
              <a:rPr lang="zh-TW" altLang="en-US" smtClean="0"/>
              <a:t>2024/12/18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BA8DB0B-6413-4B1A-BBD1-239E30039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B0EEF2E-64CC-4AD1-BB5E-A81D308A5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9E302-4139-4D9D-989B-DA70CE82B6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63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689BA23D-A74C-4150-84B3-E3B034C76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DC9E99D-3205-4DD3-9389-F2797F2D08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09D3FC5-709C-45C3-8758-28B4444FCC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91045B-A1E6-44A0-A725-97F99BB28122}" type="datetimeFigureOut">
              <a:rPr lang="zh-TW" altLang="en-US" smtClean="0"/>
              <a:t>2024/12/18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4FF4EEB-2F90-43FE-B9DF-6B99A51632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A55A917-BCBC-4D9F-9061-BB1B977B64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39E302-4139-4D9D-989B-DA70CE82B6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9884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F6782A-F7CF-4A5C-9F5E-8B26F42F92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0421" y="1041400"/>
            <a:ext cx="10631155" cy="2387600"/>
          </a:xfrm>
        </p:spPr>
        <p:txBody>
          <a:bodyPr>
            <a:normAutofit/>
          </a:bodyPr>
          <a:lstStyle/>
          <a:p>
            <a:r>
              <a:rPr lang="en-US" altLang="zh-TW" sz="4400" b="1" dirty="0"/>
              <a:t>2024/12/18 Meeting Report</a:t>
            </a:r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3275906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Self-supervised representations in speech-based depression detection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F397D837-56CD-4F5A-8292-4773FA0EC3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25144"/>
            <a:ext cx="12192000" cy="3789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710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Data augmentation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93832E0-6D06-4DC7-8FF0-B892A91EBF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9384" y="950031"/>
            <a:ext cx="7104733" cy="5907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127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實驗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Number of Positive Samples</a:t>
            </a: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64CB8ADF-1DCC-4101-A968-8FF2E7F84A4F}"/>
              </a:ext>
            </a:extLst>
          </p:cNvPr>
          <p:cNvSpPr txBox="1">
            <a:spLocks/>
          </p:cNvSpPr>
          <p:nvPr/>
        </p:nvSpPr>
        <p:spPr>
          <a:xfrm>
            <a:off x="555419" y="1108063"/>
            <a:ext cx="11081159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TW" altLang="en-US" sz="3200" dirty="0">
                <a:ea typeface="標楷體" panose="03000509000000000000" pitchFamily="65" charset="-120"/>
              </a:rPr>
              <a:t>測試憂鬱症患者的 </a:t>
            </a:r>
            <a:r>
              <a:rPr lang="en-US" altLang="zh-TW" sz="3200" dirty="0">
                <a:ea typeface="標楷體" panose="03000509000000000000" pitchFamily="65" charset="-120"/>
              </a:rPr>
              <a:t>augmentation </a:t>
            </a:r>
            <a:r>
              <a:rPr lang="zh-TW" altLang="en-US" sz="3200" dirty="0">
                <a:ea typeface="標楷體" panose="03000509000000000000" pitchFamily="65" charset="-120"/>
              </a:rPr>
              <a:t>數量</a:t>
            </a:r>
            <a:endParaRPr lang="en-US" altLang="zh-TW" sz="3200" dirty="0">
              <a:ea typeface="標楷體" panose="03000509000000000000" pitchFamily="65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C50723F-08E5-45B8-A167-A15DBB8964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7583" y="3529667"/>
            <a:ext cx="7439092" cy="2785875"/>
          </a:xfrm>
          <a:prstGeom prst="rect">
            <a:avLst/>
          </a:prstGeom>
        </p:spPr>
      </p:pic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74DE384B-83CF-4DAE-95FA-4D146EDAE8A7}"/>
              </a:ext>
            </a:extLst>
          </p:cNvPr>
          <p:cNvSpPr txBox="1">
            <a:spLocks/>
          </p:cNvSpPr>
          <p:nvPr/>
        </p:nvSpPr>
        <p:spPr>
          <a:xfrm>
            <a:off x="555419" y="1645865"/>
            <a:ext cx="5900608" cy="203124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zh-TW" sz="3200" dirty="0">
                <a:ea typeface="標楷體" panose="03000509000000000000" pitchFamily="65" charset="-120"/>
              </a:rPr>
              <a:t>Train set </a:t>
            </a:r>
            <a:r>
              <a:rPr lang="zh-TW" altLang="en-US" sz="3200" dirty="0">
                <a:ea typeface="標楷體" panose="03000509000000000000" pitchFamily="65" charset="-120"/>
              </a:rPr>
              <a:t>中</a:t>
            </a:r>
            <a:endParaRPr lang="en-US" altLang="zh-TW" sz="32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r>
              <a:rPr lang="zh-TW" altLang="en-US" sz="3200" dirty="0">
                <a:ea typeface="標楷體" panose="03000509000000000000" pitchFamily="65" charset="-120"/>
              </a:rPr>
              <a:t>有 </a:t>
            </a:r>
            <a:r>
              <a:rPr lang="en-US" altLang="zh-TW" sz="3200" dirty="0">
                <a:ea typeface="標楷體" panose="03000509000000000000" pitchFamily="65" charset="-120"/>
              </a:rPr>
              <a:t>31 </a:t>
            </a:r>
            <a:r>
              <a:rPr lang="zh-TW" altLang="en-US" sz="3200" dirty="0">
                <a:ea typeface="標楷體" panose="03000509000000000000" pitchFamily="65" charset="-120"/>
              </a:rPr>
              <a:t>筆 </a:t>
            </a:r>
            <a:r>
              <a:rPr lang="en-US" altLang="zh-TW" sz="3200" dirty="0">
                <a:ea typeface="標楷體" panose="03000509000000000000" pitchFamily="65" charset="-120"/>
              </a:rPr>
              <a:t>Depression Samples</a:t>
            </a:r>
          </a:p>
          <a:p>
            <a:pPr>
              <a:lnSpc>
                <a:spcPct val="100000"/>
              </a:lnSpc>
            </a:pPr>
            <a:r>
              <a:rPr lang="zh-TW" altLang="en-US" sz="3200" dirty="0">
                <a:ea typeface="標楷體" panose="03000509000000000000" pitchFamily="65" charset="-120"/>
              </a:rPr>
              <a:t>有</a:t>
            </a:r>
            <a:r>
              <a:rPr lang="en-US" altLang="zh-TW" sz="3200" dirty="0">
                <a:ea typeface="標楷體" panose="03000509000000000000" pitchFamily="65" charset="-120"/>
              </a:rPr>
              <a:t>76</a:t>
            </a:r>
            <a:r>
              <a:rPr lang="zh-TW" altLang="en-US" sz="3200" dirty="0">
                <a:ea typeface="標楷體" panose="03000509000000000000" pitchFamily="65" charset="-120"/>
              </a:rPr>
              <a:t> 筆 </a:t>
            </a:r>
            <a:r>
              <a:rPr lang="en-US" altLang="zh-TW" sz="3200" dirty="0">
                <a:ea typeface="標楷體" panose="03000509000000000000" pitchFamily="65" charset="-120"/>
              </a:rPr>
              <a:t>Non Depression Samples</a:t>
            </a:r>
          </a:p>
        </p:txBody>
      </p:sp>
    </p:spTree>
    <p:extLst>
      <p:ext uri="{BB962C8B-B14F-4D97-AF65-F5344CB8AC3E}">
        <p14:creationId xmlns:p14="http://schemas.microsoft.com/office/powerpoint/2010/main" val="3813946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實驗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Block Embedding Analysis</a:t>
            </a: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64CB8ADF-1DCC-4101-A968-8FF2E7F84A4F}"/>
              </a:ext>
            </a:extLst>
          </p:cNvPr>
          <p:cNvSpPr txBox="1">
            <a:spLocks/>
          </p:cNvSpPr>
          <p:nvPr/>
        </p:nvSpPr>
        <p:spPr>
          <a:xfrm>
            <a:off x="555419" y="1108063"/>
            <a:ext cx="11081159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TW" altLang="en-US" sz="3200" dirty="0">
                <a:ea typeface="標楷體" panose="03000509000000000000" pitchFamily="65" charset="-120"/>
              </a:rPr>
              <a:t>測試使用第幾個 </a:t>
            </a:r>
            <a:r>
              <a:rPr lang="en-US" altLang="zh-TW" sz="3200" dirty="0">
                <a:ea typeface="標楷體" panose="03000509000000000000" pitchFamily="65" charset="-120"/>
              </a:rPr>
              <a:t>transformer block </a:t>
            </a:r>
            <a:r>
              <a:rPr lang="zh-TW" altLang="en-US" sz="3200" dirty="0">
                <a:ea typeface="標楷體" panose="03000509000000000000" pitchFamily="65" charset="-120"/>
              </a:rPr>
              <a:t>的 </a:t>
            </a:r>
            <a:r>
              <a:rPr lang="en-US" altLang="zh-TW" sz="3200" dirty="0">
                <a:ea typeface="標楷體" panose="03000509000000000000" pitchFamily="65" charset="-120"/>
              </a:rPr>
              <a:t>embeddings</a:t>
            </a:r>
            <a:r>
              <a:rPr lang="zh-TW" altLang="en-US" sz="3200" dirty="0">
                <a:ea typeface="標楷體" panose="03000509000000000000" pitchFamily="65" charset="-120"/>
              </a:rPr>
              <a:t> 結果會最好</a:t>
            </a:r>
            <a:endParaRPr lang="en-US" altLang="zh-TW" sz="3200" dirty="0">
              <a:ea typeface="標楷體" panose="03000509000000000000" pitchFamily="65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8722DCF2-69EA-4AB9-B91D-E76DFD38E8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87910"/>
            <a:ext cx="121920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87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實驗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ASR and AER fine-tuned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analysis</a:t>
            </a: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64CB8ADF-1DCC-4101-A968-8FF2E7F84A4F}"/>
              </a:ext>
            </a:extLst>
          </p:cNvPr>
          <p:cNvSpPr txBox="1">
            <a:spLocks/>
          </p:cNvSpPr>
          <p:nvPr/>
        </p:nvSpPr>
        <p:spPr>
          <a:xfrm>
            <a:off x="555419" y="1108063"/>
            <a:ext cx="11081159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TW" altLang="en-US" sz="3200" dirty="0">
                <a:ea typeface="標楷體" panose="03000509000000000000" pitchFamily="65" charset="-120"/>
              </a:rPr>
              <a:t>額外對 </a:t>
            </a:r>
            <a:r>
              <a:rPr lang="en-US" altLang="zh-TW" sz="3200" dirty="0">
                <a:ea typeface="標楷體" panose="03000509000000000000" pitchFamily="65" charset="-120"/>
              </a:rPr>
              <a:t>Wav2Vec2.0 </a:t>
            </a:r>
            <a:r>
              <a:rPr lang="zh-TW" altLang="en-US" sz="3200" dirty="0">
                <a:ea typeface="標楷體" panose="03000509000000000000" pitchFamily="65" charset="-120"/>
              </a:rPr>
              <a:t>與 </a:t>
            </a:r>
            <a:r>
              <a:rPr lang="en-US" altLang="zh-TW" sz="3200" dirty="0" err="1">
                <a:ea typeface="標楷體" panose="03000509000000000000" pitchFamily="65" charset="-120"/>
              </a:rPr>
              <a:t>WavLM</a:t>
            </a:r>
            <a:r>
              <a:rPr lang="en-US" altLang="zh-TW" sz="3200" dirty="0">
                <a:ea typeface="標楷體" panose="03000509000000000000" pitchFamily="65" charset="-120"/>
              </a:rPr>
              <a:t> </a:t>
            </a:r>
            <a:r>
              <a:rPr lang="zh-TW" altLang="en-US" sz="3200" dirty="0">
                <a:ea typeface="標楷體" panose="03000509000000000000" pitchFamily="65" charset="-120"/>
              </a:rPr>
              <a:t>做 </a:t>
            </a:r>
            <a:r>
              <a:rPr lang="en-US" altLang="zh-TW" sz="3200" dirty="0">
                <a:ea typeface="標楷體" panose="03000509000000000000" pitchFamily="65" charset="-120"/>
              </a:rPr>
              <a:t>fine-tuned on</a:t>
            </a:r>
            <a:r>
              <a:rPr lang="zh-TW" altLang="en-US" sz="3200" dirty="0">
                <a:ea typeface="標楷體" panose="03000509000000000000" pitchFamily="65" charset="-120"/>
              </a:rPr>
              <a:t> </a:t>
            </a:r>
            <a:r>
              <a:rPr lang="en-US" altLang="zh-TW" sz="3200" dirty="0">
                <a:ea typeface="標楷體" panose="03000509000000000000" pitchFamily="65" charset="-120"/>
              </a:rPr>
              <a:t>ASR, AER task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63A3E04B-E902-45CA-BEB5-1092C7BD24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124" y="2374553"/>
            <a:ext cx="5495925" cy="2933700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FDBECDE2-DF0B-4F98-8D1D-06264F047D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1344" y="2444369"/>
            <a:ext cx="5467350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72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實驗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Use text embedding</a:t>
            </a: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64CB8ADF-1DCC-4101-A968-8FF2E7F84A4F}"/>
              </a:ext>
            </a:extLst>
          </p:cNvPr>
          <p:cNvSpPr txBox="1">
            <a:spLocks/>
          </p:cNvSpPr>
          <p:nvPr/>
        </p:nvSpPr>
        <p:spPr>
          <a:xfrm>
            <a:off x="555419" y="1108063"/>
            <a:ext cx="11081159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zh-TW" sz="3200" dirty="0" err="1">
                <a:ea typeface="標楷體" panose="03000509000000000000" pitchFamily="65" charset="-120"/>
              </a:rPr>
              <a:t>Hyp</a:t>
            </a:r>
            <a:r>
              <a:rPr lang="en-US" altLang="zh-TW" sz="3200" dirty="0">
                <a:ea typeface="標楷體" panose="03000509000000000000" pitchFamily="65" charset="-120"/>
              </a:rPr>
              <a:t>: </a:t>
            </a:r>
            <a:r>
              <a:rPr lang="zh-TW" altLang="en-US" sz="3200" dirty="0">
                <a:ea typeface="標楷體" panose="03000509000000000000" pitchFamily="65" charset="-120"/>
              </a:rPr>
              <a:t>使用從 </a:t>
            </a:r>
            <a:r>
              <a:rPr lang="en-US" altLang="zh-TW" sz="3200" dirty="0">
                <a:ea typeface="標楷體" panose="03000509000000000000" pitchFamily="65" charset="-120"/>
              </a:rPr>
              <a:t>Wev2Vec2_ASR </a:t>
            </a:r>
            <a:r>
              <a:rPr lang="zh-TW" altLang="en-US" sz="3200" dirty="0">
                <a:ea typeface="標楷體" panose="03000509000000000000" pitchFamily="65" charset="-120"/>
              </a:rPr>
              <a:t>輸出的 </a:t>
            </a:r>
            <a:r>
              <a:rPr lang="en-US" altLang="zh-TW" sz="3200" dirty="0">
                <a:ea typeface="標楷體" panose="03000509000000000000" pitchFamily="65" charset="-120"/>
              </a:rPr>
              <a:t>Transcript</a:t>
            </a:r>
          </a:p>
          <a:p>
            <a:pPr>
              <a:lnSpc>
                <a:spcPct val="100000"/>
              </a:lnSpc>
            </a:pPr>
            <a:r>
              <a:rPr lang="en-US" altLang="zh-TW" sz="3200" dirty="0">
                <a:ea typeface="標楷體" panose="03000509000000000000" pitchFamily="65" charset="-120"/>
              </a:rPr>
              <a:t>Ref: </a:t>
            </a:r>
            <a:r>
              <a:rPr lang="zh-TW" altLang="en-US" sz="3200" dirty="0">
                <a:ea typeface="標楷體" panose="03000509000000000000" pitchFamily="65" charset="-120"/>
              </a:rPr>
              <a:t>使用 </a:t>
            </a:r>
            <a:r>
              <a:rPr lang="en-US" altLang="zh-TW" sz="3200" dirty="0">
                <a:ea typeface="標楷體" panose="03000509000000000000" pitchFamily="65" charset="-120"/>
              </a:rPr>
              <a:t>DAIC-WOZ </a:t>
            </a:r>
            <a:r>
              <a:rPr lang="zh-TW" altLang="en-US" sz="3200" dirty="0">
                <a:ea typeface="標楷體" panose="03000509000000000000" pitchFamily="65" charset="-120"/>
              </a:rPr>
              <a:t>提供的 </a:t>
            </a:r>
            <a:r>
              <a:rPr lang="en-US" altLang="zh-TW" sz="3200" dirty="0">
                <a:ea typeface="標楷體" panose="03000509000000000000" pitchFamily="65" charset="-120"/>
              </a:rPr>
              <a:t>Transcript</a:t>
            </a: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D56B113A-BA14-4C96-8874-CC90803630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588" y="2894098"/>
            <a:ext cx="5761028" cy="2620084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0B5103E5-3366-4CF2-815F-A03F09D978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3616" y="3205606"/>
            <a:ext cx="5953915" cy="1617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493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實驗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: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Ensemble method</a:t>
            </a: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7653A22-9F0E-465D-8898-9A6B006F43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6188" y="1515392"/>
            <a:ext cx="8193422" cy="4447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561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5371</TotalTime>
  <Words>345</Words>
  <Application>Microsoft Office PowerPoint</Application>
  <PresentationFormat>寬螢幕</PresentationFormat>
  <Paragraphs>73</Paragraphs>
  <Slides>8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3" baseType="lpstr">
      <vt:lpstr>-apple-system</vt:lpstr>
      <vt:lpstr>Arial</vt:lpstr>
      <vt:lpstr>Calibri</vt:lpstr>
      <vt:lpstr>Calibri Light</vt:lpstr>
      <vt:lpstr>Office 佈景主題</vt:lpstr>
      <vt:lpstr>2024/12/18 Meeting Report</vt:lpstr>
      <vt:lpstr>Self-supervised representations in speech-based depression detection</vt:lpstr>
      <vt:lpstr>Data augmentation</vt:lpstr>
      <vt:lpstr>實驗: Number of Positive Samples</vt:lpstr>
      <vt:lpstr>實驗: Block Embedding Analysis</vt:lpstr>
      <vt:lpstr>實驗: ASR and AER fine-tuned analysis</vt:lpstr>
      <vt:lpstr>實驗: Use text embedding</vt:lpstr>
      <vt:lpstr>實驗: Ensemble method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2024/11/26 Meeting Report</dc:title>
  <dc:creator>嘉均 簡</dc:creator>
  <cp:lastModifiedBy>嘉均 簡</cp:lastModifiedBy>
  <cp:revision>39</cp:revision>
  <dcterms:created xsi:type="dcterms:W3CDTF">2024-11-26T08:17:58Z</dcterms:created>
  <dcterms:modified xsi:type="dcterms:W3CDTF">2024-12-18T06:54:30Z</dcterms:modified>
</cp:coreProperties>
</file>