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1"/>
  </p:notesMasterIdLst>
  <p:sldIdLst>
    <p:sldId id="257" r:id="rId2"/>
    <p:sldId id="309" r:id="rId3"/>
    <p:sldId id="310" r:id="rId4"/>
    <p:sldId id="318" r:id="rId5"/>
    <p:sldId id="311" r:id="rId6"/>
    <p:sldId id="313" r:id="rId7"/>
    <p:sldId id="316" r:id="rId8"/>
    <p:sldId id="319" r:id="rId9"/>
    <p:sldId id="320" r:id="rId10"/>
    <p:sldId id="321" r:id="rId11"/>
    <p:sldId id="322" r:id="rId12"/>
    <p:sldId id="323" r:id="rId13"/>
    <p:sldId id="324" r:id="rId14"/>
    <p:sldId id="325" r:id="rId15"/>
    <p:sldId id="326" r:id="rId16"/>
    <p:sldId id="328" r:id="rId17"/>
    <p:sldId id="329" r:id="rId18"/>
    <p:sldId id="330" r:id="rId19"/>
    <p:sldId id="331" r:id="rId20"/>
    <p:sldId id="332" r:id="rId21"/>
    <p:sldId id="333" r:id="rId22"/>
    <p:sldId id="334" r:id="rId23"/>
    <p:sldId id="335" r:id="rId24"/>
    <p:sldId id="336" r:id="rId25"/>
    <p:sldId id="337" r:id="rId26"/>
    <p:sldId id="317" r:id="rId27"/>
    <p:sldId id="312" r:id="rId28"/>
    <p:sldId id="314" r:id="rId29"/>
    <p:sldId id="315" r:id="rId30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4" autoAdjust="0"/>
    <p:restoredTop sz="94660"/>
  </p:normalViewPr>
  <p:slideViewPr>
    <p:cSldViewPr snapToGrid="0">
      <p:cViewPr>
        <p:scale>
          <a:sx n="100" d="100"/>
          <a:sy n="100" d="100"/>
        </p:scale>
        <p:origin x="990" y="3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83FCE3-478C-431E-87AB-BE170C516E69}" type="datetimeFigureOut">
              <a:rPr lang="zh-TW" altLang="en-US" smtClean="0"/>
              <a:t>2024/12/2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4F28D4C-F25D-4326-8B73-8471B974A06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931850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AA43A8-D8AF-4A57-B3C3-ACEB87B86596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040039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一般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都會根據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batch size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做一些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scale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的操作。這裏用的是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lr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x 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batch_size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/ 256</a:t>
            </a:r>
            <a:r>
              <a:rPr lang="zh-TW" altLang="en-US" b="1" i="0" dirty="0">
                <a:solidFill>
                  <a:srgbClr val="4A4A4A"/>
                </a:solidFill>
                <a:effectLst/>
                <a:latin typeface="-apple-system"/>
              </a:rPr>
              <a:t>」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。</a:t>
            </a:r>
            <a:endParaRPr lang="en-US" altLang="zh-TW" b="0" i="0" dirty="0">
              <a:solidFill>
                <a:srgbClr val="4A4A4A"/>
              </a:solidFill>
              <a:effectLst/>
              <a:latin typeface="-apple-system"/>
            </a:endParaRP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小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under-fitting</a:t>
            </a: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大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unstable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F9977A-F9B1-4E82-8DFA-4B4DCD30651E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6343027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一般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都會根據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batch size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做一些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scale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的操作。這裏用的是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lr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x 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batch_size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/ 256</a:t>
            </a:r>
            <a:r>
              <a:rPr lang="zh-TW" altLang="en-US" b="1" i="0" dirty="0">
                <a:solidFill>
                  <a:srgbClr val="4A4A4A"/>
                </a:solidFill>
                <a:effectLst/>
                <a:latin typeface="-apple-system"/>
              </a:rPr>
              <a:t>」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。</a:t>
            </a:r>
            <a:endParaRPr lang="en-US" altLang="zh-TW" b="0" i="0" dirty="0">
              <a:solidFill>
                <a:srgbClr val="4A4A4A"/>
              </a:solidFill>
              <a:effectLst/>
              <a:latin typeface="-apple-system"/>
            </a:endParaRP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小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under-fitting</a:t>
            </a: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大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unstable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F9977A-F9B1-4E82-8DFA-4B4DCD30651E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4609779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一般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都會根據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batch size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做一些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scale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的操作。這裏用的是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lr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x 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batch_size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/ 256</a:t>
            </a:r>
            <a:r>
              <a:rPr lang="zh-TW" altLang="en-US" b="1" i="0" dirty="0">
                <a:solidFill>
                  <a:srgbClr val="4A4A4A"/>
                </a:solidFill>
                <a:effectLst/>
                <a:latin typeface="-apple-system"/>
              </a:rPr>
              <a:t>」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。</a:t>
            </a:r>
            <a:endParaRPr lang="en-US" altLang="zh-TW" b="0" i="0" dirty="0">
              <a:solidFill>
                <a:srgbClr val="4A4A4A"/>
              </a:solidFill>
              <a:effectLst/>
              <a:latin typeface="-apple-system"/>
            </a:endParaRP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小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under-fitting</a:t>
            </a: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大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unstable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F9977A-F9B1-4E82-8DFA-4B4DCD30651E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1958787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一般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都會根據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batch size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做一些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scale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的操作。這裏用的是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lr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x 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batch_size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/ 256</a:t>
            </a:r>
            <a:r>
              <a:rPr lang="zh-TW" altLang="en-US" b="1" i="0" dirty="0">
                <a:solidFill>
                  <a:srgbClr val="4A4A4A"/>
                </a:solidFill>
                <a:effectLst/>
                <a:latin typeface="-apple-system"/>
              </a:rPr>
              <a:t>」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。</a:t>
            </a:r>
            <a:endParaRPr lang="en-US" altLang="zh-TW" b="0" i="0" dirty="0">
              <a:solidFill>
                <a:srgbClr val="4A4A4A"/>
              </a:solidFill>
              <a:effectLst/>
              <a:latin typeface="-apple-system"/>
            </a:endParaRP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小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under-fitting</a:t>
            </a: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大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unstable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F9977A-F9B1-4E82-8DFA-4B4DCD30651E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3975639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一般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都會根據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batch size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做一些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scale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的操作。這裏用的是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lr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x 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batch_size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/ 256</a:t>
            </a:r>
            <a:r>
              <a:rPr lang="zh-TW" altLang="en-US" b="1" i="0" dirty="0">
                <a:solidFill>
                  <a:srgbClr val="4A4A4A"/>
                </a:solidFill>
                <a:effectLst/>
                <a:latin typeface="-apple-system"/>
              </a:rPr>
              <a:t>」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。</a:t>
            </a:r>
            <a:endParaRPr lang="en-US" altLang="zh-TW" b="0" i="0" dirty="0">
              <a:solidFill>
                <a:srgbClr val="4A4A4A"/>
              </a:solidFill>
              <a:effectLst/>
              <a:latin typeface="-apple-system"/>
            </a:endParaRP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小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under-fitting</a:t>
            </a: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大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unstable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F9977A-F9B1-4E82-8DFA-4B4DCD30651E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3506253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一般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都會根據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batch size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做一些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scale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的操作。這裏用的是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lr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x 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batch_size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/ 256</a:t>
            </a:r>
            <a:r>
              <a:rPr lang="zh-TW" altLang="en-US" b="1" i="0" dirty="0">
                <a:solidFill>
                  <a:srgbClr val="4A4A4A"/>
                </a:solidFill>
                <a:effectLst/>
                <a:latin typeface="-apple-system"/>
              </a:rPr>
              <a:t>」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。</a:t>
            </a:r>
            <a:endParaRPr lang="en-US" altLang="zh-TW" b="0" i="0" dirty="0">
              <a:solidFill>
                <a:srgbClr val="4A4A4A"/>
              </a:solidFill>
              <a:effectLst/>
              <a:latin typeface="-apple-system"/>
            </a:endParaRP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小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under-fitting</a:t>
            </a: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大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unstable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F9977A-F9B1-4E82-8DFA-4B4DCD30651E}" type="slidenum">
              <a:rPr lang="zh-TW" altLang="en-US" smtClean="0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3358232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一般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都會根據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batch size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做一些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scale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的操作。這裏用的是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lr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x 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batch_size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/ 256</a:t>
            </a:r>
            <a:r>
              <a:rPr lang="zh-TW" altLang="en-US" b="1" i="0" dirty="0">
                <a:solidFill>
                  <a:srgbClr val="4A4A4A"/>
                </a:solidFill>
                <a:effectLst/>
                <a:latin typeface="-apple-system"/>
              </a:rPr>
              <a:t>」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。</a:t>
            </a:r>
            <a:endParaRPr lang="en-US" altLang="zh-TW" b="0" i="0" dirty="0">
              <a:solidFill>
                <a:srgbClr val="4A4A4A"/>
              </a:solidFill>
              <a:effectLst/>
              <a:latin typeface="-apple-system"/>
            </a:endParaRP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小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under-fitting</a:t>
            </a: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大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unstable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F9977A-F9B1-4E82-8DFA-4B4DCD30651E}" type="slidenum">
              <a:rPr lang="zh-TW" altLang="en-US" smtClean="0"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053796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一般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都會根據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batch size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做一些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scale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的操作。這裏用的是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lr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x 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batch_size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/ 256</a:t>
            </a:r>
            <a:r>
              <a:rPr lang="zh-TW" altLang="en-US" b="1" i="0" dirty="0">
                <a:solidFill>
                  <a:srgbClr val="4A4A4A"/>
                </a:solidFill>
                <a:effectLst/>
                <a:latin typeface="-apple-system"/>
              </a:rPr>
              <a:t>」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。</a:t>
            </a:r>
            <a:endParaRPr lang="en-US" altLang="zh-TW" b="0" i="0" dirty="0">
              <a:solidFill>
                <a:srgbClr val="4A4A4A"/>
              </a:solidFill>
              <a:effectLst/>
              <a:latin typeface="-apple-system"/>
            </a:endParaRP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小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under-fitting</a:t>
            </a: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大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unstable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F9977A-F9B1-4E82-8DFA-4B4DCD30651E}" type="slidenum">
              <a:rPr lang="zh-TW" altLang="en-US" smtClean="0"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8218437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一般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都會根據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batch size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做一些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scale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的操作。這裏用的是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lr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x 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batch_size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/ 256</a:t>
            </a:r>
            <a:r>
              <a:rPr lang="zh-TW" altLang="en-US" b="1" i="0" dirty="0">
                <a:solidFill>
                  <a:srgbClr val="4A4A4A"/>
                </a:solidFill>
                <a:effectLst/>
                <a:latin typeface="-apple-system"/>
              </a:rPr>
              <a:t>」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。</a:t>
            </a:r>
            <a:endParaRPr lang="en-US" altLang="zh-TW" b="0" i="0" dirty="0">
              <a:solidFill>
                <a:srgbClr val="4A4A4A"/>
              </a:solidFill>
              <a:effectLst/>
              <a:latin typeface="-apple-system"/>
            </a:endParaRP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小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under-fitting</a:t>
            </a: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大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unstable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F9977A-F9B1-4E82-8DFA-4B4DCD30651E}" type="slidenum">
              <a:rPr lang="zh-TW" altLang="en-US" smtClean="0"/>
              <a:t>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5938197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一般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都會根據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batch size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做一些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scale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的操作。這裏用的是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lr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x 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batch_size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/ 256</a:t>
            </a:r>
            <a:r>
              <a:rPr lang="zh-TW" altLang="en-US" b="1" i="0" dirty="0">
                <a:solidFill>
                  <a:srgbClr val="4A4A4A"/>
                </a:solidFill>
                <a:effectLst/>
                <a:latin typeface="-apple-system"/>
              </a:rPr>
              <a:t>」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。</a:t>
            </a:r>
            <a:endParaRPr lang="en-US" altLang="zh-TW" b="0" i="0" dirty="0">
              <a:solidFill>
                <a:srgbClr val="4A4A4A"/>
              </a:solidFill>
              <a:effectLst/>
              <a:latin typeface="-apple-system"/>
            </a:endParaRP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小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under-fitting</a:t>
            </a: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大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unstable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F9977A-F9B1-4E82-8DFA-4B4DCD30651E}" type="slidenum">
              <a:rPr lang="zh-TW" altLang="en-US" smtClean="0"/>
              <a:t>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2298776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一般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都會根據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batch size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做一些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scale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的操作。這裏用的是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lr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x 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batch_size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/ 256</a:t>
            </a:r>
            <a:r>
              <a:rPr lang="zh-TW" altLang="en-US" b="1" i="0" dirty="0">
                <a:solidFill>
                  <a:srgbClr val="4A4A4A"/>
                </a:solidFill>
                <a:effectLst/>
                <a:latin typeface="-apple-system"/>
              </a:rPr>
              <a:t>」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。</a:t>
            </a:r>
            <a:endParaRPr lang="en-US" altLang="zh-TW" b="0" i="0" dirty="0">
              <a:solidFill>
                <a:srgbClr val="4A4A4A"/>
              </a:solidFill>
              <a:effectLst/>
              <a:latin typeface="-apple-system"/>
            </a:endParaRP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小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under-fitting</a:t>
            </a: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大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unstable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F9977A-F9B1-4E82-8DFA-4B4DCD30651E}" type="slidenum">
              <a:rPr lang="zh-TW" altLang="en-US" smtClean="0"/>
              <a:t>12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0855582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一般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都會根據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batch size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做一些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scale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的操作。這裏用的是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lr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x 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batch_size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/ 256</a:t>
            </a:r>
            <a:r>
              <a:rPr lang="zh-TW" altLang="en-US" b="1" i="0" dirty="0">
                <a:solidFill>
                  <a:srgbClr val="4A4A4A"/>
                </a:solidFill>
                <a:effectLst/>
                <a:latin typeface="-apple-system"/>
              </a:rPr>
              <a:t>」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。</a:t>
            </a:r>
            <a:endParaRPr lang="en-US" altLang="zh-TW" b="0" i="0" dirty="0">
              <a:solidFill>
                <a:srgbClr val="4A4A4A"/>
              </a:solidFill>
              <a:effectLst/>
              <a:latin typeface="-apple-system"/>
            </a:endParaRP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小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under-fitting</a:t>
            </a: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大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unstable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F9977A-F9B1-4E82-8DFA-4B4DCD30651E}" type="slidenum">
              <a:rPr lang="zh-TW" altLang="en-US" smtClean="0"/>
              <a:t>13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8898538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一般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都會根據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batch size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做一些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scale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的操作。這裏用的是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lr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x 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batch_size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/ 256</a:t>
            </a:r>
            <a:r>
              <a:rPr lang="zh-TW" altLang="en-US" b="1" i="0" dirty="0">
                <a:solidFill>
                  <a:srgbClr val="4A4A4A"/>
                </a:solidFill>
                <a:effectLst/>
                <a:latin typeface="-apple-system"/>
              </a:rPr>
              <a:t>」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。</a:t>
            </a:r>
            <a:endParaRPr lang="en-US" altLang="zh-TW" b="0" i="0" dirty="0">
              <a:solidFill>
                <a:srgbClr val="4A4A4A"/>
              </a:solidFill>
              <a:effectLst/>
              <a:latin typeface="-apple-system"/>
            </a:endParaRP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小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under-fitting</a:t>
            </a: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大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unstable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F9977A-F9B1-4E82-8DFA-4B4DCD30651E}" type="slidenum">
              <a:rPr lang="zh-TW" altLang="en-US" smtClean="0"/>
              <a:t>14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9198970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一般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都會根據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batch size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做一些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scale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的操作。這裏用的是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lr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x 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batch_size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/ 256</a:t>
            </a:r>
            <a:r>
              <a:rPr lang="zh-TW" altLang="en-US" b="1" i="0" dirty="0">
                <a:solidFill>
                  <a:srgbClr val="4A4A4A"/>
                </a:solidFill>
                <a:effectLst/>
                <a:latin typeface="-apple-system"/>
              </a:rPr>
              <a:t>」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。</a:t>
            </a:r>
            <a:endParaRPr lang="en-US" altLang="zh-TW" b="0" i="0" dirty="0">
              <a:solidFill>
                <a:srgbClr val="4A4A4A"/>
              </a:solidFill>
              <a:effectLst/>
              <a:latin typeface="-apple-system"/>
            </a:endParaRP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小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under-fitting</a:t>
            </a: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大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unstable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F9977A-F9B1-4E82-8DFA-4B4DCD30651E}" type="slidenum">
              <a:rPr lang="zh-TW" altLang="en-US" smtClean="0"/>
              <a:t>15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866332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一般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都會根據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batch size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做一些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scale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的操作。這裏用的是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lr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x 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batch_size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/ 256</a:t>
            </a:r>
            <a:r>
              <a:rPr lang="zh-TW" altLang="en-US" b="1" i="0" dirty="0">
                <a:solidFill>
                  <a:srgbClr val="4A4A4A"/>
                </a:solidFill>
                <a:effectLst/>
                <a:latin typeface="-apple-system"/>
              </a:rPr>
              <a:t>」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。</a:t>
            </a:r>
            <a:endParaRPr lang="en-US" altLang="zh-TW" b="0" i="0" dirty="0">
              <a:solidFill>
                <a:srgbClr val="4A4A4A"/>
              </a:solidFill>
              <a:effectLst/>
              <a:latin typeface="-apple-system"/>
            </a:endParaRP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小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under-fitting</a:t>
            </a: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大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unstable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F9977A-F9B1-4E82-8DFA-4B4DCD30651E}" type="slidenum">
              <a:rPr lang="zh-TW" altLang="en-US" smtClean="0"/>
              <a:t>16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0893688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一般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都會根據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batch size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做一些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scale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的操作。這裏用的是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lr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x 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batch_size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/ 256</a:t>
            </a:r>
            <a:r>
              <a:rPr lang="zh-TW" altLang="en-US" b="1" i="0" dirty="0">
                <a:solidFill>
                  <a:srgbClr val="4A4A4A"/>
                </a:solidFill>
                <a:effectLst/>
                <a:latin typeface="-apple-system"/>
              </a:rPr>
              <a:t>」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。</a:t>
            </a:r>
            <a:endParaRPr lang="en-US" altLang="zh-TW" b="0" i="0" dirty="0">
              <a:solidFill>
                <a:srgbClr val="4A4A4A"/>
              </a:solidFill>
              <a:effectLst/>
              <a:latin typeface="-apple-system"/>
            </a:endParaRP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小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under-fitting</a:t>
            </a: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大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unstable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F9977A-F9B1-4E82-8DFA-4B4DCD30651E}" type="slidenum">
              <a:rPr lang="zh-TW" altLang="en-US" smtClean="0"/>
              <a:t>17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6609797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一般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都會根據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batch size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做一些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scale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的操作。這裏用的是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lr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x 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batch_size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/ 256</a:t>
            </a:r>
            <a:r>
              <a:rPr lang="zh-TW" altLang="en-US" b="1" i="0" dirty="0">
                <a:solidFill>
                  <a:srgbClr val="4A4A4A"/>
                </a:solidFill>
                <a:effectLst/>
                <a:latin typeface="-apple-system"/>
              </a:rPr>
              <a:t>」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。</a:t>
            </a:r>
            <a:endParaRPr lang="en-US" altLang="zh-TW" b="0" i="0" dirty="0">
              <a:solidFill>
                <a:srgbClr val="4A4A4A"/>
              </a:solidFill>
              <a:effectLst/>
              <a:latin typeface="-apple-system"/>
            </a:endParaRP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小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under-fitting</a:t>
            </a: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大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unstable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F9977A-F9B1-4E82-8DFA-4B4DCD30651E}" type="slidenum">
              <a:rPr lang="zh-TW" altLang="en-US" smtClean="0"/>
              <a:t>18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1835978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一般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都會根據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batch size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做一些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scale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的操作。這裏用的是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lr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x 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batch_size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/ 256</a:t>
            </a:r>
            <a:r>
              <a:rPr lang="zh-TW" altLang="en-US" b="1" i="0" dirty="0">
                <a:solidFill>
                  <a:srgbClr val="4A4A4A"/>
                </a:solidFill>
                <a:effectLst/>
                <a:latin typeface="-apple-system"/>
              </a:rPr>
              <a:t>」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。</a:t>
            </a:r>
            <a:endParaRPr lang="en-US" altLang="zh-TW" b="0" i="0" dirty="0">
              <a:solidFill>
                <a:srgbClr val="4A4A4A"/>
              </a:solidFill>
              <a:effectLst/>
              <a:latin typeface="-apple-system"/>
            </a:endParaRP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小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under-fitting</a:t>
            </a: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大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unstable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F9977A-F9B1-4E82-8DFA-4B4DCD30651E}" type="slidenum">
              <a:rPr lang="zh-TW" altLang="en-US" smtClean="0"/>
              <a:t>19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4419226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一般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都會根據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batch size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做一些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scale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的操作。這裏用的是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lr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x 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batch_size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/ 256</a:t>
            </a:r>
            <a:r>
              <a:rPr lang="zh-TW" altLang="en-US" b="1" i="0" dirty="0">
                <a:solidFill>
                  <a:srgbClr val="4A4A4A"/>
                </a:solidFill>
                <a:effectLst/>
                <a:latin typeface="-apple-system"/>
              </a:rPr>
              <a:t>」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。</a:t>
            </a:r>
            <a:endParaRPr lang="en-US" altLang="zh-TW" b="0" i="0" dirty="0">
              <a:solidFill>
                <a:srgbClr val="4A4A4A"/>
              </a:solidFill>
              <a:effectLst/>
              <a:latin typeface="-apple-system"/>
            </a:endParaRP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小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under-fitting</a:t>
            </a: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大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unstable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F9977A-F9B1-4E82-8DFA-4B4DCD30651E}" type="slidenum">
              <a:rPr lang="zh-TW" altLang="en-US" smtClean="0"/>
              <a:t>20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5865653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一般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都會根據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batch size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做一些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scale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的操作。這裏用的是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lr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x 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batch_size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/ 256</a:t>
            </a:r>
            <a:r>
              <a:rPr lang="zh-TW" altLang="en-US" b="1" i="0" dirty="0">
                <a:solidFill>
                  <a:srgbClr val="4A4A4A"/>
                </a:solidFill>
                <a:effectLst/>
                <a:latin typeface="-apple-system"/>
              </a:rPr>
              <a:t>」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。</a:t>
            </a:r>
            <a:endParaRPr lang="en-US" altLang="zh-TW" b="0" i="0" dirty="0">
              <a:solidFill>
                <a:srgbClr val="4A4A4A"/>
              </a:solidFill>
              <a:effectLst/>
              <a:latin typeface="-apple-system"/>
            </a:endParaRP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小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under-fitting</a:t>
            </a: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大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unstable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F9977A-F9B1-4E82-8DFA-4B4DCD30651E}" type="slidenum">
              <a:rPr lang="zh-TW" altLang="en-US" smtClean="0"/>
              <a:t>21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1321594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一般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都會根據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batch size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做一些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scale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的操作。這裏用的是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lr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x 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batch_size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/ 256</a:t>
            </a:r>
            <a:r>
              <a:rPr lang="zh-TW" altLang="en-US" b="1" i="0" dirty="0">
                <a:solidFill>
                  <a:srgbClr val="4A4A4A"/>
                </a:solidFill>
                <a:effectLst/>
                <a:latin typeface="-apple-system"/>
              </a:rPr>
              <a:t>」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。</a:t>
            </a:r>
            <a:endParaRPr lang="en-US" altLang="zh-TW" b="0" i="0" dirty="0">
              <a:solidFill>
                <a:srgbClr val="4A4A4A"/>
              </a:solidFill>
              <a:effectLst/>
              <a:latin typeface="-apple-system"/>
            </a:endParaRP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小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under-fitting</a:t>
            </a: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大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unstable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F9977A-F9B1-4E82-8DFA-4B4DCD30651E}" type="slidenum">
              <a:rPr lang="zh-TW" altLang="en-US" smtClean="0"/>
              <a:t>22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2734452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一般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都會根據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batch size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做一些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scale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的操作。這裏用的是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lr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x 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batch_size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/ 256</a:t>
            </a:r>
            <a:r>
              <a:rPr lang="zh-TW" altLang="en-US" b="1" i="0" dirty="0">
                <a:solidFill>
                  <a:srgbClr val="4A4A4A"/>
                </a:solidFill>
                <a:effectLst/>
                <a:latin typeface="-apple-system"/>
              </a:rPr>
              <a:t>」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。</a:t>
            </a:r>
            <a:endParaRPr lang="en-US" altLang="zh-TW" b="0" i="0" dirty="0">
              <a:solidFill>
                <a:srgbClr val="4A4A4A"/>
              </a:solidFill>
              <a:effectLst/>
              <a:latin typeface="-apple-system"/>
            </a:endParaRP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小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under-fitting</a:t>
            </a: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大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unstable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F9977A-F9B1-4E82-8DFA-4B4DCD30651E}" type="slidenum">
              <a:rPr lang="zh-TW" altLang="en-US" smtClean="0"/>
              <a:t>23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7080761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一般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都會根據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batch size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做一些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scale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的操作。這裏用的是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lr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x 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batch_size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/ 256</a:t>
            </a:r>
            <a:r>
              <a:rPr lang="zh-TW" altLang="en-US" b="1" i="0" dirty="0">
                <a:solidFill>
                  <a:srgbClr val="4A4A4A"/>
                </a:solidFill>
                <a:effectLst/>
                <a:latin typeface="-apple-system"/>
              </a:rPr>
              <a:t>」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。</a:t>
            </a:r>
            <a:endParaRPr lang="en-US" altLang="zh-TW" b="0" i="0" dirty="0">
              <a:solidFill>
                <a:srgbClr val="4A4A4A"/>
              </a:solidFill>
              <a:effectLst/>
              <a:latin typeface="-apple-system"/>
            </a:endParaRP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小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under-fitting</a:t>
            </a: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大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unstable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F9977A-F9B1-4E82-8DFA-4B4DCD30651E}" type="slidenum">
              <a:rPr lang="zh-TW" altLang="en-US" smtClean="0"/>
              <a:t>24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122568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一般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都會根據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batch size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做一些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scale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的操作。這裏用的是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lr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x 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batch_size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/ 256</a:t>
            </a:r>
            <a:r>
              <a:rPr lang="zh-TW" altLang="en-US" b="1" i="0" dirty="0">
                <a:solidFill>
                  <a:srgbClr val="4A4A4A"/>
                </a:solidFill>
                <a:effectLst/>
                <a:latin typeface="-apple-system"/>
              </a:rPr>
              <a:t>」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。</a:t>
            </a:r>
            <a:endParaRPr lang="en-US" altLang="zh-TW" b="0" i="0" dirty="0">
              <a:solidFill>
                <a:srgbClr val="4A4A4A"/>
              </a:solidFill>
              <a:effectLst/>
              <a:latin typeface="-apple-system"/>
            </a:endParaRP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小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under-fitting</a:t>
            </a: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大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unstable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F9977A-F9B1-4E82-8DFA-4B4DCD30651E}" type="slidenum">
              <a:rPr lang="zh-TW" altLang="en-US" smtClean="0"/>
              <a:t>25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0973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一般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都會根據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batch size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做一些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scale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的操作。這裏用的是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lr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x 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batch_size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/ 256</a:t>
            </a:r>
            <a:r>
              <a:rPr lang="zh-TW" altLang="en-US" b="1" i="0" dirty="0">
                <a:solidFill>
                  <a:srgbClr val="4A4A4A"/>
                </a:solidFill>
                <a:effectLst/>
                <a:latin typeface="-apple-system"/>
              </a:rPr>
              <a:t>」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。</a:t>
            </a:r>
            <a:endParaRPr lang="en-US" altLang="zh-TW" b="0" i="0" dirty="0">
              <a:solidFill>
                <a:srgbClr val="4A4A4A"/>
              </a:solidFill>
              <a:effectLst/>
              <a:latin typeface="-apple-system"/>
            </a:endParaRP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小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under-fitting</a:t>
            </a: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大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unstable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F9977A-F9B1-4E82-8DFA-4B4DCD30651E}" type="slidenum">
              <a:rPr lang="zh-TW" altLang="en-US" smtClean="0"/>
              <a:t>27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1410574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一般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都會根據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batch size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做一些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scale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的操作。這裏用的是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lr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x 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batch_size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/ 256</a:t>
            </a:r>
            <a:r>
              <a:rPr lang="zh-TW" altLang="en-US" b="1" i="0" dirty="0">
                <a:solidFill>
                  <a:srgbClr val="4A4A4A"/>
                </a:solidFill>
                <a:effectLst/>
                <a:latin typeface="-apple-system"/>
              </a:rPr>
              <a:t>」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。</a:t>
            </a:r>
            <a:endParaRPr lang="en-US" altLang="zh-TW" b="0" i="0" dirty="0">
              <a:solidFill>
                <a:srgbClr val="4A4A4A"/>
              </a:solidFill>
              <a:effectLst/>
              <a:latin typeface="-apple-system"/>
            </a:endParaRP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小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under-fitting</a:t>
            </a: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大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unstable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F9977A-F9B1-4E82-8DFA-4B4DCD30651E}" type="slidenum">
              <a:rPr lang="zh-TW" altLang="en-US" smtClean="0"/>
              <a:t>28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5879834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一般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都會根據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batch size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做一些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scale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的操作。這裏用的是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lr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x 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batch_size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/ 256</a:t>
            </a:r>
            <a:r>
              <a:rPr lang="zh-TW" altLang="en-US" b="1" i="0" dirty="0">
                <a:solidFill>
                  <a:srgbClr val="4A4A4A"/>
                </a:solidFill>
                <a:effectLst/>
                <a:latin typeface="-apple-system"/>
              </a:rPr>
              <a:t>」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。</a:t>
            </a:r>
            <a:endParaRPr lang="en-US" altLang="zh-TW" b="0" i="0" dirty="0">
              <a:solidFill>
                <a:srgbClr val="4A4A4A"/>
              </a:solidFill>
              <a:effectLst/>
              <a:latin typeface="-apple-system"/>
            </a:endParaRP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小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under-fitting</a:t>
            </a: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大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unstable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F9977A-F9B1-4E82-8DFA-4B4DCD30651E}" type="slidenum">
              <a:rPr lang="zh-TW" altLang="en-US" smtClean="0"/>
              <a:t>29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657574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704A3D9-15E9-4086-9416-05789441AE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B27BC534-F64A-4BAC-AEAD-A2043EDB35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95E37C9-7BD0-4DCD-910F-A6C7E31F41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1045B-A1E6-44A0-A725-97F99BB28122}" type="datetimeFigureOut">
              <a:rPr lang="zh-TW" altLang="en-US" smtClean="0"/>
              <a:t>2024/12/2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3166B29-95AE-40F6-8B6C-FF04BA8E0D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546CC68-0B78-449E-A300-BE64924695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39E302-4139-4D9D-989B-DA70CE82B66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017320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E531F92-87DB-4A03-B534-2E8C2272C8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E5A9A84-0B06-42E3-A6FF-CF152780A5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5249F61-91D8-4AF1-93F3-4427C11897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1045B-A1E6-44A0-A725-97F99BB28122}" type="datetimeFigureOut">
              <a:rPr lang="zh-TW" altLang="en-US" smtClean="0"/>
              <a:t>2024/12/2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E055F53-6359-4ED8-A61B-0C03615B20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0631735-F8E1-4AA6-BD18-E480F6D97A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39E302-4139-4D9D-989B-DA70CE82B66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389270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FBB6B74-1F25-4025-89D1-3FD1370B53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D0B2351E-9E60-47C4-AC59-64AF7079B6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E1937E6-660F-4C46-B477-20D78A462B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1045B-A1E6-44A0-A725-97F99BB28122}" type="datetimeFigureOut">
              <a:rPr lang="zh-TW" altLang="en-US" smtClean="0"/>
              <a:t>2024/12/2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E888549-25B1-4EE2-9D8F-AC49172533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F290F1E-C4BD-4C66-8A1E-6256F22BC8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39E302-4139-4D9D-989B-DA70CE82B66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741227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B89A568-1BE1-48A2-8EC9-EC98EE6E84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5B1E703-6AEA-4325-825F-B5AB5725C0C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A6A186C0-B94D-4AE8-88EB-EE7520C2DA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9A219445-A430-4EDA-8CDB-750FA05D94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1045B-A1E6-44A0-A725-97F99BB28122}" type="datetimeFigureOut">
              <a:rPr lang="zh-TW" altLang="en-US" smtClean="0"/>
              <a:t>2024/12/2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2BE602F1-C8E8-4B65-9D11-BECA640DC6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0782FA8A-4374-4FE7-A684-E9EBD090A0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39E302-4139-4D9D-989B-DA70CE82B66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09351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A85D98E-0400-4C92-8B1C-79D3D446E9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03181CD2-678D-4171-82ED-EDEBC8424B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B4ED527C-AF3D-4030-AC73-974CD0A695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6E005D37-5DAA-46A4-8847-C428339D738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37FFD1D8-DC2F-464F-89CB-3F309D56C79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53D14D72-90B7-4AC4-B35E-60D8ECFF6A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1045B-A1E6-44A0-A725-97F99BB28122}" type="datetimeFigureOut">
              <a:rPr lang="zh-TW" altLang="en-US" smtClean="0"/>
              <a:t>2024/12/2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172E2AB7-7C06-44A2-A09A-917A67E23B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EC5C4994-9C35-4585-BEE1-2A20ECA1FB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39E302-4139-4D9D-989B-DA70CE82B66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3536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4789B3A-3305-4A3A-923B-289F25A932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9F0A53EE-3FEF-46D9-AD75-6B57192FD2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1045B-A1E6-44A0-A725-97F99BB28122}" type="datetimeFigureOut">
              <a:rPr lang="zh-TW" altLang="en-US" smtClean="0"/>
              <a:t>2024/12/2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F0DFCF92-E46E-48EF-9432-0891C63C75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1BBE9FF3-5389-491A-9627-8F6B0E76A4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39E302-4139-4D9D-989B-DA70CE82B66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225136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F75B2888-479E-47E0-9AC3-845F290354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1045B-A1E6-44A0-A725-97F99BB28122}" type="datetimeFigureOut">
              <a:rPr lang="zh-TW" altLang="en-US" smtClean="0"/>
              <a:t>2024/12/2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F6B3824-EEA0-4AE9-8D56-A9C632F782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CB8FA32-B005-4772-AF93-98857F7F50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39E302-4139-4D9D-989B-DA70CE82B66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453699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0BAD46B-27BE-4814-B1C5-162EC11E7D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0203E8E-E52C-494C-BFB6-4BF1B07A17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BEF397A1-5A73-47E6-9B11-6909468158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04C03C9A-8DCB-47E9-A1E4-3ED3B7BEA6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1045B-A1E6-44A0-A725-97F99BB28122}" type="datetimeFigureOut">
              <a:rPr lang="zh-TW" altLang="en-US" smtClean="0"/>
              <a:t>2024/12/2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0780F470-6778-420B-8A93-97709E635B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8DEB09AE-4183-4A3C-8287-043BA88FFD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39E302-4139-4D9D-989B-DA70CE82B66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902521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839FF56-56A6-4B6F-85AE-6B5E79B75A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7A72E51C-DBFB-49CB-845F-6F7CF244A0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C88C8888-AFD5-4943-AE5C-0A2C0A57C7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2E9F613C-0A88-4A59-A82F-6F3B0703B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1045B-A1E6-44A0-A725-97F99BB28122}" type="datetimeFigureOut">
              <a:rPr lang="zh-TW" altLang="en-US" smtClean="0"/>
              <a:t>2024/12/2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DBBA4FC6-D27B-4EDF-8C76-C345F6EFFE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4AB4B0F6-359D-41DA-B573-2A00027B5E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39E302-4139-4D9D-989B-DA70CE82B66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087432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5E2C750-B0A2-4D3A-ADB4-A3FEFF6F12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7691C6F4-772F-460D-A51A-467DF1BC03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121F333-A86D-4708-9A90-D71590455B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1045B-A1E6-44A0-A725-97F99BB28122}" type="datetimeFigureOut">
              <a:rPr lang="zh-TW" altLang="en-US" smtClean="0"/>
              <a:t>2024/12/2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AD49260-352E-42E8-B5DA-5197516C79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7621D93-B296-4823-8786-B95B850B76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39E302-4139-4D9D-989B-DA70CE82B66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54316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71DF3E2F-06A1-4089-BE94-1797AE548AD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A4D3E8AD-73C8-4B6A-BCBC-395990E460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02683CB-806B-4713-80FE-D73D13C63E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1045B-A1E6-44A0-A725-97F99BB28122}" type="datetimeFigureOut">
              <a:rPr lang="zh-TW" altLang="en-US" smtClean="0"/>
              <a:t>2024/12/2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BA8DB0B-6413-4B1A-BBD1-239E300399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B0EEF2E-64CC-4AD1-BB5E-A81D308A50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39E302-4139-4D9D-989B-DA70CE82B66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1632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689BA23D-A74C-4150-84B3-E3B034C764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1DC9E99D-3205-4DD3-9389-F2797F2D08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09D3FC5-709C-45C3-8758-28B4444FCC8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91045B-A1E6-44A0-A725-97F99BB28122}" type="datetimeFigureOut">
              <a:rPr lang="zh-TW" altLang="en-US" smtClean="0"/>
              <a:t>2024/12/2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4FF4EEB-2F90-43FE-B9DF-6B99A51632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A55A917-BCBC-4D9F-9061-BB1B977B64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39E302-4139-4D9D-989B-DA70CE82B66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098844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5.png"/><Relationship Id="rId4" Type="http://schemas.openxmlformats.org/officeDocument/2006/relationships/image" Target="../media/image54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8.png"/><Relationship Id="rId4" Type="http://schemas.openxmlformats.org/officeDocument/2006/relationships/image" Target="../media/image57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2.png"/><Relationship Id="rId5" Type="http://schemas.openxmlformats.org/officeDocument/2006/relationships/image" Target="../media/image61.png"/><Relationship Id="rId4" Type="http://schemas.openxmlformats.org/officeDocument/2006/relationships/image" Target="../media/image60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6.png"/><Relationship Id="rId5" Type="http://schemas.openxmlformats.org/officeDocument/2006/relationships/image" Target="../media/image65.png"/><Relationship Id="rId4" Type="http://schemas.openxmlformats.org/officeDocument/2006/relationships/image" Target="../media/image64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0.png"/><Relationship Id="rId5" Type="http://schemas.openxmlformats.org/officeDocument/2006/relationships/image" Target="../media/image69.png"/><Relationship Id="rId4" Type="http://schemas.openxmlformats.org/officeDocument/2006/relationships/image" Target="../media/image6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1F6782A-F7CF-4A5C-9F5E-8B26F42F92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0421" y="1041400"/>
            <a:ext cx="10631155" cy="2387600"/>
          </a:xfrm>
        </p:spPr>
        <p:txBody>
          <a:bodyPr>
            <a:normAutofit/>
          </a:bodyPr>
          <a:lstStyle/>
          <a:p>
            <a:r>
              <a:rPr lang="en-US" altLang="zh-TW" sz="4400" b="1" dirty="0"/>
              <a:t>2024/12/03 Meeting Report</a:t>
            </a:r>
            <a:endParaRPr lang="zh-TW" altLang="en-US" sz="4400" dirty="0"/>
          </a:p>
        </p:txBody>
      </p:sp>
    </p:spTree>
    <p:extLst>
      <p:ext uri="{BB962C8B-B14F-4D97-AF65-F5344CB8AC3E}">
        <p14:creationId xmlns:p14="http://schemas.microsoft.com/office/powerpoint/2010/main" val="32759061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1">
            <a:extLst>
              <a:ext uri="{FF2B5EF4-FFF2-40B4-BE49-F238E27FC236}">
                <a16:creationId xmlns:a16="http://schemas.microsoft.com/office/drawing/2014/main" id="{52C9CFC8-97B7-40C2-88BC-4B89FD014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8255"/>
            <a:ext cx="10906387" cy="1325563"/>
          </a:xfrm>
        </p:spPr>
        <p:txBody>
          <a:bodyPr>
            <a:normAutofit/>
          </a:bodyPr>
          <a:lstStyle/>
          <a:p>
            <a:r>
              <a:rPr lang="en-US" altLang="zh-TW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Create 3 audio</a:t>
            </a:r>
            <a:r>
              <a:rPr lang="zh-TW" altLang="en-US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 </a:t>
            </a:r>
            <a:r>
              <a:rPr lang="en-US" altLang="zh-TW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features</a:t>
            </a:r>
          </a:p>
        </p:txBody>
      </p:sp>
      <p:sp>
        <p:nvSpPr>
          <p:cNvPr id="8" name="內容版面配置區 2">
            <a:extLst>
              <a:ext uri="{FF2B5EF4-FFF2-40B4-BE49-F238E27FC236}">
                <a16:creationId xmlns:a16="http://schemas.microsoft.com/office/drawing/2014/main" id="{C790674B-9EC5-4D00-A32E-9E8F49D8D015}"/>
              </a:ext>
            </a:extLst>
          </p:cNvPr>
          <p:cNvSpPr txBox="1">
            <a:spLocks/>
          </p:cNvSpPr>
          <p:nvPr/>
        </p:nvSpPr>
        <p:spPr>
          <a:xfrm>
            <a:off x="838199" y="1456508"/>
            <a:ext cx="10515600" cy="5313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14400" lvl="2" indent="0">
              <a:lnSpc>
                <a:spcPct val="100000"/>
              </a:lnSpc>
              <a:buNone/>
            </a:pPr>
            <a:endParaRPr lang="en-US" altLang="zh-TW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TW" sz="2400" dirty="0">
              <a:ea typeface="標楷體" panose="03000509000000000000" pitchFamily="65" charset="-120"/>
            </a:endParaRPr>
          </a:p>
        </p:txBody>
      </p:sp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89D7743D-A038-42D5-A08A-57BCFCBC10B9}"/>
              </a:ext>
            </a:extLst>
          </p:cNvPr>
          <p:cNvSpPr txBox="1">
            <a:spLocks/>
          </p:cNvSpPr>
          <p:nvPr/>
        </p:nvSpPr>
        <p:spPr>
          <a:xfrm>
            <a:off x="838199" y="1343818"/>
            <a:ext cx="10515600" cy="5313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altLang="zh-TW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TW" sz="2400" dirty="0">
              <a:ea typeface="標楷體" panose="03000509000000000000" pitchFamily="65" charset="-120"/>
            </a:endParaRPr>
          </a:p>
        </p:txBody>
      </p:sp>
      <p:pic>
        <p:nvPicPr>
          <p:cNvPr id="10" name="圖片 9">
            <a:extLst>
              <a:ext uri="{FF2B5EF4-FFF2-40B4-BE49-F238E27FC236}">
                <a16:creationId xmlns:a16="http://schemas.microsoft.com/office/drawing/2014/main" id="{A341F9B4-A0DE-46C4-A6E1-9D43EED7AE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199" y="1231128"/>
            <a:ext cx="9982200" cy="5238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57103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1">
            <a:extLst>
              <a:ext uri="{FF2B5EF4-FFF2-40B4-BE49-F238E27FC236}">
                <a16:creationId xmlns:a16="http://schemas.microsoft.com/office/drawing/2014/main" id="{52C9CFC8-97B7-40C2-88BC-4B89FD014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8255"/>
            <a:ext cx="10906387" cy="1325563"/>
          </a:xfrm>
        </p:spPr>
        <p:txBody>
          <a:bodyPr>
            <a:normAutofit/>
          </a:bodyPr>
          <a:lstStyle/>
          <a:p>
            <a:r>
              <a:rPr lang="zh-TW" altLang="en-US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實驗使用不同的 </a:t>
            </a:r>
            <a:r>
              <a:rPr lang="en-US" altLang="zh-TW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audio features</a:t>
            </a:r>
          </a:p>
        </p:txBody>
      </p:sp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89D7743D-A038-42D5-A08A-57BCFCBC10B9}"/>
              </a:ext>
            </a:extLst>
          </p:cNvPr>
          <p:cNvSpPr txBox="1">
            <a:spLocks/>
          </p:cNvSpPr>
          <p:nvPr/>
        </p:nvSpPr>
        <p:spPr>
          <a:xfrm>
            <a:off x="838199" y="1343818"/>
            <a:ext cx="10515600" cy="5313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altLang="zh-TW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TW" sz="2400" dirty="0">
              <a:ea typeface="標楷體" panose="03000509000000000000" pitchFamily="65" charset="-120"/>
            </a:endParaRPr>
          </a:p>
        </p:txBody>
      </p:sp>
      <p:sp>
        <p:nvSpPr>
          <p:cNvPr id="6" name="內容版面配置區 2">
            <a:extLst>
              <a:ext uri="{FF2B5EF4-FFF2-40B4-BE49-F238E27FC236}">
                <a16:creationId xmlns:a16="http://schemas.microsoft.com/office/drawing/2014/main" id="{20E32268-1D4B-4ABD-84D9-A4DCA006D0F7}"/>
              </a:ext>
            </a:extLst>
          </p:cNvPr>
          <p:cNvSpPr txBox="1">
            <a:spLocks/>
          </p:cNvSpPr>
          <p:nvPr/>
        </p:nvSpPr>
        <p:spPr>
          <a:xfrm>
            <a:off x="555419" y="1400163"/>
            <a:ext cx="11081159" cy="5313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zh-TW" altLang="en-US" sz="3200" dirty="0">
                <a:ea typeface="標楷體" panose="03000509000000000000" pitchFamily="65" charset="-120"/>
              </a:rPr>
              <a:t>用三組 </a:t>
            </a:r>
            <a:r>
              <a:rPr lang="en-US" altLang="zh-TW" sz="3200" dirty="0" err="1">
                <a:ea typeface="標楷體" panose="03000509000000000000" pitchFamily="65" charset="-120"/>
              </a:rPr>
              <a:t>NetVLAD</a:t>
            </a:r>
            <a:r>
              <a:rPr lang="zh-TW" altLang="en-US" sz="3200" dirty="0">
                <a:ea typeface="標楷體" panose="03000509000000000000" pitchFamily="65" charset="-120"/>
              </a:rPr>
              <a:t> 參數產生三組 </a:t>
            </a:r>
            <a:r>
              <a:rPr lang="en-US" altLang="zh-TW" sz="3200" dirty="0">
                <a:ea typeface="標楷體" panose="03000509000000000000" pitchFamily="65" charset="-120"/>
              </a:rPr>
              <a:t>audio features: a, a2, a3</a:t>
            </a:r>
          </a:p>
          <a:p>
            <a:pPr>
              <a:lnSpc>
                <a:spcPct val="100000"/>
              </a:lnSpc>
            </a:pPr>
            <a:r>
              <a:rPr lang="en-US" altLang="zh-TW" sz="3200" dirty="0">
                <a:ea typeface="標楷體" panose="03000509000000000000" pitchFamily="65" charset="-120"/>
              </a:rPr>
              <a:t>DAIC-WOZ</a:t>
            </a:r>
            <a:r>
              <a:rPr lang="zh-TW" altLang="en-US" sz="3200" dirty="0">
                <a:ea typeface="標楷體" panose="03000509000000000000" pitchFamily="65" charset="-120"/>
              </a:rPr>
              <a:t> 分成 </a:t>
            </a:r>
            <a:r>
              <a:rPr lang="en-US" altLang="zh-TW" sz="3200" dirty="0">
                <a:ea typeface="標楷體" panose="03000509000000000000" pitchFamily="65" charset="-120"/>
              </a:rPr>
              <a:t>train, development, test split</a:t>
            </a: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BEE7FDE1-69A3-48D7-B883-6EE969344D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6215916"/>
              </p:ext>
            </p:extLst>
          </p:nvPr>
        </p:nvGraphicFramePr>
        <p:xfrm>
          <a:off x="398824" y="2818703"/>
          <a:ext cx="5618877" cy="247632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71503">
                  <a:extLst>
                    <a:ext uri="{9D8B030D-6E8A-4147-A177-3AD203B41FA5}">
                      <a16:colId xmlns:a16="http://schemas.microsoft.com/office/drawing/2014/main" val="709236260"/>
                    </a:ext>
                  </a:extLst>
                </a:gridCol>
                <a:gridCol w="1453532">
                  <a:extLst>
                    <a:ext uri="{9D8B030D-6E8A-4147-A177-3AD203B41FA5}">
                      <a16:colId xmlns:a16="http://schemas.microsoft.com/office/drawing/2014/main" val="2641914309"/>
                    </a:ext>
                  </a:extLst>
                </a:gridCol>
                <a:gridCol w="1540310">
                  <a:extLst>
                    <a:ext uri="{9D8B030D-6E8A-4147-A177-3AD203B41FA5}">
                      <a16:colId xmlns:a16="http://schemas.microsoft.com/office/drawing/2014/main" val="2466221871"/>
                    </a:ext>
                  </a:extLst>
                </a:gridCol>
                <a:gridCol w="1453532">
                  <a:extLst>
                    <a:ext uri="{9D8B030D-6E8A-4147-A177-3AD203B41FA5}">
                      <a16:colId xmlns:a16="http://schemas.microsoft.com/office/drawing/2014/main" val="1988667161"/>
                    </a:ext>
                  </a:extLst>
                </a:gridCol>
              </a:tblGrid>
              <a:tr h="412721"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800" u="none" strike="noStrike" dirty="0">
                          <a:effectLst/>
                          <a:latin typeface="Arial" panose="020B0604020202020204" pitchFamily="34" charset="0"/>
                          <a:ea typeface="標楷體" panose="03000509000000000000" pitchFamily="65" charset="-120"/>
                          <a:cs typeface="Arial" panose="020B0604020202020204" pitchFamily="34" charset="0"/>
                        </a:rPr>
                        <a:t>訓練</a:t>
                      </a:r>
                      <a:endParaRPr lang="zh-TW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標楷體" panose="03000509000000000000" pitchFamily="65" charset="-12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u="none" strike="noStrike" dirty="0">
                          <a:effectLst/>
                          <a:latin typeface="Arial" panose="020B0604020202020204" pitchFamily="34" charset="0"/>
                          <a:ea typeface="標楷體" panose="03000509000000000000" pitchFamily="65" charset="-120"/>
                          <a:cs typeface="Arial" panose="020B0604020202020204" pitchFamily="34" charset="0"/>
                        </a:rPr>
                        <a:t>train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標楷體" panose="03000509000000000000" pitchFamily="65" charset="-12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標楷體" panose="03000509000000000000" pitchFamily="65" charset="-12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標楷體" panose="03000509000000000000" pitchFamily="65" charset="-12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987623219"/>
                  </a:ext>
                </a:extLst>
              </a:tr>
              <a:tr h="412721"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800" u="none" strike="noStrike" dirty="0">
                          <a:effectLst/>
                          <a:latin typeface="Arial" panose="020B0604020202020204" pitchFamily="34" charset="0"/>
                          <a:ea typeface="標楷體" panose="03000509000000000000" pitchFamily="65" charset="-120"/>
                          <a:cs typeface="Arial" panose="020B0604020202020204" pitchFamily="34" charset="0"/>
                        </a:rPr>
                        <a:t>測試</a:t>
                      </a:r>
                      <a:endParaRPr lang="zh-TW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標楷體" panose="03000509000000000000" pitchFamily="65" charset="-12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u="none" strike="noStrike" dirty="0">
                          <a:effectLst/>
                          <a:latin typeface="Arial" panose="020B0604020202020204" pitchFamily="34" charset="0"/>
                          <a:ea typeface="標楷體" panose="03000509000000000000" pitchFamily="65" charset="-120"/>
                          <a:cs typeface="Arial" panose="020B0604020202020204" pitchFamily="34" charset="0"/>
                        </a:rPr>
                        <a:t>development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標楷體" panose="03000509000000000000" pitchFamily="65" charset="-12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標楷體" panose="03000509000000000000" pitchFamily="65" charset="-12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標楷體" panose="03000509000000000000" pitchFamily="65" charset="-12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475513606"/>
                  </a:ext>
                </a:extLst>
              </a:tr>
              <a:tr h="412721"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800" u="none" strike="noStrike">
                          <a:effectLst/>
                          <a:latin typeface="Arial" panose="020B0604020202020204" pitchFamily="34" charset="0"/>
                          <a:ea typeface="標楷體" panose="03000509000000000000" pitchFamily="65" charset="-120"/>
                          <a:cs typeface="Arial" panose="020B0604020202020204" pitchFamily="34" charset="0"/>
                        </a:rPr>
                        <a:t>　</a:t>
                      </a:r>
                      <a:endParaRPr lang="zh-TW" altLang="en-US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標楷體" panose="03000509000000000000" pitchFamily="65" charset="-12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u="none" strike="noStrike" dirty="0">
                          <a:effectLst/>
                          <a:latin typeface="Arial" panose="020B0604020202020204" pitchFamily="34" charset="0"/>
                          <a:ea typeface="標楷體" panose="03000509000000000000" pitchFamily="65" charset="-120"/>
                          <a:cs typeface="Arial" panose="020B0604020202020204" pitchFamily="34" charset="0"/>
                        </a:rPr>
                        <a:t>F1 score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標楷體" panose="03000509000000000000" pitchFamily="65" charset="-12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u="none" strike="noStrike">
                          <a:effectLst/>
                          <a:latin typeface="Arial" panose="020B0604020202020204" pitchFamily="34" charset="0"/>
                          <a:ea typeface="標楷體" panose="03000509000000000000" pitchFamily="65" charset="-120"/>
                          <a:cs typeface="Arial" panose="020B0604020202020204" pitchFamily="34" charset="0"/>
                        </a:rPr>
                        <a:t>Precision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標楷體" panose="03000509000000000000" pitchFamily="65" charset="-12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u="none" strike="noStrike">
                          <a:effectLst/>
                          <a:latin typeface="Arial" panose="020B0604020202020204" pitchFamily="34" charset="0"/>
                          <a:ea typeface="標楷體" panose="03000509000000000000" pitchFamily="65" charset="-120"/>
                          <a:cs typeface="Arial" panose="020B0604020202020204" pitchFamily="34" charset="0"/>
                        </a:rPr>
                        <a:t>Recall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標楷體" panose="03000509000000000000" pitchFamily="65" charset="-12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24442253"/>
                  </a:ext>
                </a:extLst>
              </a:tr>
              <a:tr h="412721"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u="none" strike="noStrike">
                          <a:effectLst/>
                          <a:latin typeface="Arial" panose="020B0604020202020204" pitchFamily="34" charset="0"/>
                          <a:ea typeface="標楷體" panose="03000509000000000000" pitchFamily="65" charset="-120"/>
                          <a:cs typeface="Arial" panose="020B0604020202020204" pitchFamily="34" charset="0"/>
                        </a:rPr>
                        <a:t>audio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標楷體" panose="03000509000000000000" pitchFamily="65" charset="-12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800" u="none" strike="noStrike" dirty="0">
                          <a:effectLst/>
                          <a:latin typeface="Arial" panose="020B0604020202020204" pitchFamily="34" charset="0"/>
                          <a:ea typeface="標楷體" panose="03000509000000000000" pitchFamily="65" charset="-120"/>
                          <a:cs typeface="Arial" panose="020B0604020202020204" pitchFamily="34" charset="0"/>
                        </a:rPr>
                        <a:t>0.381</a:t>
                      </a:r>
                      <a:endParaRPr lang="en-US" altLang="zh-TW" sz="1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標楷體" panose="03000509000000000000" pitchFamily="65" charset="-12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800" u="none" strike="noStrike">
                          <a:effectLst/>
                          <a:latin typeface="Arial" panose="020B0604020202020204" pitchFamily="34" charset="0"/>
                          <a:ea typeface="標楷體" panose="03000509000000000000" pitchFamily="65" charset="-120"/>
                          <a:cs typeface="Arial" panose="020B0604020202020204" pitchFamily="34" charset="0"/>
                        </a:rPr>
                        <a:t>0.44</a:t>
                      </a:r>
                      <a:endParaRPr lang="en-US" altLang="zh-TW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標楷體" panose="03000509000000000000" pitchFamily="65" charset="-12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800" u="none" strike="noStrike">
                          <a:effectLst/>
                          <a:latin typeface="Arial" panose="020B0604020202020204" pitchFamily="34" charset="0"/>
                          <a:ea typeface="標楷體" panose="03000509000000000000" pitchFamily="65" charset="-120"/>
                          <a:cs typeface="Arial" panose="020B0604020202020204" pitchFamily="34" charset="0"/>
                        </a:rPr>
                        <a:t>0.333</a:t>
                      </a:r>
                      <a:endParaRPr lang="en-US" altLang="zh-TW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標楷體" panose="03000509000000000000" pitchFamily="65" charset="-12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598585950"/>
                  </a:ext>
                </a:extLst>
              </a:tr>
              <a:tr h="412721"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u="none" strike="noStrike">
                          <a:effectLst/>
                          <a:latin typeface="Arial" panose="020B0604020202020204" pitchFamily="34" charset="0"/>
                          <a:ea typeface="標楷體" panose="03000509000000000000" pitchFamily="65" charset="-120"/>
                          <a:cs typeface="Arial" panose="020B0604020202020204" pitchFamily="34" charset="0"/>
                        </a:rPr>
                        <a:t>audio2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標楷體" panose="03000509000000000000" pitchFamily="65" charset="-12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800" u="none" strike="noStrike" dirty="0">
                          <a:effectLst/>
                          <a:latin typeface="Arial" panose="020B0604020202020204" pitchFamily="34" charset="0"/>
                          <a:ea typeface="標楷體" panose="03000509000000000000" pitchFamily="65" charset="-120"/>
                          <a:cs typeface="Arial" panose="020B0604020202020204" pitchFamily="34" charset="0"/>
                        </a:rPr>
                        <a:t>0.357</a:t>
                      </a:r>
                      <a:endParaRPr lang="en-US" altLang="zh-TW" sz="1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標楷體" panose="03000509000000000000" pitchFamily="65" charset="-12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800" u="none" strike="noStrike" dirty="0">
                          <a:effectLst/>
                          <a:latin typeface="Arial" panose="020B0604020202020204" pitchFamily="34" charset="0"/>
                          <a:ea typeface="標楷體" panose="03000509000000000000" pitchFamily="65" charset="-120"/>
                          <a:cs typeface="Arial" panose="020B0604020202020204" pitchFamily="34" charset="0"/>
                        </a:rPr>
                        <a:t>0.313</a:t>
                      </a:r>
                      <a:endParaRPr lang="en-US" altLang="zh-TW" sz="1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標楷體" panose="03000509000000000000" pitchFamily="65" charset="-12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800" u="none" strike="noStrike">
                          <a:effectLst/>
                          <a:latin typeface="Arial" panose="020B0604020202020204" pitchFamily="34" charset="0"/>
                          <a:ea typeface="標楷體" panose="03000509000000000000" pitchFamily="65" charset="-120"/>
                          <a:cs typeface="Arial" panose="020B0604020202020204" pitchFamily="34" charset="0"/>
                        </a:rPr>
                        <a:t>0.417</a:t>
                      </a:r>
                      <a:endParaRPr lang="en-US" altLang="zh-TW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標楷體" panose="03000509000000000000" pitchFamily="65" charset="-12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831808837"/>
                  </a:ext>
                </a:extLst>
              </a:tr>
              <a:tr h="412721"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u="none" strike="noStrike">
                          <a:effectLst/>
                          <a:latin typeface="Arial" panose="020B0604020202020204" pitchFamily="34" charset="0"/>
                          <a:ea typeface="標楷體" panose="03000509000000000000" pitchFamily="65" charset="-120"/>
                          <a:cs typeface="Arial" panose="020B0604020202020204" pitchFamily="34" charset="0"/>
                        </a:rPr>
                        <a:t>audio3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標楷體" panose="03000509000000000000" pitchFamily="65" charset="-12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800" u="none" strike="noStrike" dirty="0">
                          <a:effectLst/>
                          <a:latin typeface="Arial" panose="020B0604020202020204" pitchFamily="34" charset="0"/>
                          <a:ea typeface="標楷體" panose="03000509000000000000" pitchFamily="65" charset="-120"/>
                          <a:cs typeface="Arial" panose="020B0604020202020204" pitchFamily="34" charset="0"/>
                        </a:rPr>
                        <a:t>0.5</a:t>
                      </a:r>
                      <a:endParaRPr lang="en-US" altLang="zh-TW" sz="1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標楷體" panose="03000509000000000000" pitchFamily="65" charset="-12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800" u="none" strike="noStrike" dirty="0">
                          <a:effectLst/>
                          <a:latin typeface="Arial" panose="020B0604020202020204" pitchFamily="34" charset="0"/>
                          <a:ea typeface="標楷體" panose="03000509000000000000" pitchFamily="65" charset="-120"/>
                          <a:cs typeface="Arial" panose="020B0604020202020204" pitchFamily="34" charset="0"/>
                        </a:rPr>
                        <a:t>0.4</a:t>
                      </a:r>
                      <a:endParaRPr lang="en-US" altLang="zh-TW" sz="1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標楷體" panose="03000509000000000000" pitchFamily="65" charset="-12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800" u="none" strike="noStrike" dirty="0">
                          <a:effectLst/>
                          <a:latin typeface="Arial" panose="020B0604020202020204" pitchFamily="34" charset="0"/>
                          <a:ea typeface="標楷體" panose="03000509000000000000" pitchFamily="65" charset="-120"/>
                          <a:cs typeface="Arial" panose="020B0604020202020204" pitchFamily="34" charset="0"/>
                        </a:rPr>
                        <a:t>0.67</a:t>
                      </a:r>
                      <a:endParaRPr lang="en-US" altLang="zh-TW" sz="1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標楷體" panose="03000509000000000000" pitchFamily="65" charset="-12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132043657"/>
                  </a:ext>
                </a:extLst>
              </a:tr>
            </a:tbl>
          </a:graphicData>
        </a:graphic>
      </p:graphicFrame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E195092B-6DBA-4B26-B915-C23B294311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3758358"/>
              </p:ext>
            </p:extLst>
          </p:nvPr>
        </p:nvGraphicFramePr>
        <p:xfrm>
          <a:off x="6300481" y="2818703"/>
          <a:ext cx="5618877" cy="247632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71503">
                  <a:extLst>
                    <a:ext uri="{9D8B030D-6E8A-4147-A177-3AD203B41FA5}">
                      <a16:colId xmlns:a16="http://schemas.microsoft.com/office/drawing/2014/main" val="709236260"/>
                    </a:ext>
                  </a:extLst>
                </a:gridCol>
                <a:gridCol w="1453532">
                  <a:extLst>
                    <a:ext uri="{9D8B030D-6E8A-4147-A177-3AD203B41FA5}">
                      <a16:colId xmlns:a16="http://schemas.microsoft.com/office/drawing/2014/main" val="2641914309"/>
                    </a:ext>
                  </a:extLst>
                </a:gridCol>
                <a:gridCol w="1540310">
                  <a:extLst>
                    <a:ext uri="{9D8B030D-6E8A-4147-A177-3AD203B41FA5}">
                      <a16:colId xmlns:a16="http://schemas.microsoft.com/office/drawing/2014/main" val="2466221871"/>
                    </a:ext>
                  </a:extLst>
                </a:gridCol>
                <a:gridCol w="1453532">
                  <a:extLst>
                    <a:ext uri="{9D8B030D-6E8A-4147-A177-3AD203B41FA5}">
                      <a16:colId xmlns:a16="http://schemas.microsoft.com/office/drawing/2014/main" val="1988667161"/>
                    </a:ext>
                  </a:extLst>
                </a:gridCol>
              </a:tblGrid>
              <a:tr h="412721"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800" u="none" strike="noStrike" dirty="0">
                          <a:effectLst/>
                          <a:latin typeface="Arial" panose="020B0604020202020204" pitchFamily="34" charset="0"/>
                          <a:ea typeface="標楷體" panose="03000509000000000000" pitchFamily="65" charset="-120"/>
                          <a:cs typeface="Arial" panose="020B0604020202020204" pitchFamily="34" charset="0"/>
                        </a:rPr>
                        <a:t>訓練</a:t>
                      </a:r>
                      <a:endParaRPr lang="zh-TW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標楷體" panose="03000509000000000000" pitchFamily="65" charset="-12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u="none" strike="noStrike" dirty="0">
                          <a:effectLst/>
                          <a:latin typeface="Arial" panose="020B0604020202020204" pitchFamily="34" charset="0"/>
                          <a:ea typeface="標楷體" panose="03000509000000000000" pitchFamily="65" charset="-120"/>
                          <a:cs typeface="Arial" panose="020B0604020202020204" pitchFamily="34" charset="0"/>
                        </a:rPr>
                        <a:t>train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標楷體" panose="03000509000000000000" pitchFamily="65" charset="-12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標楷體" panose="03000509000000000000" pitchFamily="65" charset="-12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標楷體" panose="03000509000000000000" pitchFamily="65" charset="-12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987623219"/>
                  </a:ext>
                </a:extLst>
              </a:tr>
              <a:tr h="412721"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800" u="none" strike="noStrike" dirty="0">
                          <a:effectLst/>
                          <a:latin typeface="Arial" panose="020B0604020202020204" pitchFamily="34" charset="0"/>
                          <a:ea typeface="標楷體" panose="03000509000000000000" pitchFamily="65" charset="-120"/>
                          <a:cs typeface="Arial" panose="020B0604020202020204" pitchFamily="34" charset="0"/>
                        </a:rPr>
                        <a:t>測試</a:t>
                      </a:r>
                      <a:endParaRPr lang="zh-TW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標楷體" panose="03000509000000000000" pitchFamily="65" charset="-12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u="none" strike="noStrike" dirty="0">
                          <a:effectLst/>
                          <a:latin typeface="Arial" panose="020B0604020202020204" pitchFamily="34" charset="0"/>
                          <a:ea typeface="標楷體" panose="03000509000000000000" pitchFamily="65" charset="-120"/>
                          <a:cs typeface="Arial" panose="020B0604020202020204" pitchFamily="34" charset="0"/>
                        </a:rPr>
                        <a:t>development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標楷體" panose="03000509000000000000" pitchFamily="65" charset="-12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標楷體" panose="03000509000000000000" pitchFamily="65" charset="-12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標楷體" panose="03000509000000000000" pitchFamily="65" charset="-12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475513606"/>
                  </a:ext>
                </a:extLst>
              </a:tr>
              <a:tr h="412721"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800" u="none" strike="noStrike">
                          <a:effectLst/>
                          <a:latin typeface="Arial" panose="020B0604020202020204" pitchFamily="34" charset="0"/>
                          <a:ea typeface="標楷體" panose="03000509000000000000" pitchFamily="65" charset="-120"/>
                          <a:cs typeface="Arial" panose="020B0604020202020204" pitchFamily="34" charset="0"/>
                        </a:rPr>
                        <a:t>　</a:t>
                      </a:r>
                      <a:endParaRPr lang="zh-TW" altLang="en-US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標楷體" panose="03000509000000000000" pitchFamily="65" charset="-12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u="none" strike="noStrike" dirty="0">
                          <a:effectLst/>
                          <a:latin typeface="Arial" panose="020B0604020202020204" pitchFamily="34" charset="0"/>
                          <a:ea typeface="標楷體" panose="03000509000000000000" pitchFamily="65" charset="-120"/>
                          <a:cs typeface="Arial" panose="020B0604020202020204" pitchFamily="34" charset="0"/>
                        </a:rPr>
                        <a:t>F1 score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標楷體" panose="03000509000000000000" pitchFamily="65" charset="-12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u="none" strike="noStrike">
                          <a:effectLst/>
                          <a:latin typeface="Arial" panose="020B0604020202020204" pitchFamily="34" charset="0"/>
                          <a:ea typeface="標楷體" panose="03000509000000000000" pitchFamily="65" charset="-120"/>
                          <a:cs typeface="Arial" panose="020B0604020202020204" pitchFamily="34" charset="0"/>
                        </a:rPr>
                        <a:t>Precision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標楷體" panose="03000509000000000000" pitchFamily="65" charset="-12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u="none" strike="noStrike">
                          <a:effectLst/>
                          <a:latin typeface="Arial" panose="020B0604020202020204" pitchFamily="34" charset="0"/>
                          <a:ea typeface="標楷體" panose="03000509000000000000" pitchFamily="65" charset="-120"/>
                          <a:cs typeface="Arial" panose="020B0604020202020204" pitchFamily="34" charset="0"/>
                        </a:rPr>
                        <a:t>Recall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標楷體" panose="03000509000000000000" pitchFamily="65" charset="-12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24442253"/>
                  </a:ext>
                </a:extLst>
              </a:tr>
              <a:tr h="412721"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u="none" strike="noStrike">
                          <a:effectLst/>
                          <a:latin typeface="Arial" panose="020B0604020202020204" pitchFamily="34" charset="0"/>
                          <a:ea typeface="標楷體" panose="03000509000000000000" pitchFamily="65" charset="-120"/>
                          <a:cs typeface="Arial" panose="020B0604020202020204" pitchFamily="34" charset="0"/>
                        </a:rPr>
                        <a:t>audio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標楷體" panose="03000509000000000000" pitchFamily="65" charset="-12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800" u="none" strike="noStrike" dirty="0">
                          <a:effectLst/>
                          <a:latin typeface="Arial" panose="020B0604020202020204" pitchFamily="34" charset="0"/>
                          <a:ea typeface="標楷體" panose="03000509000000000000" pitchFamily="65" charset="-120"/>
                          <a:cs typeface="Arial" panose="020B0604020202020204" pitchFamily="34" charset="0"/>
                        </a:rPr>
                        <a:t>0.452</a:t>
                      </a:r>
                      <a:endParaRPr lang="en-US" altLang="zh-TW" sz="1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標楷體" panose="03000509000000000000" pitchFamily="65" charset="-12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800" u="none" strike="noStrike" dirty="0">
                          <a:effectLst/>
                          <a:latin typeface="Arial" panose="020B0604020202020204" pitchFamily="34" charset="0"/>
                          <a:ea typeface="標楷體" panose="03000509000000000000" pitchFamily="65" charset="-120"/>
                          <a:cs typeface="Arial" panose="020B0604020202020204" pitchFamily="34" charset="0"/>
                        </a:rPr>
                        <a:t>0.368</a:t>
                      </a:r>
                      <a:endParaRPr lang="en-US" altLang="zh-TW" sz="1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標楷體" panose="03000509000000000000" pitchFamily="65" charset="-12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800" u="none" strike="noStrike" dirty="0">
                          <a:effectLst/>
                          <a:latin typeface="Arial" panose="020B0604020202020204" pitchFamily="34" charset="0"/>
                          <a:ea typeface="標楷體" panose="03000509000000000000" pitchFamily="65" charset="-120"/>
                          <a:cs typeface="Arial" panose="020B0604020202020204" pitchFamily="34" charset="0"/>
                        </a:rPr>
                        <a:t>0.583</a:t>
                      </a:r>
                      <a:endParaRPr lang="en-US" altLang="zh-TW" sz="1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標楷體" panose="03000509000000000000" pitchFamily="65" charset="-12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598585950"/>
                  </a:ext>
                </a:extLst>
              </a:tr>
              <a:tr h="412721"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u="none" strike="noStrike">
                          <a:effectLst/>
                          <a:latin typeface="Arial" panose="020B0604020202020204" pitchFamily="34" charset="0"/>
                          <a:ea typeface="標楷體" panose="03000509000000000000" pitchFamily="65" charset="-120"/>
                          <a:cs typeface="Arial" panose="020B0604020202020204" pitchFamily="34" charset="0"/>
                        </a:rPr>
                        <a:t>audio2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標楷體" panose="03000509000000000000" pitchFamily="65" charset="-12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800" u="none" strike="noStrike" dirty="0">
                          <a:effectLst/>
                          <a:latin typeface="Arial" panose="020B0604020202020204" pitchFamily="34" charset="0"/>
                          <a:ea typeface="標楷體" panose="03000509000000000000" pitchFamily="65" charset="-120"/>
                          <a:cs typeface="Arial" panose="020B0604020202020204" pitchFamily="34" charset="0"/>
                        </a:rPr>
                        <a:t>0.385</a:t>
                      </a:r>
                      <a:endParaRPr lang="en-US" altLang="zh-TW" sz="1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標楷體" panose="03000509000000000000" pitchFamily="65" charset="-12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800" u="none" strike="noStrike" dirty="0">
                          <a:effectLst/>
                          <a:latin typeface="Arial" panose="020B0604020202020204" pitchFamily="34" charset="0"/>
                          <a:ea typeface="標楷體" panose="03000509000000000000" pitchFamily="65" charset="-120"/>
                          <a:cs typeface="Arial" panose="020B0604020202020204" pitchFamily="34" charset="0"/>
                        </a:rPr>
                        <a:t>0.357</a:t>
                      </a:r>
                      <a:endParaRPr lang="en-US" altLang="zh-TW" sz="1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標楷體" panose="03000509000000000000" pitchFamily="65" charset="-12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800" u="none" strike="noStrike" dirty="0">
                          <a:effectLst/>
                          <a:latin typeface="Arial" panose="020B0604020202020204" pitchFamily="34" charset="0"/>
                          <a:ea typeface="標楷體" panose="03000509000000000000" pitchFamily="65" charset="-120"/>
                          <a:cs typeface="Arial" panose="020B0604020202020204" pitchFamily="34" charset="0"/>
                        </a:rPr>
                        <a:t>0.417</a:t>
                      </a:r>
                      <a:endParaRPr lang="en-US" altLang="zh-TW" sz="1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標楷體" panose="03000509000000000000" pitchFamily="65" charset="-12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831808837"/>
                  </a:ext>
                </a:extLst>
              </a:tr>
              <a:tr h="412721"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u="none" strike="noStrike">
                          <a:effectLst/>
                          <a:latin typeface="Arial" panose="020B0604020202020204" pitchFamily="34" charset="0"/>
                          <a:ea typeface="標楷體" panose="03000509000000000000" pitchFamily="65" charset="-120"/>
                          <a:cs typeface="Arial" panose="020B0604020202020204" pitchFamily="34" charset="0"/>
                        </a:rPr>
                        <a:t>audio3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標楷體" panose="03000509000000000000" pitchFamily="65" charset="-12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800" u="none" strike="noStrike" dirty="0">
                          <a:effectLst/>
                          <a:latin typeface="Arial" panose="020B0604020202020204" pitchFamily="34" charset="0"/>
                          <a:ea typeface="標楷體" panose="03000509000000000000" pitchFamily="65" charset="-120"/>
                          <a:cs typeface="Arial" panose="020B0604020202020204" pitchFamily="34" charset="0"/>
                        </a:rPr>
                        <a:t>0.526</a:t>
                      </a:r>
                      <a:endParaRPr lang="en-US" altLang="zh-TW" sz="1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標楷體" panose="03000509000000000000" pitchFamily="65" charset="-12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800" u="none" strike="noStrike" dirty="0">
                          <a:effectLst/>
                          <a:latin typeface="Arial" panose="020B0604020202020204" pitchFamily="34" charset="0"/>
                          <a:ea typeface="標楷體" panose="03000509000000000000" pitchFamily="65" charset="-120"/>
                          <a:cs typeface="Arial" panose="020B0604020202020204" pitchFamily="34" charset="0"/>
                        </a:rPr>
                        <a:t>0.714</a:t>
                      </a:r>
                      <a:endParaRPr lang="en-US" altLang="zh-TW" sz="1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標楷體" panose="03000509000000000000" pitchFamily="65" charset="-12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800" u="none" strike="noStrike" dirty="0">
                          <a:effectLst/>
                          <a:latin typeface="Arial" panose="020B0604020202020204" pitchFamily="34" charset="0"/>
                          <a:ea typeface="標楷體" panose="03000509000000000000" pitchFamily="65" charset="-120"/>
                          <a:cs typeface="Arial" panose="020B0604020202020204" pitchFamily="34" charset="0"/>
                        </a:rPr>
                        <a:t>0.417</a:t>
                      </a:r>
                      <a:endParaRPr lang="en-US" altLang="zh-TW" sz="1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標楷體" panose="03000509000000000000" pitchFamily="65" charset="-12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1320436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471274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1">
            <a:extLst>
              <a:ext uri="{FF2B5EF4-FFF2-40B4-BE49-F238E27FC236}">
                <a16:creationId xmlns:a16="http://schemas.microsoft.com/office/drawing/2014/main" id="{52C9CFC8-97B7-40C2-88BC-4B89FD014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8255"/>
            <a:ext cx="10906387" cy="1325563"/>
          </a:xfrm>
        </p:spPr>
        <p:txBody>
          <a:bodyPr>
            <a:normAutofit/>
          </a:bodyPr>
          <a:lstStyle/>
          <a:p>
            <a:r>
              <a:rPr lang="zh-TW" altLang="en-US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實驗使用不同的 </a:t>
            </a:r>
            <a:r>
              <a:rPr lang="en-US" altLang="zh-TW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audio features</a:t>
            </a:r>
          </a:p>
        </p:txBody>
      </p:sp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89D7743D-A038-42D5-A08A-57BCFCBC10B9}"/>
              </a:ext>
            </a:extLst>
          </p:cNvPr>
          <p:cNvSpPr txBox="1">
            <a:spLocks/>
          </p:cNvSpPr>
          <p:nvPr/>
        </p:nvSpPr>
        <p:spPr>
          <a:xfrm>
            <a:off x="838199" y="1343818"/>
            <a:ext cx="10515600" cy="5313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altLang="zh-TW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TW" sz="2400" dirty="0">
              <a:ea typeface="標楷體" panose="03000509000000000000" pitchFamily="65" charset="-120"/>
            </a:endParaRPr>
          </a:p>
        </p:txBody>
      </p:sp>
      <p:sp>
        <p:nvSpPr>
          <p:cNvPr id="6" name="內容版面配置區 2">
            <a:extLst>
              <a:ext uri="{FF2B5EF4-FFF2-40B4-BE49-F238E27FC236}">
                <a16:creationId xmlns:a16="http://schemas.microsoft.com/office/drawing/2014/main" id="{20E32268-1D4B-4ABD-84D9-A4DCA006D0F7}"/>
              </a:ext>
            </a:extLst>
          </p:cNvPr>
          <p:cNvSpPr txBox="1">
            <a:spLocks/>
          </p:cNvSpPr>
          <p:nvPr/>
        </p:nvSpPr>
        <p:spPr>
          <a:xfrm>
            <a:off x="555419" y="1400163"/>
            <a:ext cx="11081159" cy="5313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zh-TW" altLang="en-US" sz="3200" dirty="0">
                <a:ea typeface="標楷體" panose="03000509000000000000" pitchFamily="65" charset="-120"/>
              </a:rPr>
              <a:t>用三組 </a:t>
            </a:r>
            <a:r>
              <a:rPr lang="en-US" altLang="zh-TW" sz="3200" dirty="0" err="1">
                <a:ea typeface="標楷體" panose="03000509000000000000" pitchFamily="65" charset="-120"/>
              </a:rPr>
              <a:t>NetVLAD</a:t>
            </a:r>
            <a:r>
              <a:rPr lang="zh-TW" altLang="en-US" sz="3200" dirty="0">
                <a:ea typeface="標楷體" panose="03000509000000000000" pitchFamily="65" charset="-120"/>
              </a:rPr>
              <a:t> 參數產生三組 </a:t>
            </a:r>
            <a:r>
              <a:rPr lang="en-US" altLang="zh-TW" sz="3200" dirty="0">
                <a:ea typeface="標楷體" panose="03000509000000000000" pitchFamily="65" charset="-120"/>
              </a:rPr>
              <a:t>audio features: a, a2, a3</a:t>
            </a:r>
          </a:p>
          <a:p>
            <a:pPr>
              <a:lnSpc>
                <a:spcPct val="100000"/>
              </a:lnSpc>
            </a:pPr>
            <a:r>
              <a:rPr lang="en-US" altLang="zh-TW" sz="3200" dirty="0">
                <a:ea typeface="標楷體" panose="03000509000000000000" pitchFamily="65" charset="-120"/>
              </a:rPr>
              <a:t>DAIC-WOZ</a:t>
            </a:r>
            <a:r>
              <a:rPr lang="zh-TW" altLang="en-US" sz="3200" dirty="0">
                <a:ea typeface="標楷體" panose="03000509000000000000" pitchFamily="65" charset="-120"/>
              </a:rPr>
              <a:t> 分成 </a:t>
            </a:r>
            <a:r>
              <a:rPr lang="en-US" altLang="zh-TW" sz="3200" dirty="0">
                <a:ea typeface="標楷體" panose="03000509000000000000" pitchFamily="65" charset="-120"/>
              </a:rPr>
              <a:t>train, development, test split</a:t>
            </a:r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D35EFEA2-3517-42BF-AF95-C53905C65B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2432969"/>
              </p:ext>
            </p:extLst>
          </p:nvPr>
        </p:nvGraphicFramePr>
        <p:xfrm>
          <a:off x="3120877" y="3251374"/>
          <a:ext cx="5618877" cy="247632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71503">
                  <a:extLst>
                    <a:ext uri="{9D8B030D-6E8A-4147-A177-3AD203B41FA5}">
                      <a16:colId xmlns:a16="http://schemas.microsoft.com/office/drawing/2014/main" val="709236260"/>
                    </a:ext>
                  </a:extLst>
                </a:gridCol>
                <a:gridCol w="1453532">
                  <a:extLst>
                    <a:ext uri="{9D8B030D-6E8A-4147-A177-3AD203B41FA5}">
                      <a16:colId xmlns:a16="http://schemas.microsoft.com/office/drawing/2014/main" val="2641914309"/>
                    </a:ext>
                  </a:extLst>
                </a:gridCol>
                <a:gridCol w="1540310">
                  <a:extLst>
                    <a:ext uri="{9D8B030D-6E8A-4147-A177-3AD203B41FA5}">
                      <a16:colId xmlns:a16="http://schemas.microsoft.com/office/drawing/2014/main" val="2466221871"/>
                    </a:ext>
                  </a:extLst>
                </a:gridCol>
                <a:gridCol w="1453532">
                  <a:extLst>
                    <a:ext uri="{9D8B030D-6E8A-4147-A177-3AD203B41FA5}">
                      <a16:colId xmlns:a16="http://schemas.microsoft.com/office/drawing/2014/main" val="1988667161"/>
                    </a:ext>
                  </a:extLst>
                </a:gridCol>
              </a:tblGrid>
              <a:tr h="412721"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800" u="none" strike="noStrike" dirty="0">
                          <a:effectLst/>
                          <a:latin typeface="Arial" panose="020B0604020202020204" pitchFamily="34" charset="0"/>
                          <a:ea typeface="標楷體" panose="03000509000000000000" pitchFamily="65" charset="-120"/>
                          <a:cs typeface="Arial" panose="020B0604020202020204" pitchFamily="34" charset="0"/>
                        </a:rPr>
                        <a:t>訓練</a:t>
                      </a:r>
                      <a:endParaRPr lang="zh-TW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標楷體" panose="03000509000000000000" pitchFamily="65" charset="-12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u="none" strike="noStrike" dirty="0">
                          <a:effectLst/>
                          <a:latin typeface="Arial" panose="020B0604020202020204" pitchFamily="34" charset="0"/>
                          <a:ea typeface="標楷體" panose="03000509000000000000" pitchFamily="65" charset="-120"/>
                          <a:cs typeface="Arial" panose="020B0604020202020204" pitchFamily="34" charset="0"/>
                        </a:rPr>
                        <a:t>train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標楷體" panose="03000509000000000000" pitchFamily="65" charset="-12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標楷體" panose="03000509000000000000" pitchFamily="65" charset="-12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標楷體" panose="03000509000000000000" pitchFamily="65" charset="-12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987623219"/>
                  </a:ext>
                </a:extLst>
              </a:tr>
              <a:tr h="412721"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800" u="none" strike="noStrike" dirty="0">
                          <a:effectLst/>
                          <a:latin typeface="Arial" panose="020B0604020202020204" pitchFamily="34" charset="0"/>
                          <a:ea typeface="標楷體" panose="03000509000000000000" pitchFamily="65" charset="-120"/>
                          <a:cs typeface="Arial" panose="020B0604020202020204" pitchFamily="34" charset="0"/>
                        </a:rPr>
                        <a:t>測試</a:t>
                      </a:r>
                      <a:endParaRPr lang="zh-TW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標楷體" panose="03000509000000000000" pitchFamily="65" charset="-12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u="none" strike="noStrike" dirty="0">
                          <a:effectLst/>
                          <a:latin typeface="Arial" panose="020B0604020202020204" pitchFamily="34" charset="0"/>
                          <a:ea typeface="標楷體" panose="03000509000000000000" pitchFamily="65" charset="-120"/>
                          <a:cs typeface="Arial" panose="020B0604020202020204" pitchFamily="34" charset="0"/>
                        </a:rPr>
                        <a:t>development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標楷體" panose="03000509000000000000" pitchFamily="65" charset="-12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標楷體" panose="03000509000000000000" pitchFamily="65" charset="-12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標楷體" panose="03000509000000000000" pitchFamily="65" charset="-12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475513606"/>
                  </a:ext>
                </a:extLst>
              </a:tr>
              <a:tr h="412721"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800" u="none" strike="noStrike">
                          <a:effectLst/>
                          <a:latin typeface="Arial" panose="020B0604020202020204" pitchFamily="34" charset="0"/>
                          <a:ea typeface="標楷體" panose="03000509000000000000" pitchFamily="65" charset="-120"/>
                          <a:cs typeface="Arial" panose="020B0604020202020204" pitchFamily="34" charset="0"/>
                        </a:rPr>
                        <a:t>　</a:t>
                      </a:r>
                      <a:endParaRPr lang="zh-TW" altLang="en-US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標楷體" panose="03000509000000000000" pitchFamily="65" charset="-12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u="none" strike="noStrike" dirty="0">
                          <a:effectLst/>
                          <a:latin typeface="Arial" panose="020B0604020202020204" pitchFamily="34" charset="0"/>
                          <a:ea typeface="標楷體" panose="03000509000000000000" pitchFamily="65" charset="-120"/>
                          <a:cs typeface="Arial" panose="020B0604020202020204" pitchFamily="34" charset="0"/>
                        </a:rPr>
                        <a:t>F1 score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標楷體" panose="03000509000000000000" pitchFamily="65" charset="-12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u="none" strike="noStrike">
                          <a:effectLst/>
                          <a:latin typeface="Arial" panose="020B0604020202020204" pitchFamily="34" charset="0"/>
                          <a:ea typeface="標楷體" panose="03000509000000000000" pitchFamily="65" charset="-120"/>
                          <a:cs typeface="Arial" panose="020B0604020202020204" pitchFamily="34" charset="0"/>
                        </a:rPr>
                        <a:t>Precision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標楷體" panose="03000509000000000000" pitchFamily="65" charset="-12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u="none" strike="noStrike">
                          <a:effectLst/>
                          <a:latin typeface="Arial" panose="020B0604020202020204" pitchFamily="34" charset="0"/>
                          <a:ea typeface="標楷體" panose="03000509000000000000" pitchFamily="65" charset="-120"/>
                          <a:cs typeface="Arial" panose="020B0604020202020204" pitchFamily="34" charset="0"/>
                        </a:rPr>
                        <a:t>Recall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標楷體" panose="03000509000000000000" pitchFamily="65" charset="-12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24442253"/>
                  </a:ext>
                </a:extLst>
              </a:tr>
              <a:tr h="412721"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u="none" strike="noStrike">
                          <a:effectLst/>
                          <a:latin typeface="Arial" panose="020B0604020202020204" pitchFamily="34" charset="0"/>
                          <a:ea typeface="標楷體" panose="03000509000000000000" pitchFamily="65" charset="-120"/>
                          <a:cs typeface="Arial" panose="020B0604020202020204" pitchFamily="34" charset="0"/>
                        </a:rPr>
                        <a:t>audio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標楷體" panose="03000509000000000000" pitchFamily="65" charset="-12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800" u="none" strike="noStrike" dirty="0">
                          <a:effectLst/>
                          <a:latin typeface="Arial" panose="020B0604020202020204" pitchFamily="34" charset="0"/>
                          <a:ea typeface="標楷體" panose="03000509000000000000" pitchFamily="65" charset="-120"/>
                          <a:cs typeface="Arial" panose="020B0604020202020204" pitchFamily="34" charset="0"/>
                        </a:rPr>
                        <a:t>0.1</a:t>
                      </a:r>
                      <a:endParaRPr lang="en-US" altLang="zh-TW" sz="1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標楷體" panose="03000509000000000000" pitchFamily="65" charset="-12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800" u="none" strike="noStrike" dirty="0">
                          <a:effectLst/>
                          <a:latin typeface="Arial" panose="020B0604020202020204" pitchFamily="34" charset="0"/>
                          <a:ea typeface="標楷體" panose="03000509000000000000" pitchFamily="65" charset="-120"/>
                          <a:cs typeface="Arial" panose="020B0604020202020204" pitchFamily="34" charset="0"/>
                        </a:rPr>
                        <a:t>0.125</a:t>
                      </a:r>
                      <a:endParaRPr lang="en-US" altLang="zh-TW" sz="1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標楷體" panose="03000509000000000000" pitchFamily="65" charset="-12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800" u="none" strike="noStrike" dirty="0">
                          <a:effectLst/>
                          <a:latin typeface="Arial" panose="020B0604020202020204" pitchFamily="34" charset="0"/>
                          <a:ea typeface="標楷體" panose="03000509000000000000" pitchFamily="65" charset="-120"/>
                          <a:cs typeface="Arial" panose="020B0604020202020204" pitchFamily="34" charset="0"/>
                        </a:rPr>
                        <a:t>0.083</a:t>
                      </a:r>
                      <a:endParaRPr lang="en-US" altLang="zh-TW" sz="1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標楷體" panose="03000509000000000000" pitchFamily="65" charset="-12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598585950"/>
                  </a:ext>
                </a:extLst>
              </a:tr>
              <a:tr h="412721"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u="none" strike="noStrike">
                          <a:effectLst/>
                          <a:latin typeface="Arial" panose="020B0604020202020204" pitchFamily="34" charset="0"/>
                          <a:ea typeface="標楷體" panose="03000509000000000000" pitchFamily="65" charset="-120"/>
                          <a:cs typeface="Arial" panose="020B0604020202020204" pitchFamily="34" charset="0"/>
                        </a:rPr>
                        <a:t>audio2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標楷體" panose="03000509000000000000" pitchFamily="65" charset="-12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800" u="none" strike="noStrike" dirty="0">
                          <a:effectLst/>
                          <a:latin typeface="Arial" panose="020B0604020202020204" pitchFamily="34" charset="0"/>
                          <a:ea typeface="標楷體" panose="03000509000000000000" pitchFamily="65" charset="-120"/>
                          <a:cs typeface="Arial" panose="020B0604020202020204" pitchFamily="34" charset="0"/>
                        </a:rPr>
                        <a:t>0.333</a:t>
                      </a:r>
                      <a:endParaRPr lang="en-US" altLang="zh-TW" sz="1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標楷體" panose="03000509000000000000" pitchFamily="65" charset="-12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800" u="none" strike="noStrike" dirty="0">
                          <a:effectLst/>
                          <a:latin typeface="Arial" panose="020B0604020202020204" pitchFamily="34" charset="0"/>
                          <a:ea typeface="標楷體" panose="03000509000000000000" pitchFamily="65" charset="-120"/>
                          <a:cs typeface="Arial" panose="020B0604020202020204" pitchFamily="34" charset="0"/>
                        </a:rPr>
                        <a:t>0.5</a:t>
                      </a:r>
                      <a:endParaRPr lang="en-US" altLang="zh-TW" sz="1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標楷體" panose="03000509000000000000" pitchFamily="65" charset="-12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800" u="none" strike="noStrike" dirty="0">
                          <a:effectLst/>
                          <a:latin typeface="Arial" panose="020B0604020202020204" pitchFamily="34" charset="0"/>
                          <a:ea typeface="標楷體" panose="03000509000000000000" pitchFamily="65" charset="-120"/>
                          <a:cs typeface="Arial" panose="020B0604020202020204" pitchFamily="34" charset="0"/>
                        </a:rPr>
                        <a:t>0.25</a:t>
                      </a:r>
                      <a:endParaRPr lang="en-US" altLang="zh-TW" sz="1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標楷體" panose="03000509000000000000" pitchFamily="65" charset="-12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831808837"/>
                  </a:ext>
                </a:extLst>
              </a:tr>
              <a:tr h="412721"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u="none" strike="noStrike">
                          <a:effectLst/>
                          <a:latin typeface="Arial" panose="020B0604020202020204" pitchFamily="34" charset="0"/>
                          <a:ea typeface="標楷體" panose="03000509000000000000" pitchFamily="65" charset="-120"/>
                          <a:cs typeface="Arial" panose="020B0604020202020204" pitchFamily="34" charset="0"/>
                        </a:rPr>
                        <a:t>audio3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標楷體" panose="03000509000000000000" pitchFamily="65" charset="-12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800" u="none" strike="noStrike" dirty="0">
                          <a:effectLst/>
                          <a:latin typeface="Arial" panose="020B0604020202020204" pitchFamily="34" charset="0"/>
                          <a:ea typeface="標楷體" panose="03000509000000000000" pitchFamily="65" charset="-120"/>
                          <a:cs typeface="Arial" panose="020B0604020202020204" pitchFamily="34" charset="0"/>
                        </a:rPr>
                        <a:t>0.4</a:t>
                      </a:r>
                      <a:endParaRPr lang="en-US" altLang="zh-TW" sz="1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標楷體" panose="03000509000000000000" pitchFamily="65" charset="-12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800" u="none" strike="noStrike" dirty="0">
                          <a:effectLst/>
                          <a:latin typeface="Arial" panose="020B0604020202020204" pitchFamily="34" charset="0"/>
                          <a:ea typeface="標楷體" panose="03000509000000000000" pitchFamily="65" charset="-120"/>
                          <a:cs typeface="Arial" panose="020B0604020202020204" pitchFamily="34" charset="0"/>
                        </a:rPr>
                        <a:t>0.333</a:t>
                      </a:r>
                      <a:endParaRPr lang="en-US" altLang="zh-TW" sz="1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標楷體" panose="03000509000000000000" pitchFamily="65" charset="-12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800" u="none" strike="noStrike" dirty="0">
                          <a:effectLst/>
                          <a:latin typeface="Arial" panose="020B0604020202020204" pitchFamily="34" charset="0"/>
                          <a:ea typeface="標楷體" panose="03000509000000000000" pitchFamily="65" charset="-120"/>
                          <a:cs typeface="Arial" panose="020B0604020202020204" pitchFamily="34" charset="0"/>
                        </a:rPr>
                        <a:t>0.5</a:t>
                      </a:r>
                      <a:endParaRPr lang="en-US" altLang="zh-TW" sz="1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標楷體" panose="03000509000000000000" pitchFamily="65" charset="-12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1320436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781502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1">
            <a:extLst>
              <a:ext uri="{FF2B5EF4-FFF2-40B4-BE49-F238E27FC236}">
                <a16:creationId xmlns:a16="http://schemas.microsoft.com/office/drawing/2014/main" id="{52C9CFC8-97B7-40C2-88BC-4B89FD014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8255"/>
            <a:ext cx="10906387" cy="1325563"/>
          </a:xfrm>
        </p:spPr>
        <p:txBody>
          <a:bodyPr>
            <a:normAutofit/>
          </a:bodyPr>
          <a:lstStyle/>
          <a:p>
            <a:r>
              <a:rPr lang="zh-TW" altLang="en-US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第一組</a:t>
            </a:r>
            <a:r>
              <a:rPr lang="en-US" altLang="zh-TW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, Audio: a, </a:t>
            </a:r>
            <a:r>
              <a:rPr lang="zh-TW" altLang="en-US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訓練</a:t>
            </a:r>
            <a:r>
              <a:rPr lang="en-US" altLang="zh-TW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: train set, </a:t>
            </a:r>
            <a:r>
              <a:rPr lang="zh-TW" altLang="en-US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測試</a:t>
            </a:r>
            <a:r>
              <a:rPr lang="en-US" altLang="zh-TW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: development set</a:t>
            </a:r>
          </a:p>
        </p:txBody>
      </p:sp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89D7743D-A038-42D5-A08A-57BCFCBC10B9}"/>
              </a:ext>
            </a:extLst>
          </p:cNvPr>
          <p:cNvSpPr txBox="1">
            <a:spLocks/>
          </p:cNvSpPr>
          <p:nvPr/>
        </p:nvSpPr>
        <p:spPr>
          <a:xfrm>
            <a:off x="838199" y="1343818"/>
            <a:ext cx="10515600" cy="5313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altLang="zh-TW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TW" sz="2400" dirty="0">
              <a:ea typeface="標楷體" panose="03000509000000000000" pitchFamily="65" charset="-120"/>
            </a:endParaRP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40D79F57-7BC2-4CD1-8614-C609441478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80" y="868170"/>
            <a:ext cx="6092362" cy="3046181"/>
          </a:xfrm>
          <a:prstGeom prst="rect">
            <a:avLst/>
          </a:prstGeom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19EB2866-A27B-42C1-AE14-FCB05C7E79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3641" y="3808180"/>
            <a:ext cx="6099640" cy="3049820"/>
          </a:xfrm>
          <a:prstGeom prst="rect">
            <a:avLst/>
          </a:prstGeom>
        </p:spPr>
      </p:pic>
      <p:pic>
        <p:nvPicPr>
          <p:cNvPr id="4" name="圖片 3">
            <a:extLst>
              <a:ext uri="{FF2B5EF4-FFF2-40B4-BE49-F238E27FC236}">
                <a16:creationId xmlns:a16="http://schemas.microsoft.com/office/drawing/2014/main" id="{949E09E7-228C-470E-AC69-36FD86A6B93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70471" y="1628351"/>
            <a:ext cx="609600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25909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1">
            <a:extLst>
              <a:ext uri="{FF2B5EF4-FFF2-40B4-BE49-F238E27FC236}">
                <a16:creationId xmlns:a16="http://schemas.microsoft.com/office/drawing/2014/main" id="{52C9CFC8-97B7-40C2-88BC-4B89FD014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8255"/>
            <a:ext cx="10906387" cy="1325563"/>
          </a:xfrm>
        </p:spPr>
        <p:txBody>
          <a:bodyPr>
            <a:normAutofit/>
          </a:bodyPr>
          <a:lstStyle/>
          <a:p>
            <a:r>
              <a:rPr lang="zh-TW" altLang="en-US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第一組</a:t>
            </a:r>
            <a:r>
              <a:rPr lang="en-US" altLang="zh-TW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, Audio: a2, </a:t>
            </a:r>
            <a:r>
              <a:rPr lang="zh-TW" altLang="en-US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訓練</a:t>
            </a:r>
            <a:r>
              <a:rPr lang="en-US" altLang="zh-TW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: train set, </a:t>
            </a:r>
            <a:r>
              <a:rPr lang="zh-TW" altLang="en-US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測試</a:t>
            </a:r>
            <a:r>
              <a:rPr lang="en-US" altLang="zh-TW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: development set</a:t>
            </a:r>
          </a:p>
        </p:txBody>
      </p:sp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89D7743D-A038-42D5-A08A-57BCFCBC10B9}"/>
              </a:ext>
            </a:extLst>
          </p:cNvPr>
          <p:cNvSpPr txBox="1">
            <a:spLocks/>
          </p:cNvSpPr>
          <p:nvPr/>
        </p:nvSpPr>
        <p:spPr>
          <a:xfrm>
            <a:off x="838199" y="1343818"/>
            <a:ext cx="10515600" cy="5313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altLang="zh-TW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TW" sz="2400" dirty="0">
              <a:ea typeface="標楷體" panose="03000509000000000000" pitchFamily="65" charset="-120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869EED9E-1E0E-419D-9600-51EC4B1DD9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25835" y="834726"/>
            <a:ext cx="6073629" cy="3036815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3E5D0371-E78E-4E08-89BF-63812FA508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25835" y="3821184"/>
            <a:ext cx="6073632" cy="3036816"/>
          </a:xfrm>
          <a:prstGeom prst="rect">
            <a:avLst/>
          </a:prstGeom>
        </p:spPr>
      </p:pic>
      <p:pic>
        <p:nvPicPr>
          <p:cNvPr id="3" name="圖片 2">
            <a:extLst>
              <a:ext uri="{FF2B5EF4-FFF2-40B4-BE49-F238E27FC236}">
                <a16:creationId xmlns:a16="http://schemas.microsoft.com/office/drawing/2014/main" id="{4975D20C-B665-460C-80D5-BB5921E036C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98190" y="1535184"/>
            <a:ext cx="609600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97016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1">
            <a:extLst>
              <a:ext uri="{FF2B5EF4-FFF2-40B4-BE49-F238E27FC236}">
                <a16:creationId xmlns:a16="http://schemas.microsoft.com/office/drawing/2014/main" id="{52C9CFC8-97B7-40C2-88BC-4B89FD014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8255"/>
            <a:ext cx="10906387" cy="1325563"/>
          </a:xfrm>
        </p:spPr>
        <p:txBody>
          <a:bodyPr>
            <a:normAutofit/>
          </a:bodyPr>
          <a:lstStyle/>
          <a:p>
            <a:r>
              <a:rPr lang="zh-TW" altLang="en-US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第一組</a:t>
            </a:r>
            <a:r>
              <a:rPr lang="en-US" altLang="zh-TW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, Audio: a3, </a:t>
            </a:r>
            <a:r>
              <a:rPr lang="zh-TW" altLang="en-US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訓練</a:t>
            </a:r>
            <a:r>
              <a:rPr lang="en-US" altLang="zh-TW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: train set, </a:t>
            </a:r>
            <a:r>
              <a:rPr lang="zh-TW" altLang="en-US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測試</a:t>
            </a:r>
            <a:r>
              <a:rPr lang="en-US" altLang="zh-TW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: development set</a:t>
            </a:r>
          </a:p>
        </p:txBody>
      </p:sp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89D7743D-A038-42D5-A08A-57BCFCBC10B9}"/>
              </a:ext>
            </a:extLst>
          </p:cNvPr>
          <p:cNvSpPr txBox="1">
            <a:spLocks/>
          </p:cNvSpPr>
          <p:nvPr/>
        </p:nvSpPr>
        <p:spPr>
          <a:xfrm>
            <a:off x="838199" y="1343818"/>
            <a:ext cx="10515600" cy="5313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altLang="zh-TW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TW" sz="2400" dirty="0">
              <a:ea typeface="標楷體" panose="03000509000000000000" pitchFamily="65" charset="-120"/>
            </a:endParaRP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0041E7E0-BAF7-452C-BFF6-20F9CBD1FF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552" y="965103"/>
            <a:ext cx="5826115" cy="2913058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2B26D09B-A528-4FB3-A1FA-6C0BB7CAAB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3711" y="3939341"/>
            <a:ext cx="5714956" cy="2857478"/>
          </a:xfrm>
          <a:prstGeom prst="rect">
            <a:avLst/>
          </a:prstGeom>
        </p:spPr>
      </p:pic>
      <p:pic>
        <p:nvPicPr>
          <p:cNvPr id="16" name="圖片 15">
            <a:extLst>
              <a:ext uri="{FF2B5EF4-FFF2-40B4-BE49-F238E27FC236}">
                <a16:creationId xmlns:a16="http://schemas.microsoft.com/office/drawing/2014/main" id="{19E510CD-872A-48EB-AFE5-1A7D87E1AFD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93627" y="1592161"/>
            <a:ext cx="609600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48675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1">
            <a:extLst>
              <a:ext uri="{FF2B5EF4-FFF2-40B4-BE49-F238E27FC236}">
                <a16:creationId xmlns:a16="http://schemas.microsoft.com/office/drawing/2014/main" id="{52C9CFC8-97B7-40C2-88BC-4B89FD014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8255"/>
            <a:ext cx="10906387" cy="1325563"/>
          </a:xfrm>
        </p:spPr>
        <p:txBody>
          <a:bodyPr>
            <a:normAutofit/>
          </a:bodyPr>
          <a:lstStyle/>
          <a:p>
            <a:r>
              <a:rPr lang="zh-TW" altLang="en-US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第二組</a:t>
            </a:r>
            <a:r>
              <a:rPr lang="en-US" altLang="zh-TW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, Audio: a, </a:t>
            </a:r>
            <a:r>
              <a:rPr lang="zh-TW" altLang="en-US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訓練</a:t>
            </a:r>
            <a:r>
              <a:rPr lang="en-US" altLang="zh-TW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: train set, </a:t>
            </a:r>
            <a:r>
              <a:rPr lang="zh-TW" altLang="en-US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測試</a:t>
            </a:r>
            <a:r>
              <a:rPr lang="en-US" altLang="zh-TW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: development set</a:t>
            </a:r>
          </a:p>
        </p:txBody>
      </p:sp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89D7743D-A038-42D5-A08A-57BCFCBC10B9}"/>
              </a:ext>
            </a:extLst>
          </p:cNvPr>
          <p:cNvSpPr txBox="1">
            <a:spLocks/>
          </p:cNvSpPr>
          <p:nvPr/>
        </p:nvSpPr>
        <p:spPr>
          <a:xfrm>
            <a:off x="838199" y="1343818"/>
            <a:ext cx="10515600" cy="5313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altLang="zh-TW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TW" sz="2400" dirty="0">
              <a:ea typeface="標楷體" panose="03000509000000000000" pitchFamily="65" charset="-120"/>
            </a:endParaRP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7DC2642F-870E-474E-9029-A2DDC8F519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94368"/>
            <a:ext cx="5919537" cy="2959769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FA08EFC5-CFE0-44A0-8D4A-A89DDAB7F5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922181"/>
            <a:ext cx="5919538" cy="2959769"/>
          </a:xfrm>
          <a:prstGeom prst="rect">
            <a:avLst/>
          </a:prstGeom>
        </p:spPr>
      </p:pic>
      <p:pic>
        <p:nvPicPr>
          <p:cNvPr id="14" name="圖片 13">
            <a:extLst>
              <a:ext uri="{FF2B5EF4-FFF2-40B4-BE49-F238E27FC236}">
                <a16:creationId xmlns:a16="http://schemas.microsoft.com/office/drawing/2014/main" id="{49E227F2-804A-45D3-A95E-B7701804C8B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1741" y="1568137"/>
            <a:ext cx="609600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53183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1">
            <a:extLst>
              <a:ext uri="{FF2B5EF4-FFF2-40B4-BE49-F238E27FC236}">
                <a16:creationId xmlns:a16="http://schemas.microsoft.com/office/drawing/2014/main" id="{52C9CFC8-97B7-40C2-88BC-4B89FD014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8255"/>
            <a:ext cx="10906387" cy="1325563"/>
          </a:xfrm>
        </p:spPr>
        <p:txBody>
          <a:bodyPr>
            <a:normAutofit/>
          </a:bodyPr>
          <a:lstStyle/>
          <a:p>
            <a:r>
              <a:rPr lang="zh-TW" altLang="en-US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第二組</a:t>
            </a:r>
            <a:r>
              <a:rPr lang="en-US" altLang="zh-TW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, Audio: a2, </a:t>
            </a:r>
            <a:r>
              <a:rPr lang="zh-TW" altLang="en-US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訓練</a:t>
            </a:r>
            <a:r>
              <a:rPr lang="en-US" altLang="zh-TW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: train set, </a:t>
            </a:r>
            <a:r>
              <a:rPr lang="zh-TW" altLang="en-US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測試</a:t>
            </a:r>
            <a:r>
              <a:rPr lang="en-US" altLang="zh-TW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: development set</a:t>
            </a:r>
          </a:p>
        </p:txBody>
      </p:sp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89D7743D-A038-42D5-A08A-57BCFCBC10B9}"/>
              </a:ext>
            </a:extLst>
          </p:cNvPr>
          <p:cNvSpPr txBox="1">
            <a:spLocks/>
          </p:cNvSpPr>
          <p:nvPr/>
        </p:nvSpPr>
        <p:spPr>
          <a:xfrm>
            <a:off x="838199" y="1343818"/>
            <a:ext cx="10515600" cy="5313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altLang="zh-TW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TW" sz="2400" dirty="0">
              <a:ea typeface="標楷體" panose="03000509000000000000" pitchFamily="65" charset="-120"/>
            </a:endParaRPr>
          </a:p>
        </p:txBody>
      </p:sp>
      <p:pic>
        <p:nvPicPr>
          <p:cNvPr id="10" name="圖片 9">
            <a:extLst>
              <a:ext uri="{FF2B5EF4-FFF2-40B4-BE49-F238E27FC236}">
                <a16:creationId xmlns:a16="http://schemas.microsoft.com/office/drawing/2014/main" id="{A9E47C43-8E6E-4CD6-9632-1F3E437F04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9787" y="838221"/>
            <a:ext cx="5715000" cy="2857500"/>
          </a:xfrm>
          <a:prstGeom prst="rect">
            <a:avLst/>
          </a:prstGeom>
        </p:spPr>
      </p:pic>
      <p:pic>
        <p:nvPicPr>
          <p:cNvPr id="14" name="圖片 13">
            <a:extLst>
              <a:ext uri="{FF2B5EF4-FFF2-40B4-BE49-F238E27FC236}">
                <a16:creationId xmlns:a16="http://schemas.microsoft.com/office/drawing/2014/main" id="{F704F34C-3640-4200-AE16-4A7CFEEA82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9787" y="3711493"/>
            <a:ext cx="5891463" cy="2945732"/>
          </a:xfrm>
          <a:prstGeom prst="rect">
            <a:avLst/>
          </a:prstGeom>
        </p:spPr>
      </p:pic>
      <p:pic>
        <p:nvPicPr>
          <p:cNvPr id="16" name="圖片 15">
            <a:extLst>
              <a:ext uri="{FF2B5EF4-FFF2-40B4-BE49-F238E27FC236}">
                <a16:creationId xmlns:a16="http://schemas.microsoft.com/office/drawing/2014/main" id="{8D2AF5E8-E7FF-4288-9FCE-FDE6D3784E9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76900" y="1359590"/>
            <a:ext cx="609600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37606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1">
            <a:extLst>
              <a:ext uri="{FF2B5EF4-FFF2-40B4-BE49-F238E27FC236}">
                <a16:creationId xmlns:a16="http://schemas.microsoft.com/office/drawing/2014/main" id="{52C9CFC8-97B7-40C2-88BC-4B89FD014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8255"/>
            <a:ext cx="10906387" cy="1325563"/>
          </a:xfrm>
        </p:spPr>
        <p:txBody>
          <a:bodyPr>
            <a:normAutofit/>
          </a:bodyPr>
          <a:lstStyle/>
          <a:p>
            <a:r>
              <a:rPr lang="zh-TW" altLang="en-US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第二組</a:t>
            </a:r>
            <a:r>
              <a:rPr lang="en-US" altLang="zh-TW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, Audio: a3, </a:t>
            </a:r>
            <a:r>
              <a:rPr lang="zh-TW" altLang="en-US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訓練</a:t>
            </a:r>
            <a:r>
              <a:rPr lang="en-US" altLang="zh-TW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: train set, </a:t>
            </a:r>
            <a:r>
              <a:rPr lang="zh-TW" altLang="en-US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測試</a:t>
            </a:r>
            <a:r>
              <a:rPr lang="en-US" altLang="zh-TW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: development set</a:t>
            </a:r>
          </a:p>
        </p:txBody>
      </p:sp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89D7743D-A038-42D5-A08A-57BCFCBC10B9}"/>
              </a:ext>
            </a:extLst>
          </p:cNvPr>
          <p:cNvSpPr txBox="1">
            <a:spLocks/>
          </p:cNvSpPr>
          <p:nvPr/>
        </p:nvSpPr>
        <p:spPr>
          <a:xfrm>
            <a:off x="838199" y="1343818"/>
            <a:ext cx="10515600" cy="5313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altLang="zh-TW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TW" sz="2400" dirty="0">
              <a:ea typeface="標楷體" panose="03000509000000000000" pitchFamily="65" charset="-120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B6579073-AB8B-48C8-86E9-558DDF48A7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828549"/>
            <a:ext cx="6095999" cy="3048000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A9417DB9-939E-4172-9691-441C86E0A7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860507"/>
            <a:ext cx="6095999" cy="3048000"/>
          </a:xfrm>
          <a:prstGeom prst="rect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12C72123-CA06-4200-905F-AC19A5D7894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72292" y="1434430"/>
            <a:ext cx="609600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91988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1">
            <a:extLst>
              <a:ext uri="{FF2B5EF4-FFF2-40B4-BE49-F238E27FC236}">
                <a16:creationId xmlns:a16="http://schemas.microsoft.com/office/drawing/2014/main" id="{52C9CFC8-97B7-40C2-88BC-4B89FD014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8255"/>
            <a:ext cx="10906387" cy="1325563"/>
          </a:xfrm>
        </p:spPr>
        <p:txBody>
          <a:bodyPr>
            <a:normAutofit/>
          </a:bodyPr>
          <a:lstStyle/>
          <a:p>
            <a:r>
              <a:rPr lang="zh-TW" altLang="en-US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第三組</a:t>
            </a:r>
            <a:r>
              <a:rPr lang="en-US" altLang="zh-TW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, Audio: a, </a:t>
            </a:r>
            <a:r>
              <a:rPr lang="zh-TW" altLang="en-US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訓練</a:t>
            </a:r>
            <a:r>
              <a:rPr lang="en-US" altLang="zh-TW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: train set, </a:t>
            </a:r>
            <a:r>
              <a:rPr lang="zh-TW" altLang="en-US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測試</a:t>
            </a:r>
            <a:r>
              <a:rPr lang="en-US" altLang="zh-TW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: development set</a:t>
            </a:r>
          </a:p>
        </p:txBody>
      </p:sp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89D7743D-A038-42D5-A08A-57BCFCBC10B9}"/>
              </a:ext>
            </a:extLst>
          </p:cNvPr>
          <p:cNvSpPr txBox="1">
            <a:spLocks/>
          </p:cNvSpPr>
          <p:nvPr/>
        </p:nvSpPr>
        <p:spPr>
          <a:xfrm>
            <a:off x="838199" y="1343818"/>
            <a:ext cx="10515600" cy="5313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altLang="zh-TW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TW" sz="2400" dirty="0">
              <a:ea typeface="標楷體" panose="03000509000000000000" pitchFamily="65" charset="-120"/>
            </a:endParaRP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AD27B205-6ECD-4860-AB79-F9858C0128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22442"/>
            <a:ext cx="6156158" cy="3078079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7C6A4F88-4037-4664-A8B3-868E5D3E23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799725"/>
            <a:ext cx="6080040" cy="3040020"/>
          </a:xfrm>
          <a:prstGeom prst="rect">
            <a:avLst/>
          </a:prstGeom>
        </p:spPr>
      </p:pic>
      <p:pic>
        <p:nvPicPr>
          <p:cNvPr id="17" name="圖片 16">
            <a:extLst>
              <a:ext uri="{FF2B5EF4-FFF2-40B4-BE49-F238E27FC236}">
                <a16:creationId xmlns:a16="http://schemas.microsoft.com/office/drawing/2014/main" id="{3D6A7C3C-0DB2-4542-97D8-56FCC22F946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45038" y="1513725"/>
            <a:ext cx="609600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95272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1">
            <a:extLst>
              <a:ext uri="{FF2B5EF4-FFF2-40B4-BE49-F238E27FC236}">
                <a16:creationId xmlns:a16="http://schemas.microsoft.com/office/drawing/2014/main" id="{52C9CFC8-97B7-40C2-88BC-4B89FD014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8255"/>
            <a:ext cx="10906387" cy="1325563"/>
          </a:xfrm>
        </p:spPr>
        <p:txBody>
          <a:bodyPr>
            <a:normAutofit/>
          </a:bodyPr>
          <a:lstStyle/>
          <a:p>
            <a:r>
              <a:rPr lang="zh-TW" altLang="en-US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第三組</a:t>
            </a:r>
            <a:r>
              <a:rPr lang="en-US" altLang="zh-TW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, Audio: a2, </a:t>
            </a:r>
            <a:r>
              <a:rPr lang="zh-TW" altLang="en-US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訓練</a:t>
            </a:r>
            <a:r>
              <a:rPr lang="en-US" altLang="zh-TW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: train set, </a:t>
            </a:r>
            <a:r>
              <a:rPr lang="zh-TW" altLang="en-US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測試</a:t>
            </a:r>
            <a:r>
              <a:rPr lang="en-US" altLang="zh-TW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: development set</a:t>
            </a:r>
          </a:p>
        </p:txBody>
      </p:sp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89D7743D-A038-42D5-A08A-57BCFCBC10B9}"/>
              </a:ext>
            </a:extLst>
          </p:cNvPr>
          <p:cNvSpPr txBox="1">
            <a:spLocks/>
          </p:cNvSpPr>
          <p:nvPr/>
        </p:nvSpPr>
        <p:spPr>
          <a:xfrm>
            <a:off x="838199" y="1343818"/>
            <a:ext cx="10515600" cy="5313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altLang="zh-TW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TW" sz="2400" dirty="0">
              <a:ea typeface="標楷體" panose="03000509000000000000" pitchFamily="65" charset="-120"/>
            </a:endParaRP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515F8BB4-DAB4-4C0C-A22A-C9B3D0C08F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95169"/>
            <a:ext cx="6109870" cy="3054935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931B65CE-97B0-4882-B1C5-0CDC2695DF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036" y="3843170"/>
            <a:ext cx="6036964" cy="3018483"/>
          </a:xfrm>
          <a:prstGeom prst="rect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529A9A7E-CFC1-408A-B606-C5887F9075F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79228" y="1564104"/>
            <a:ext cx="609600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70426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1">
            <a:extLst>
              <a:ext uri="{FF2B5EF4-FFF2-40B4-BE49-F238E27FC236}">
                <a16:creationId xmlns:a16="http://schemas.microsoft.com/office/drawing/2014/main" id="{52C9CFC8-97B7-40C2-88BC-4B89FD014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8255"/>
            <a:ext cx="10906387" cy="1325563"/>
          </a:xfrm>
        </p:spPr>
        <p:txBody>
          <a:bodyPr>
            <a:normAutofit/>
          </a:bodyPr>
          <a:lstStyle/>
          <a:p>
            <a:r>
              <a:rPr lang="zh-TW" altLang="en-US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第三組</a:t>
            </a:r>
            <a:r>
              <a:rPr lang="en-US" altLang="zh-TW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, Audio: a3, </a:t>
            </a:r>
            <a:r>
              <a:rPr lang="zh-TW" altLang="en-US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訓練</a:t>
            </a:r>
            <a:r>
              <a:rPr lang="en-US" altLang="zh-TW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: train set, </a:t>
            </a:r>
            <a:r>
              <a:rPr lang="zh-TW" altLang="en-US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測試</a:t>
            </a:r>
            <a:r>
              <a:rPr lang="en-US" altLang="zh-TW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: development set</a:t>
            </a:r>
          </a:p>
        </p:txBody>
      </p:sp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89D7743D-A038-42D5-A08A-57BCFCBC10B9}"/>
              </a:ext>
            </a:extLst>
          </p:cNvPr>
          <p:cNvSpPr txBox="1">
            <a:spLocks/>
          </p:cNvSpPr>
          <p:nvPr/>
        </p:nvSpPr>
        <p:spPr>
          <a:xfrm>
            <a:off x="838199" y="1343818"/>
            <a:ext cx="10515600" cy="5313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altLang="zh-TW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TW" sz="2400" dirty="0">
              <a:ea typeface="標楷體" panose="03000509000000000000" pitchFamily="65" charset="-120"/>
            </a:endParaRP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875A7804-8A83-487B-9A80-C68B850D3E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914398"/>
            <a:ext cx="6019801" cy="3009901"/>
          </a:xfrm>
          <a:prstGeom prst="rect">
            <a:avLst/>
          </a:prstGeom>
        </p:spPr>
      </p:pic>
      <p:pic>
        <p:nvPicPr>
          <p:cNvPr id="13" name="圖片 12">
            <a:extLst>
              <a:ext uri="{FF2B5EF4-FFF2-40B4-BE49-F238E27FC236}">
                <a16:creationId xmlns:a16="http://schemas.microsoft.com/office/drawing/2014/main" id="{2DDE4E7B-9DA6-4EA2-A789-A42864FBB5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92" y="3818104"/>
            <a:ext cx="6019801" cy="3009901"/>
          </a:xfrm>
          <a:prstGeom prst="rect">
            <a:avLst/>
          </a:prstGeom>
        </p:spPr>
      </p:pic>
      <p:pic>
        <p:nvPicPr>
          <p:cNvPr id="15" name="圖片 14">
            <a:extLst>
              <a:ext uri="{FF2B5EF4-FFF2-40B4-BE49-F238E27FC236}">
                <a16:creationId xmlns:a16="http://schemas.microsoft.com/office/drawing/2014/main" id="{59E6E117-5F9D-4C5E-9937-25782FF01B2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8317" y="1532104"/>
            <a:ext cx="609600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8710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1">
            <a:extLst>
              <a:ext uri="{FF2B5EF4-FFF2-40B4-BE49-F238E27FC236}">
                <a16:creationId xmlns:a16="http://schemas.microsoft.com/office/drawing/2014/main" id="{52C9CFC8-97B7-40C2-88BC-4B89FD014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8255"/>
            <a:ext cx="10906387" cy="1325563"/>
          </a:xfrm>
        </p:spPr>
        <p:txBody>
          <a:bodyPr>
            <a:normAutofit/>
          </a:bodyPr>
          <a:lstStyle/>
          <a:p>
            <a:r>
              <a:rPr lang="en-US" altLang="zh-TW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Use</a:t>
            </a:r>
            <a:r>
              <a:rPr lang="zh-TW" altLang="en-US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 </a:t>
            </a:r>
            <a:r>
              <a:rPr lang="en-US" altLang="zh-TW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Resampling</a:t>
            </a:r>
            <a:r>
              <a:rPr lang="zh-TW" altLang="en-US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 </a:t>
            </a:r>
            <a:r>
              <a:rPr lang="en-US" altLang="zh-TW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method</a:t>
            </a:r>
          </a:p>
        </p:txBody>
      </p:sp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89D7743D-A038-42D5-A08A-57BCFCBC10B9}"/>
              </a:ext>
            </a:extLst>
          </p:cNvPr>
          <p:cNvSpPr txBox="1">
            <a:spLocks/>
          </p:cNvSpPr>
          <p:nvPr/>
        </p:nvSpPr>
        <p:spPr>
          <a:xfrm>
            <a:off x="838199" y="1343818"/>
            <a:ext cx="10515600" cy="5313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altLang="zh-TW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TW" sz="2400" dirty="0">
              <a:ea typeface="標楷體" panose="03000509000000000000" pitchFamily="65" charset="-120"/>
            </a:endParaRPr>
          </a:p>
        </p:txBody>
      </p:sp>
      <p:sp>
        <p:nvSpPr>
          <p:cNvPr id="10" name="內容版面配置區 2">
            <a:extLst>
              <a:ext uri="{FF2B5EF4-FFF2-40B4-BE49-F238E27FC236}">
                <a16:creationId xmlns:a16="http://schemas.microsoft.com/office/drawing/2014/main" id="{64CB8ADF-1DCC-4101-A968-8FF2E7F84A4F}"/>
              </a:ext>
            </a:extLst>
          </p:cNvPr>
          <p:cNvSpPr txBox="1">
            <a:spLocks/>
          </p:cNvSpPr>
          <p:nvPr/>
        </p:nvSpPr>
        <p:spPr>
          <a:xfrm>
            <a:off x="555419" y="1108063"/>
            <a:ext cx="11081159" cy="5313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zh-TW" altLang="en-US" sz="3200" dirty="0">
                <a:ea typeface="標楷體" panose="03000509000000000000" pitchFamily="65" charset="-120"/>
              </a:rPr>
              <a:t>原本我的方法</a:t>
            </a:r>
            <a:r>
              <a:rPr lang="en-US" altLang="zh-TW" sz="3200" dirty="0">
                <a:ea typeface="標楷體" panose="03000509000000000000" pitchFamily="65" charset="-120"/>
              </a:rPr>
              <a:t>:</a:t>
            </a:r>
            <a:r>
              <a:rPr lang="zh-TW" altLang="en-US" sz="3200" dirty="0">
                <a:ea typeface="標楷體" panose="03000509000000000000" pitchFamily="65" charset="-120"/>
              </a:rPr>
              <a:t> 使用一個病患全部問題的回答作為一筆資料</a:t>
            </a:r>
            <a:endParaRPr lang="en-US" altLang="zh-TW" sz="32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r>
              <a:rPr lang="en-US" altLang="zh-TW" sz="3200" dirty="0">
                <a:ea typeface="標楷體" panose="03000509000000000000" pitchFamily="65" charset="-120"/>
              </a:rPr>
              <a:t>Train set </a:t>
            </a:r>
            <a:r>
              <a:rPr lang="zh-TW" altLang="en-US" sz="3200" dirty="0">
                <a:ea typeface="標楷體" panose="03000509000000000000" pitchFamily="65" charset="-120"/>
              </a:rPr>
              <a:t>中有 </a:t>
            </a:r>
            <a:r>
              <a:rPr lang="en-US" altLang="zh-TW" sz="3200" dirty="0">
                <a:ea typeface="標楷體" panose="03000509000000000000" pitchFamily="65" charset="-120"/>
              </a:rPr>
              <a:t>31 </a:t>
            </a:r>
            <a:r>
              <a:rPr lang="zh-TW" altLang="en-US" sz="3200" dirty="0">
                <a:ea typeface="標楷體" panose="03000509000000000000" pitchFamily="65" charset="-120"/>
              </a:rPr>
              <a:t>位 </a:t>
            </a:r>
            <a:r>
              <a:rPr lang="en-US" altLang="zh-TW" sz="3200" dirty="0">
                <a:ea typeface="標楷體" panose="03000509000000000000" pitchFamily="65" charset="-120"/>
              </a:rPr>
              <a:t>depression</a:t>
            </a:r>
            <a:r>
              <a:rPr lang="zh-TW" altLang="en-US" sz="3200" dirty="0">
                <a:ea typeface="標楷體" panose="03000509000000000000" pitchFamily="65" charset="-120"/>
              </a:rPr>
              <a:t>，</a:t>
            </a:r>
            <a:r>
              <a:rPr lang="en-US" altLang="zh-TW" sz="3200" dirty="0">
                <a:ea typeface="標楷體" panose="03000509000000000000" pitchFamily="65" charset="-120"/>
              </a:rPr>
              <a:t>76</a:t>
            </a:r>
            <a:r>
              <a:rPr lang="zh-TW" altLang="en-US" sz="3200" dirty="0">
                <a:ea typeface="標楷體" panose="03000509000000000000" pitchFamily="65" charset="-120"/>
              </a:rPr>
              <a:t> 位 </a:t>
            </a:r>
            <a:r>
              <a:rPr lang="en-US" altLang="zh-TW" sz="3200" dirty="0">
                <a:ea typeface="標楷體" panose="03000509000000000000" pitchFamily="65" charset="-120"/>
              </a:rPr>
              <a:t>non-depression</a:t>
            </a: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14370CAA-39C6-42E3-A73C-A3C9CB93E3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460" y="2307378"/>
            <a:ext cx="9863139" cy="4532367"/>
          </a:xfrm>
          <a:prstGeom prst="rect">
            <a:avLst/>
          </a:prstGeom>
        </p:spPr>
      </p:pic>
      <p:sp>
        <p:nvSpPr>
          <p:cNvPr id="12" name="內容版面配置區 2">
            <a:extLst>
              <a:ext uri="{FF2B5EF4-FFF2-40B4-BE49-F238E27FC236}">
                <a16:creationId xmlns:a16="http://schemas.microsoft.com/office/drawing/2014/main" id="{7992489A-E553-48E1-A0DD-425D8F5C3706}"/>
              </a:ext>
            </a:extLst>
          </p:cNvPr>
          <p:cNvSpPr txBox="1">
            <a:spLocks/>
          </p:cNvSpPr>
          <p:nvPr/>
        </p:nvSpPr>
        <p:spPr>
          <a:xfrm>
            <a:off x="6302709" y="4808505"/>
            <a:ext cx="5900608" cy="203124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US" altLang="zh-TW" sz="3200" dirty="0">
                <a:ea typeface="標楷體" panose="03000509000000000000" pitchFamily="65" charset="-120"/>
              </a:rPr>
              <a:t>Train set </a:t>
            </a:r>
            <a:r>
              <a:rPr lang="zh-TW" altLang="en-US" sz="3200" dirty="0">
                <a:ea typeface="標楷體" panose="03000509000000000000" pitchFamily="65" charset="-120"/>
              </a:rPr>
              <a:t>中</a:t>
            </a:r>
            <a:endParaRPr lang="en-US" altLang="zh-TW" sz="32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r>
              <a:rPr lang="zh-TW" altLang="en-US" sz="3200" dirty="0">
                <a:ea typeface="標楷體" panose="03000509000000000000" pitchFamily="65" charset="-120"/>
              </a:rPr>
              <a:t>有 </a:t>
            </a:r>
            <a:r>
              <a:rPr lang="en-US" altLang="zh-TW" sz="3200" dirty="0">
                <a:ea typeface="標楷體" panose="03000509000000000000" pitchFamily="65" charset="-120"/>
              </a:rPr>
              <a:t>31 </a:t>
            </a:r>
            <a:r>
              <a:rPr lang="zh-TW" altLang="en-US" sz="3200" dirty="0">
                <a:ea typeface="標楷體" panose="03000509000000000000" pitchFamily="65" charset="-120"/>
              </a:rPr>
              <a:t>筆 </a:t>
            </a:r>
            <a:r>
              <a:rPr lang="en-US" altLang="zh-TW" sz="3200" dirty="0">
                <a:ea typeface="標楷體" panose="03000509000000000000" pitchFamily="65" charset="-120"/>
              </a:rPr>
              <a:t>Depression Samples</a:t>
            </a:r>
          </a:p>
          <a:p>
            <a:pPr>
              <a:lnSpc>
                <a:spcPct val="100000"/>
              </a:lnSpc>
            </a:pPr>
            <a:r>
              <a:rPr lang="zh-TW" altLang="en-US" sz="3200" dirty="0">
                <a:ea typeface="標楷體" panose="03000509000000000000" pitchFamily="65" charset="-120"/>
              </a:rPr>
              <a:t>有</a:t>
            </a:r>
            <a:r>
              <a:rPr lang="en-US" altLang="zh-TW" sz="3200" dirty="0">
                <a:ea typeface="標楷體" panose="03000509000000000000" pitchFamily="65" charset="-120"/>
              </a:rPr>
              <a:t>76</a:t>
            </a:r>
            <a:r>
              <a:rPr lang="zh-TW" altLang="en-US" sz="3200" dirty="0">
                <a:ea typeface="標楷體" panose="03000509000000000000" pitchFamily="65" charset="-120"/>
              </a:rPr>
              <a:t> 筆 </a:t>
            </a:r>
            <a:r>
              <a:rPr lang="en-US" altLang="zh-TW" sz="3200" dirty="0">
                <a:ea typeface="標楷體" panose="03000509000000000000" pitchFamily="65" charset="-120"/>
              </a:rPr>
              <a:t>Non Depression Samples</a:t>
            </a:r>
          </a:p>
        </p:txBody>
      </p:sp>
    </p:spTree>
    <p:extLst>
      <p:ext uri="{BB962C8B-B14F-4D97-AF65-F5344CB8AC3E}">
        <p14:creationId xmlns:p14="http://schemas.microsoft.com/office/powerpoint/2010/main" val="2194873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圖片 10">
            <a:extLst>
              <a:ext uri="{FF2B5EF4-FFF2-40B4-BE49-F238E27FC236}">
                <a16:creationId xmlns:a16="http://schemas.microsoft.com/office/drawing/2014/main" id="{056DAF0F-8794-4F86-BC4B-11EAFD7920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2310" y="2309857"/>
            <a:ext cx="7947289" cy="4529888"/>
          </a:xfrm>
          <a:prstGeom prst="rect">
            <a:avLst/>
          </a:prstGeom>
        </p:spPr>
      </p:pic>
      <p:sp>
        <p:nvSpPr>
          <p:cNvPr id="5" name="標題 1">
            <a:extLst>
              <a:ext uri="{FF2B5EF4-FFF2-40B4-BE49-F238E27FC236}">
                <a16:creationId xmlns:a16="http://schemas.microsoft.com/office/drawing/2014/main" id="{52C9CFC8-97B7-40C2-88BC-4B89FD014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8255"/>
            <a:ext cx="10906387" cy="1325563"/>
          </a:xfrm>
        </p:spPr>
        <p:txBody>
          <a:bodyPr>
            <a:normAutofit/>
          </a:bodyPr>
          <a:lstStyle/>
          <a:p>
            <a:r>
              <a:rPr lang="en-US" altLang="zh-TW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Use</a:t>
            </a:r>
            <a:r>
              <a:rPr lang="zh-TW" altLang="en-US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 </a:t>
            </a:r>
            <a:r>
              <a:rPr lang="en-US" altLang="zh-TW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Resampling</a:t>
            </a:r>
            <a:r>
              <a:rPr lang="zh-TW" altLang="en-US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 </a:t>
            </a:r>
            <a:r>
              <a:rPr lang="en-US" altLang="zh-TW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method</a:t>
            </a:r>
          </a:p>
        </p:txBody>
      </p:sp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89D7743D-A038-42D5-A08A-57BCFCBC10B9}"/>
              </a:ext>
            </a:extLst>
          </p:cNvPr>
          <p:cNvSpPr txBox="1">
            <a:spLocks/>
          </p:cNvSpPr>
          <p:nvPr/>
        </p:nvSpPr>
        <p:spPr>
          <a:xfrm>
            <a:off x="838199" y="1343818"/>
            <a:ext cx="10515600" cy="5313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altLang="zh-TW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TW" sz="2400" dirty="0">
              <a:ea typeface="標楷體" panose="03000509000000000000" pitchFamily="65" charset="-120"/>
            </a:endParaRPr>
          </a:p>
        </p:txBody>
      </p:sp>
      <p:sp>
        <p:nvSpPr>
          <p:cNvPr id="10" name="內容版面配置區 2">
            <a:extLst>
              <a:ext uri="{FF2B5EF4-FFF2-40B4-BE49-F238E27FC236}">
                <a16:creationId xmlns:a16="http://schemas.microsoft.com/office/drawing/2014/main" id="{64CB8ADF-1DCC-4101-A968-8FF2E7F84A4F}"/>
              </a:ext>
            </a:extLst>
          </p:cNvPr>
          <p:cNvSpPr txBox="1">
            <a:spLocks/>
          </p:cNvSpPr>
          <p:nvPr/>
        </p:nvSpPr>
        <p:spPr>
          <a:xfrm>
            <a:off x="555419" y="1108063"/>
            <a:ext cx="11081159" cy="5313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zh-TW" altLang="en-US" sz="3200" dirty="0">
                <a:ea typeface="標楷體" panose="03000509000000000000" pitchFamily="65" charset="-120"/>
              </a:rPr>
              <a:t>論文的方法</a:t>
            </a:r>
            <a:r>
              <a:rPr lang="en-US" altLang="zh-TW" sz="3200" dirty="0">
                <a:ea typeface="標楷體" panose="03000509000000000000" pitchFamily="65" charset="-120"/>
              </a:rPr>
              <a:t>:</a:t>
            </a:r>
            <a:r>
              <a:rPr lang="zh-TW" altLang="en-US" sz="3200" dirty="0">
                <a:ea typeface="標楷體" panose="03000509000000000000" pitchFamily="65" charset="-120"/>
              </a:rPr>
              <a:t> 將同一病患對</a:t>
            </a:r>
            <a:r>
              <a:rPr lang="en-US" altLang="zh-TW" sz="3200" dirty="0">
                <a:ea typeface="標楷體" panose="03000509000000000000" pitchFamily="65" charset="-120"/>
              </a:rPr>
              <a:t>10</a:t>
            </a:r>
            <a:r>
              <a:rPr lang="zh-TW" altLang="en-US" sz="3200" dirty="0">
                <a:ea typeface="標楷體" panose="03000509000000000000" pitchFamily="65" charset="-120"/>
              </a:rPr>
              <a:t> 個問題的回答組成一個 </a:t>
            </a:r>
            <a:r>
              <a:rPr lang="en-US" altLang="zh-TW" sz="3200" dirty="0">
                <a:ea typeface="標楷體" panose="03000509000000000000" pitchFamily="65" charset="-120"/>
              </a:rPr>
              <a:t>Group</a:t>
            </a:r>
          </a:p>
          <a:p>
            <a:pPr>
              <a:lnSpc>
                <a:spcPct val="100000"/>
              </a:lnSpc>
            </a:pPr>
            <a:r>
              <a:rPr lang="en-US" altLang="zh-TW" sz="3200" dirty="0">
                <a:ea typeface="標楷體" panose="03000509000000000000" pitchFamily="65" charset="-120"/>
              </a:rPr>
              <a:t>Train set </a:t>
            </a:r>
            <a:r>
              <a:rPr lang="zh-TW" altLang="en-US" sz="3200" dirty="0">
                <a:ea typeface="標楷體" panose="03000509000000000000" pitchFamily="65" charset="-120"/>
              </a:rPr>
              <a:t>中有 </a:t>
            </a:r>
            <a:r>
              <a:rPr lang="en-US" altLang="zh-TW" sz="3200" dirty="0">
                <a:ea typeface="標楷體" panose="03000509000000000000" pitchFamily="65" charset="-120"/>
              </a:rPr>
              <a:t>132</a:t>
            </a:r>
            <a:r>
              <a:rPr lang="zh-TW" altLang="en-US" sz="3200" dirty="0">
                <a:ea typeface="標楷體" panose="03000509000000000000" pitchFamily="65" charset="-120"/>
              </a:rPr>
              <a:t> 筆 </a:t>
            </a:r>
            <a:r>
              <a:rPr lang="en-US" altLang="zh-TW" sz="3200" dirty="0">
                <a:ea typeface="標楷體" panose="03000509000000000000" pitchFamily="65" charset="-120"/>
              </a:rPr>
              <a:t>depression group</a:t>
            </a:r>
            <a:r>
              <a:rPr lang="zh-TW" altLang="en-US" sz="3200" dirty="0">
                <a:ea typeface="標楷體" panose="03000509000000000000" pitchFamily="65" charset="-120"/>
              </a:rPr>
              <a:t>、</a:t>
            </a:r>
            <a:r>
              <a:rPr lang="en-US" altLang="zh-TW" sz="3200" dirty="0">
                <a:ea typeface="標楷體" panose="03000509000000000000" pitchFamily="65" charset="-120"/>
              </a:rPr>
              <a:t>310</a:t>
            </a:r>
            <a:r>
              <a:rPr lang="zh-TW" altLang="en-US" sz="3200" dirty="0">
                <a:ea typeface="標楷體" panose="03000509000000000000" pitchFamily="65" charset="-120"/>
              </a:rPr>
              <a:t> 筆 </a:t>
            </a:r>
            <a:r>
              <a:rPr lang="en-US" altLang="zh-TW" sz="3200" dirty="0">
                <a:ea typeface="標楷體" panose="03000509000000000000" pitchFamily="65" charset="-120"/>
              </a:rPr>
              <a:t>non depression group</a:t>
            </a:r>
          </a:p>
        </p:txBody>
      </p:sp>
      <p:pic>
        <p:nvPicPr>
          <p:cNvPr id="14" name="圖片 13">
            <a:extLst>
              <a:ext uri="{FF2B5EF4-FFF2-40B4-BE49-F238E27FC236}">
                <a16:creationId xmlns:a16="http://schemas.microsoft.com/office/drawing/2014/main" id="{8C342748-3D3A-47B5-B5C8-C86983F95E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66378" y="2553320"/>
            <a:ext cx="2587421" cy="3986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26790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1">
            <a:extLst>
              <a:ext uri="{FF2B5EF4-FFF2-40B4-BE49-F238E27FC236}">
                <a16:creationId xmlns:a16="http://schemas.microsoft.com/office/drawing/2014/main" id="{52C9CFC8-97B7-40C2-88BC-4B89FD014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8255"/>
            <a:ext cx="10906387" cy="1325563"/>
          </a:xfrm>
        </p:spPr>
        <p:txBody>
          <a:bodyPr>
            <a:normAutofit/>
          </a:bodyPr>
          <a:lstStyle/>
          <a:p>
            <a:r>
              <a:rPr lang="zh-TW" altLang="en-US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實驗使用不同的 </a:t>
            </a:r>
            <a:r>
              <a:rPr lang="en-US" altLang="zh-TW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audio features</a:t>
            </a:r>
          </a:p>
        </p:txBody>
      </p:sp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89D7743D-A038-42D5-A08A-57BCFCBC10B9}"/>
              </a:ext>
            </a:extLst>
          </p:cNvPr>
          <p:cNvSpPr txBox="1">
            <a:spLocks/>
          </p:cNvSpPr>
          <p:nvPr/>
        </p:nvSpPr>
        <p:spPr>
          <a:xfrm>
            <a:off x="838199" y="1343818"/>
            <a:ext cx="10515600" cy="5313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altLang="zh-TW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TW" sz="2400" dirty="0">
              <a:ea typeface="標楷體" panose="03000509000000000000" pitchFamily="65" charset="-120"/>
            </a:endParaRPr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93D07482-A8A9-4355-9224-9EC16D28B5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314469"/>
              </p:ext>
            </p:extLst>
          </p:nvPr>
        </p:nvGraphicFramePr>
        <p:xfrm>
          <a:off x="360724" y="1332803"/>
          <a:ext cx="5618877" cy="247632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71503">
                  <a:extLst>
                    <a:ext uri="{9D8B030D-6E8A-4147-A177-3AD203B41FA5}">
                      <a16:colId xmlns:a16="http://schemas.microsoft.com/office/drawing/2014/main" val="709236260"/>
                    </a:ext>
                  </a:extLst>
                </a:gridCol>
                <a:gridCol w="1453532">
                  <a:extLst>
                    <a:ext uri="{9D8B030D-6E8A-4147-A177-3AD203B41FA5}">
                      <a16:colId xmlns:a16="http://schemas.microsoft.com/office/drawing/2014/main" val="2641914309"/>
                    </a:ext>
                  </a:extLst>
                </a:gridCol>
                <a:gridCol w="1540310">
                  <a:extLst>
                    <a:ext uri="{9D8B030D-6E8A-4147-A177-3AD203B41FA5}">
                      <a16:colId xmlns:a16="http://schemas.microsoft.com/office/drawing/2014/main" val="2466221871"/>
                    </a:ext>
                  </a:extLst>
                </a:gridCol>
                <a:gridCol w="1453532">
                  <a:extLst>
                    <a:ext uri="{9D8B030D-6E8A-4147-A177-3AD203B41FA5}">
                      <a16:colId xmlns:a16="http://schemas.microsoft.com/office/drawing/2014/main" val="1988667161"/>
                    </a:ext>
                  </a:extLst>
                </a:gridCol>
              </a:tblGrid>
              <a:tr h="412721"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800" u="none" strike="noStrike" dirty="0">
                          <a:effectLst/>
                          <a:latin typeface="Arial" panose="020B0604020202020204" pitchFamily="34" charset="0"/>
                          <a:ea typeface="標楷體" panose="03000509000000000000" pitchFamily="65" charset="-120"/>
                          <a:cs typeface="Arial" panose="020B0604020202020204" pitchFamily="34" charset="0"/>
                        </a:rPr>
                        <a:t>訓練</a:t>
                      </a:r>
                      <a:endParaRPr lang="zh-TW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標楷體" panose="03000509000000000000" pitchFamily="65" charset="-12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u="none" strike="noStrike" dirty="0">
                          <a:effectLst/>
                          <a:latin typeface="Arial" panose="020B0604020202020204" pitchFamily="34" charset="0"/>
                          <a:ea typeface="標楷體" panose="03000509000000000000" pitchFamily="65" charset="-120"/>
                          <a:cs typeface="Arial" panose="020B0604020202020204" pitchFamily="34" charset="0"/>
                        </a:rPr>
                        <a:t>train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標楷體" panose="03000509000000000000" pitchFamily="65" charset="-12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標楷體" panose="03000509000000000000" pitchFamily="65" charset="-12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標楷體" panose="03000509000000000000" pitchFamily="65" charset="-12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987623219"/>
                  </a:ext>
                </a:extLst>
              </a:tr>
              <a:tr h="412721"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800" u="none" strike="noStrike" dirty="0">
                          <a:effectLst/>
                          <a:latin typeface="Arial" panose="020B0604020202020204" pitchFamily="34" charset="0"/>
                          <a:ea typeface="標楷體" panose="03000509000000000000" pitchFamily="65" charset="-120"/>
                          <a:cs typeface="Arial" panose="020B0604020202020204" pitchFamily="34" charset="0"/>
                        </a:rPr>
                        <a:t>測試</a:t>
                      </a:r>
                      <a:endParaRPr lang="zh-TW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標楷體" panose="03000509000000000000" pitchFamily="65" charset="-12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u="none" strike="noStrike" dirty="0">
                          <a:effectLst/>
                          <a:latin typeface="Arial" panose="020B0604020202020204" pitchFamily="34" charset="0"/>
                          <a:ea typeface="標楷體" panose="03000509000000000000" pitchFamily="65" charset="-120"/>
                          <a:cs typeface="Arial" panose="020B0604020202020204" pitchFamily="34" charset="0"/>
                        </a:rPr>
                        <a:t>development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標楷體" panose="03000509000000000000" pitchFamily="65" charset="-12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標楷體" panose="03000509000000000000" pitchFamily="65" charset="-12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標楷體" panose="03000509000000000000" pitchFamily="65" charset="-12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475513606"/>
                  </a:ext>
                </a:extLst>
              </a:tr>
              <a:tr h="412721"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800" u="none" strike="noStrike">
                          <a:effectLst/>
                          <a:latin typeface="Arial" panose="020B0604020202020204" pitchFamily="34" charset="0"/>
                          <a:ea typeface="標楷體" panose="03000509000000000000" pitchFamily="65" charset="-120"/>
                          <a:cs typeface="Arial" panose="020B0604020202020204" pitchFamily="34" charset="0"/>
                        </a:rPr>
                        <a:t>　</a:t>
                      </a:r>
                      <a:endParaRPr lang="zh-TW" altLang="en-US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標楷體" panose="03000509000000000000" pitchFamily="65" charset="-12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u="none" strike="noStrike" dirty="0">
                          <a:effectLst/>
                          <a:latin typeface="Arial" panose="020B0604020202020204" pitchFamily="34" charset="0"/>
                          <a:ea typeface="標楷體" panose="03000509000000000000" pitchFamily="65" charset="-120"/>
                          <a:cs typeface="Arial" panose="020B0604020202020204" pitchFamily="34" charset="0"/>
                        </a:rPr>
                        <a:t>F1 score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標楷體" panose="03000509000000000000" pitchFamily="65" charset="-12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u="none" strike="noStrike">
                          <a:effectLst/>
                          <a:latin typeface="Arial" panose="020B0604020202020204" pitchFamily="34" charset="0"/>
                          <a:ea typeface="標楷體" panose="03000509000000000000" pitchFamily="65" charset="-120"/>
                          <a:cs typeface="Arial" panose="020B0604020202020204" pitchFamily="34" charset="0"/>
                        </a:rPr>
                        <a:t>Precision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標楷體" panose="03000509000000000000" pitchFamily="65" charset="-12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u="none" strike="noStrike">
                          <a:effectLst/>
                          <a:latin typeface="Arial" panose="020B0604020202020204" pitchFamily="34" charset="0"/>
                          <a:ea typeface="標楷體" panose="03000509000000000000" pitchFamily="65" charset="-120"/>
                          <a:cs typeface="Arial" panose="020B0604020202020204" pitchFamily="34" charset="0"/>
                        </a:rPr>
                        <a:t>Recall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標楷體" panose="03000509000000000000" pitchFamily="65" charset="-12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24442253"/>
                  </a:ext>
                </a:extLst>
              </a:tr>
              <a:tr h="412721"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u="none" strike="noStrike">
                          <a:effectLst/>
                          <a:latin typeface="Arial" panose="020B0604020202020204" pitchFamily="34" charset="0"/>
                          <a:ea typeface="標楷體" panose="03000509000000000000" pitchFamily="65" charset="-120"/>
                          <a:cs typeface="Arial" panose="020B0604020202020204" pitchFamily="34" charset="0"/>
                        </a:rPr>
                        <a:t>audio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標楷體" panose="03000509000000000000" pitchFamily="65" charset="-12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標楷體" panose="03000509000000000000" pitchFamily="65" charset="-120"/>
                          <a:cs typeface="Arial" panose="020B0604020202020204" pitchFamily="34" charset="0"/>
                        </a:rPr>
                        <a:t>0.583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標楷體" panose="03000509000000000000" pitchFamily="65" charset="-120"/>
                          <a:cs typeface="Arial" panose="020B0604020202020204" pitchFamily="34" charset="0"/>
                        </a:rPr>
                        <a:t>0.583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標楷體" panose="03000509000000000000" pitchFamily="65" charset="-120"/>
                          <a:cs typeface="Arial" panose="020B0604020202020204" pitchFamily="34" charset="0"/>
                        </a:rPr>
                        <a:t>0.583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598585950"/>
                  </a:ext>
                </a:extLst>
              </a:tr>
              <a:tr h="412721"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u="none" strike="noStrike">
                          <a:effectLst/>
                          <a:latin typeface="Arial" panose="020B0604020202020204" pitchFamily="34" charset="0"/>
                          <a:ea typeface="標楷體" panose="03000509000000000000" pitchFamily="65" charset="-120"/>
                          <a:cs typeface="Arial" panose="020B0604020202020204" pitchFamily="34" charset="0"/>
                        </a:rPr>
                        <a:t>audio2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標楷體" panose="03000509000000000000" pitchFamily="65" charset="-12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標楷體" panose="03000509000000000000" pitchFamily="65" charset="-120"/>
                          <a:cs typeface="Arial" panose="020B0604020202020204" pitchFamily="34" charset="0"/>
                        </a:rPr>
                        <a:t>0.462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標楷體" panose="03000509000000000000" pitchFamily="65" charset="-120"/>
                          <a:cs typeface="Arial" panose="020B0604020202020204" pitchFamily="34" charset="0"/>
                        </a:rPr>
                        <a:t>0.429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標楷體" panose="03000509000000000000" pitchFamily="65" charset="-120"/>
                          <a:cs typeface="Arial" panose="020B0604020202020204" pitchFamily="34" charset="0"/>
                        </a:rPr>
                        <a:t>0.5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831808837"/>
                  </a:ext>
                </a:extLst>
              </a:tr>
              <a:tr h="412721"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u="none" strike="noStrike">
                          <a:effectLst/>
                          <a:latin typeface="Arial" panose="020B0604020202020204" pitchFamily="34" charset="0"/>
                          <a:ea typeface="標楷體" panose="03000509000000000000" pitchFamily="65" charset="-120"/>
                          <a:cs typeface="Arial" panose="020B0604020202020204" pitchFamily="34" charset="0"/>
                        </a:rPr>
                        <a:t>audio3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標楷體" panose="03000509000000000000" pitchFamily="65" charset="-12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標楷體" panose="03000509000000000000" pitchFamily="65" charset="-120"/>
                          <a:cs typeface="Arial" panose="020B0604020202020204" pitchFamily="34" charset="0"/>
                        </a:rPr>
                        <a:t>0.455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標楷體" panose="03000509000000000000" pitchFamily="65" charset="-120"/>
                          <a:cs typeface="Arial" panose="020B0604020202020204" pitchFamily="34" charset="0"/>
                        </a:rPr>
                        <a:t>0.5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標楷體" panose="03000509000000000000" pitchFamily="65" charset="-120"/>
                          <a:cs typeface="Arial" panose="020B0604020202020204" pitchFamily="34" charset="0"/>
                        </a:rPr>
                        <a:t>0.417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132043657"/>
                  </a:ext>
                </a:extLst>
              </a:tr>
            </a:tbl>
          </a:graphicData>
        </a:graphic>
      </p:graphicFrame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90CFFCCC-81FF-46B8-AFE6-66136EA848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8311744"/>
              </p:ext>
            </p:extLst>
          </p:nvPr>
        </p:nvGraphicFramePr>
        <p:xfrm>
          <a:off x="6262381" y="1332803"/>
          <a:ext cx="5618877" cy="247632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71503">
                  <a:extLst>
                    <a:ext uri="{9D8B030D-6E8A-4147-A177-3AD203B41FA5}">
                      <a16:colId xmlns:a16="http://schemas.microsoft.com/office/drawing/2014/main" val="709236260"/>
                    </a:ext>
                  </a:extLst>
                </a:gridCol>
                <a:gridCol w="1453532">
                  <a:extLst>
                    <a:ext uri="{9D8B030D-6E8A-4147-A177-3AD203B41FA5}">
                      <a16:colId xmlns:a16="http://schemas.microsoft.com/office/drawing/2014/main" val="2641914309"/>
                    </a:ext>
                  </a:extLst>
                </a:gridCol>
                <a:gridCol w="1540310">
                  <a:extLst>
                    <a:ext uri="{9D8B030D-6E8A-4147-A177-3AD203B41FA5}">
                      <a16:colId xmlns:a16="http://schemas.microsoft.com/office/drawing/2014/main" val="2466221871"/>
                    </a:ext>
                  </a:extLst>
                </a:gridCol>
                <a:gridCol w="1453532">
                  <a:extLst>
                    <a:ext uri="{9D8B030D-6E8A-4147-A177-3AD203B41FA5}">
                      <a16:colId xmlns:a16="http://schemas.microsoft.com/office/drawing/2014/main" val="1988667161"/>
                    </a:ext>
                  </a:extLst>
                </a:gridCol>
              </a:tblGrid>
              <a:tr h="412721"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800" u="none" strike="noStrike" dirty="0">
                          <a:effectLst/>
                          <a:latin typeface="Arial" panose="020B0604020202020204" pitchFamily="34" charset="0"/>
                          <a:ea typeface="標楷體" panose="03000509000000000000" pitchFamily="65" charset="-120"/>
                          <a:cs typeface="Arial" panose="020B0604020202020204" pitchFamily="34" charset="0"/>
                        </a:rPr>
                        <a:t>訓練</a:t>
                      </a:r>
                      <a:endParaRPr lang="zh-TW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標楷體" panose="03000509000000000000" pitchFamily="65" charset="-12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u="none" strike="noStrike" dirty="0">
                          <a:effectLst/>
                          <a:latin typeface="Arial" panose="020B0604020202020204" pitchFamily="34" charset="0"/>
                          <a:ea typeface="標楷體" panose="03000509000000000000" pitchFamily="65" charset="-120"/>
                          <a:cs typeface="Arial" panose="020B0604020202020204" pitchFamily="34" charset="0"/>
                        </a:rPr>
                        <a:t>train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標楷體" panose="03000509000000000000" pitchFamily="65" charset="-12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標楷體" panose="03000509000000000000" pitchFamily="65" charset="-12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標楷體" panose="03000509000000000000" pitchFamily="65" charset="-12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987623219"/>
                  </a:ext>
                </a:extLst>
              </a:tr>
              <a:tr h="412721"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800" u="none" strike="noStrike" dirty="0">
                          <a:effectLst/>
                          <a:latin typeface="Arial" panose="020B0604020202020204" pitchFamily="34" charset="0"/>
                          <a:ea typeface="標楷體" panose="03000509000000000000" pitchFamily="65" charset="-120"/>
                          <a:cs typeface="Arial" panose="020B0604020202020204" pitchFamily="34" charset="0"/>
                        </a:rPr>
                        <a:t>測試</a:t>
                      </a:r>
                      <a:endParaRPr lang="zh-TW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標楷體" panose="03000509000000000000" pitchFamily="65" charset="-12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u="none" strike="noStrike" dirty="0">
                          <a:effectLst/>
                          <a:latin typeface="Arial" panose="020B0604020202020204" pitchFamily="34" charset="0"/>
                          <a:ea typeface="標楷體" panose="03000509000000000000" pitchFamily="65" charset="-120"/>
                          <a:cs typeface="Arial" panose="020B0604020202020204" pitchFamily="34" charset="0"/>
                        </a:rPr>
                        <a:t>development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標楷體" panose="03000509000000000000" pitchFamily="65" charset="-12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標楷體" panose="03000509000000000000" pitchFamily="65" charset="-12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標楷體" panose="03000509000000000000" pitchFamily="65" charset="-12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475513606"/>
                  </a:ext>
                </a:extLst>
              </a:tr>
              <a:tr h="412721"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800" u="none" strike="noStrike">
                          <a:effectLst/>
                          <a:latin typeface="Arial" panose="020B0604020202020204" pitchFamily="34" charset="0"/>
                          <a:ea typeface="標楷體" panose="03000509000000000000" pitchFamily="65" charset="-120"/>
                          <a:cs typeface="Arial" panose="020B0604020202020204" pitchFamily="34" charset="0"/>
                        </a:rPr>
                        <a:t>　</a:t>
                      </a:r>
                      <a:endParaRPr lang="zh-TW" altLang="en-US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標楷體" panose="03000509000000000000" pitchFamily="65" charset="-12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u="none" strike="noStrike" dirty="0">
                          <a:effectLst/>
                          <a:latin typeface="Arial" panose="020B0604020202020204" pitchFamily="34" charset="0"/>
                          <a:ea typeface="標楷體" panose="03000509000000000000" pitchFamily="65" charset="-120"/>
                          <a:cs typeface="Arial" panose="020B0604020202020204" pitchFamily="34" charset="0"/>
                        </a:rPr>
                        <a:t>F1 score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標楷體" panose="03000509000000000000" pitchFamily="65" charset="-12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u="none" strike="noStrike">
                          <a:effectLst/>
                          <a:latin typeface="Arial" panose="020B0604020202020204" pitchFamily="34" charset="0"/>
                          <a:ea typeface="標楷體" panose="03000509000000000000" pitchFamily="65" charset="-120"/>
                          <a:cs typeface="Arial" panose="020B0604020202020204" pitchFamily="34" charset="0"/>
                        </a:rPr>
                        <a:t>Precision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標楷體" panose="03000509000000000000" pitchFamily="65" charset="-12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u="none" strike="noStrike">
                          <a:effectLst/>
                          <a:latin typeface="Arial" panose="020B0604020202020204" pitchFamily="34" charset="0"/>
                          <a:ea typeface="標楷體" panose="03000509000000000000" pitchFamily="65" charset="-120"/>
                          <a:cs typeface="Arial" panose="020B0604020202020204" pitchFamily="34" charset="0"/>
                        </a:rPr>
                        <a:t>Recall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標楷體" panose="03000509000000000000" pitchFamily="65" charset="-12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24442253"/>
                  </a:ext>
                </a:extLst>
              </a:tr>
              <a:tr h="412721"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u="none" strike="noStrike">
                          <a:effectLst/>
                          <a:latin typeface="Arial" panose="020B0604020202020204" pitchFamily="34" charset="0"/>
                          <a:ea typeface="標楷體" panose="03000509000000000000" pitchFamily="65" charset="-120"/>
                          <a:cs typeface="Arial" panose="020B0604020202020204" pitchFamily="34" charset="0"/>
                        </a:rPr>
                        <a:t>audio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標楷體" panose="03000509000000000000" pitchFamily="65" charset="-12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標楷體" panose="03000509000000000000" pitchFamily="65" charset="-120"/>
                          <a:cs typeface="Arial" panose="020B0604020202020204" pitchFamily="34" charset="0"/>
                        </a:rPr>
                        <a:t>0.483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標楷體" panose="03000509000000000000" pitchFamily="65" charset="-120"/>
                          <a:cs typeface="Arial" panose="020B0604020202020204" pitchFamily="34" charset="0"/>
                        </a:rPr>
                        <a:t>0.412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標楷體" panose="03000509000000000000" pitchFamily="65" charset="-120"/>
                          <a:cs typeface="Arial" panose="020B0604020202020204" pitchFamily="34" charset="0"/>
                        </a:rPr>
                        <a:t>0.583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598585950"/>
                  </a:ext>
                </a:extLst>
              </a:tr>
              <a:tr h="412721"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u="none" strike="noStrike">
                          <a:effectLst/>
                          <a:latin typeface="Arial" panose="020B0604020202020204" pitchFamily="34" charset="0"/>
                          <a:ea typeface="標楷體" panose="03000509000000000000" pitchFamily="65" charset="-120"/>
                          <a:cs typeface="Arial" panose="020B0604020202020204" pitchFamily="34" charset="0"/>
                        </a:rPr>
                        <a:t>audio2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標楷體" panose="03000509000000000000" pitchFamily="65" charset="-12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標楷體" panose="03000509000000000000" pitchFamily="65" charset="-120"/>
                          <a:cs typeface="Arial" panose="020B0604020202020204" pitchFamily="34" charset="0"/>
                        </a:rPr>
                        <a:t>0.516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標楷體" panose="03000509000000000000" pitchFamily="65" charset="-120"/>
                          <a:cs typeface="Arial" panose="020B0604020202020204" pitchFamily="34" charset="0"/>
                        </a:rPr>
                        <a:t>0.421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標楷體" panose="03000509000000000000" pitchFamily="65" charset="-120"/>
                          <a:cs typeface="Arial" panose="020B0604020202020204" pitchFamily="34" charset="0"/>
                        </a:rPr>
                        <a:t>0.667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831808837"/>
                  </a:ext>
                </a:extLst>
              </a:tr>
              <a:tr h="412721"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u="none" strike="noStrike">
                          <a:effectLst/>
                          <a:latin typeface="Arial" panose="020B0604020202020204" pitchFamily="34" charset="0"/>
                          <a:ea typeface="標楷體" panose="03000509000000000000" pitchFamily="65" charset="-120"/>
                          <a:cs typeface="Arial" panose="020B0604020202020204" pitchFamily="34" charset="0"/>
                        </a:rPr>
                        <a:t>audio3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標楷體" panose="03000509000000000000" pitchFamily="65" charset="-12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標楷體" panose="03000509000000000000" pitchFamily="65" charset="-120"/>
                          <a:cs typeface="Arial" panose="020B0604020202020204" pitchFamily="34" charset="0"/>
                        </a:rPr>
                        <a:t>0.438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標楷體" panose="03000509000000000000" pitchFamily="65" charset="-120"/>
                          <a:cs typeface="Arial" panose="020B0604020202020204" pitchFamily="34" charset="0"/>
                        </a:rPr>
                        <a:t>0.35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標楷體" panose="03000509000000000000" pitchFamily="65" charset="-120"/>
                          <a:cs typeface="Arial" panose="020B0604020202020204" pitchFamily="34" charset="0"/>
                        </a:rPr>
                        <a:t>0.583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132043657"/>
                  </a:ext>
                </a:extLst>
              </a:tr>
            </a:tbl>
          </a:graphicData>
        </a:graphic>
      </p:graphicFrame>
      <p:graphicFrame>
        <p:nvGraphicFramePr>
          <p:cNvPr id="11" name="表格 10">
            <a:extLst>
              <a:ext uri="{FF2B5EF4-FFF2-40B4-BE49-F238E27FC236}">
                <a16:creationId xmlns:a16="http://schemas.microsoft.com/office/drawing/2014/main" id="{B5059D93-FAB8-4D4D-9862-CA78BEB213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3763966"/>
              </p:ext>
            </p:extLst>
          </p:nvPr>
        </p:nvGraphicFramePr>
        <p:xfrm>
          <a:off x="360723" y="4114103"/>
          <a:ext cx="5618877" cy="247632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71503">
                  <a:extLst>
                    <a:ext uri="{9D8B030D-6E8A-4147-A177-3AD203B41FA5}">
                      <a16:colId xmlns:a16="http://schemas.microsoft.com/office/drawing/2014/main" val="709236260"/>
                    </a:ext>
                  </a:extLst>
                </a:gridCol>
                <a:gridCol w="1453532">
                  <a:extLst>
                    <a:ext uri="{9D8B030D-6E8A-4147-A177-3AD203B41FA5}">
                      <a16:colId xmlns:a16="http://schemas.microsoft.com/office/drawing/2014/main" val="2641914309"/>
                    </a:ext>
                  </a:extLst>
                </a:gridCol>
                <a:gridCol w="1540310">
                  <a:extLst>
                    <a:ext uri="{9D8B030D-6E8A-4147-A177-3AD203B41FA5}">
                      <a16:colId xmlns:a16="http://schemas.microsoft.com/office/drawing/2014/main" val="2466221871"/>
                    </a:ext>
                  </a:extLst>
                </a:gridCol>
                <a:gridCol w="1453532">
                  <a:extLst>
                    <a:ext uri="{9D8B030D-6E8A-4147-A177-3AD203B41FA5}">
                      <a16:colId xmlns:a16="http://schemas.microsoft.com/office/drawing/2014/main" val="1988667161"/>
                    </a:ext>
                  </a:extLst>
                </a:gridCol>
              </a:tblGrid>
              <a:tr h="412721"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800" u="none" strike="noStrike" dirty="0">
                          <a:effectLst/>
                          <a:latin typeface="Arial" panose="020B0604020202020204" pitchFamily="34" charset="0"/>
                          <a:ea typeface="標楷體" panose="03000509000000000000" pitchFamily="65" charset="-120"/>
                          <a:cs typeface="Arial" panose="020B0604020202020204" pitchFamily="34" charset="0"/>
                        </a:rPr>
                        <a:t>訓練</a:t>
                      </a:r>
                      <a:endParaRPr lang="zh-TW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標楷體" panose="03000509000000000000" pitchFamily="65" charset="-12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u="none" strike="noStrike" dirty="0">
                          <a:effectLst/>
                          <a:latin typeface="Arial" panose="020B0604020202020204" pitchFamily="34" charset="0"/>
                          <a:ea typeface="標楷體" panose="03000509000000000000" pitchFamily="65" charset="-120"/>
                          <a:cs typeface="Arial" panose="020B0604020202020204" pitchFamily="34" charset="0"/>
                        </a:rPr>
                        <a:t>train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標楷體" panose="03000509000000000000" pitchFamily="65" charset="-12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標楷體" panose="03000509000000000000" pitchFamily="65" charset="-12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標楷體" panose="03000509000000000000" pitchFamily="65" charset="-12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987623219"/>
                  </a:ext>
                </a:extLst>
              </a:tr>
              <a:tr h="412721"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800" u="none" strike="noStrike" dirty="0">
                          <a:effectLst/>
                          <a:latin typeface="Arial" panose="020B0604020202020204" pitchFamily="34" charset="0"/>
                          <a:ea typeface="標楷體" panose="03000509000000000000" pitchFamily="65" charset="-120"/>
                          <a:cs typeface="Arial" panose="020B0604020202020204" pitchFamily="34" charset="0"/>
                        </a:rPr>
                        <a:t>測試</a:t>
                      </a:r>
                      <a:endParaRPr lang="zh-TW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標楷體" panose="03000509000000000000" pitchFamily="65" charset="-12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u="none" strike="noStrike" dirty="0">
                          <a:effectLst/>
                          <a:latin typeface="Arial" panose="020B0604020202020204" pitchFamily="34" charset="0"/>
                          <a:ea typeface="標楷體" panose="03000509000000000000" pitchFamily="65" charset="-120"/>
                          <a:cs typeface="Arial" panose="020B0604020202020204" pitchFamily="34" charset="0"/>
                        </a:rPr>
                        <a:t>development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標楷體" panose="03000509000000000000" pitchFamily="65" charset="-12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標楷體" panose="03000509000000000000" pitchFamily="65" charset="-12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標楷體" panose="03000509000000000000" pitchFamily="65" charset="-12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475513606"/>
                  </a:ext>
                </a:extLst>
              </a:tr>
              <a:tr h="412721"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800" u="none" strike="noStrike">
                          <a:effectLst/>
                          <a:latin typeface="Arial" panose="020B0604020202020204" pitchFamily="34" charset="0"/>
                          <a:ea typeface="標楷體" panose="03000509000000000000" pitchFamily="65" charset="-120"/>
                          <a:cs typeface="Arial" panose="020B0604020202020204" pitchFamily="34" charset="0"/>
                        </a:rPr>
                        <a:t>　</a:t>
                      </a:r>
                      <a:endParaRPr lang="zh-TW" altLang="en-US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標楷體" panose="03000509000000000000" pitchFamily="65" charset="-12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u="none" strike="noStrike" dirty="0">
                          <a:effectLst/>
                          <a:latin typeface="Arial" panose="020B0604020202020204" pitchFamily="34" charset="0"/>
                          <a:ea typeface="標楷體" panose="03000509000000000000" pitchFamily="65" charset="-120"/>
                          <a:cs typeface="Arial" panose="020B0604020202020204" pitchFamily="34" charset="0"/>
                        </a:rPr>
                        <a:t>F1 score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標楷體" panose="03000509000000000000" pitchFamily="65" charset="-12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u="none" strike="noStrike">
                          <a:effectLst/>
                          <a:latin typeface="Arial" panose="020B0604020202020204" pitchFamily="34" charset="0"/>
                          <a:ea typeface="標楷體" panose="03000509000000000000" pitchFamily="65" charset="-120"/>
                          <a:cs typeface="Arial" panose="020B0604020202020204" pitchFamily="34" charset="0"/>
                        </a:rPr>
                        <a:t>Precision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標楷體" panose="03000509000000000000" pitchFamily="65" charset="-12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u="none" strike="noStrike">
                          <a:effectLst/>
                          <a:latin typeface="Arial" panose="020B0604020202020204" pitchFamily="34" charset="0"/>
                          <a:ea typeface="標楷體" panose="03000509000000000000" pitchFamily="65" charset="-120"/>
                          <a:cs typeface="Arial" panose="020B0604020202020204" pitchFamily="34" charset="0"/>
                        </a:rPr>
                        <a:t>Recall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標楷體" panose="03000509000000000000" pitchFamily="65" charset="-12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24442253"/>
                  </a:ext>
                </a:extLst>
              </a:tr>
              <a:tr h="412721"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u="none" strike="noStrike">
                          <a:effectLst/>
                          <a:latin typeface="Arial" panose="020B0604020202020204" pitchFamily="34" charset="0"/>
                          <a:ea typeface="標楷體" panose="03000509000000000000" pitchFamily="65" charset="-120"/>
                          <a:cs typeface="Arial" panose="020B0604020202020204" pitchFamily="34" charset="0"/>
                        </a:rPr>
                        <a:t>audio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標楷體" panose="03000509000000000000" pitchFamily="65" charset="-12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標楷體" panose="03000509000000000000" pitchFamily="65" charset="-120"/>
                          <a:cs typeface="Arial" panose="020B0604020202020204" pitchFamily="34" charset="0"/>
                        </a:rPr>
                        <a:t>0.486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標楷體" panose="03000509000000000000" pitchFamily="65" charset="-120"/>
                          <a:cs typeface="Arial" panose="020B0604020202020204" pitchFamily="34" charset="0"/>
                        </a:rPr>
                        <a:t>0.36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標楷體" panose="03000509000000000000" pitchFamily="65" charset="-120"/>
                          <a:cs typeface="Arial" panose="020B0604020202020204" pitchFamily="34" charset="0"/>
                        </a:rPr>
                        <a:t>0.75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598585950"/>
                  </a:ext>
                </a:extLst>
              </a:tr>
              <a:tr h="412721"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u="none" strike="noStrike">
                          <a:effectLst/>
                          <a:latin typeface="Arial" panose="020B0604020202020204" pitchFamily="34" charset="0"/>
                          <a:ea typeface="標楷體" panose="03000509000000000000" pitchFamily="65" charset="-120"/>
                          <a:cs typeface="Arial" panose="020B0604020202020204" pitchFamily="34" charset="0"/>
                        </a:rPr>
                        <a:t>audio2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標楷體" panose="03000509000000000000" pitchFamily="65" charset="-12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標楷體" panose="03000509000000000000" pitchFamily="65" charset="-120"/>
                          <a:cs typeface="Arial" panose="020B0604020202020204" pitchFamily="34" charset="0"/>
                        </a:rPr>
                        <a:t>0.476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標楷體" panose="03000509000000000000" pitchFamily="65" charset="-120"/>
                          <a:cs typeface="Arial" panose="020B0604020202020204" pitchFamily="34" charset="0"/>
                        </a:rPr>
                        <a:t>0.556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標楷體" panose="03000509000000000000" pitchFamily="65" charset="-120"/>
                          <a:cs typeface="Arial" panose="020B0604020202020204" pitchFamily="34" charset="0"/>
                        </a:rPr>
                        <a:t>0.417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831808837"/>
                  </a:ext>
                </a:extLst>
              </a:tr>
              <a:tr h="412721"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u="none" strike="noStrike">
                          <a:effectLst/>
                          <a:latin typeface="Arial" panose="020B0604020202020204" pitchFamily="34" charset="0"/>
                          <a:ea typeface="標楷體" panose="03000509000000000000" pitchFamily="65" charset="-120"/>
                          <a:cs typeface="Arial" panose="020B0604020202020204" pitchFamily="34" charset="0"/>
                        </a:rPr>
                        <a:t>audio3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標楷體" panose="03000509000000000000" pitchFamily="65" charset="-12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標楷體" panose="03000509000000000000" pitchFamily="65" charset="-120"/>
                          <a:cs typeface="Arial" panose="020B0604020202020204" pitchFamily="34" charset="0"/>
                        </a:rPr>
                        <a:t>0.64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標楷體" panose="03000509000000000000" pitchFamily="65" charset="-120"/>
                          <a:cs typeface="Arial" panose="020B0604020202020204" pitchFamily="34" charset="0"/>
                        </a:rPr>
                        <a:t>0.615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標楷體" panose="03000509000000000000" pitchFamily="65" charset="-120"/>
                          <a:cs typeface="Arial" panose="020B0604020202020204" pitchFamily="34" charset="0"/>
                        </a:rPr>
                        <a:t>0.667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1320436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0209837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圖片 7">
            <a:extLst>
              <a:ext uri="{FF2B5EF4-FFF2-40B4-BE49-F238E27FC236}">
                <a16:creationId xmlns:a16="http://schemas.microsoft.com/office/drawing/2014/main" id="{0C41A3CE-DD0C-4EEA-AC33-7B76B41289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3832102"/>
            <a:ext cx="6096000" cy="3048000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8F8C7F97-79A2-427A-B7A3-EDC504673D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" y="844591"/>
            <a:ext cx="6096000" cy="3048000"/>
          </a:xfrm>
          <a:prstGeom prst="rect">
            <a:avLst/>
          </a:prstGeom>
        </p:spPr>
      </p:pic>
      <p:sp>
        <p:nvSpPr>
          <p:cNvPr id="5" name="標題 1">
            <a:extLst>
              <a:ext uri="{FF2B5EF4-FFF2-40B4-BE49-F238E27FC236}">
                <a16:creationId xmlns:a16="http://schemas.microsoft.com/office/drawing/2014/main" id="{52C9CFC8-97B7-40C2-88BC-4B89FD014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8255"/>
            <a:ext cx="10906387" cy="1325563"/>
          </a:xfrm>
        </p:spPr>
        <p:txBody>
          <a:bodyPr>
            <a:normAutofit/>
          </a:bodyPr>
          <a:lstStyle/>
          <a:p>
            <a:r>
              <a:rPr lang="zh-TW" altLang="en-US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第一組</a:t>
            </a:r>
            <a:r>
              <a:rPr lang="en-US" altLang="zh-TW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, Audio: a, </a:t>
            </a:r>
            <a:r>
              <a:rPr lang="zh-TW" altLang="en-US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訓練</a:t>
            </a:r>
            <a:r>
              <a:rPr lang="en-US" altLang="zh-TW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: train set, </a:t>
            </a:r>
            <a:r>
              <a:rPr lang="zh-TW" altLang="en-US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測試</a:t>
            </a:r>
            <a:r>
              <a:rPr lang="en-US" altLang="zh-TW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: development set</a:t>
            </a:r>
          </a:p>
        </p:txBody>
      </p:sp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89D7743D-A038-42D5-A08A-57BCFCBC10B9}"/>
              </a:ext>
            </a:extLst>
          </p:cNvPr>
          <p:cNvSpPr txBox="1">
            <a:spLocks/>
          </p:cNvSpPr>
          <p:nvPr/>
        </p:nvSpPr>
        <p:spPr>
          <a:xfrm>
            <a:off x="838199" y="1343818"/>
            <a:ext cx="10515600" cy="5313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altLang="zh-TW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TW" sz="2400" dirty="0">
              <a:ea typeface="標楷體" panose="03000509000000000000" pitchFamily="65" charset="-120"/>
            </a:endParaRPr>
          </a:p>
        </p:txBody>
      </p:sp>
      <p:pic>
        <p:nvPicPr>
          <p:cNvPr id="12" name="圖片 11">
            <a:extLst>
              <a:ext uri="{FF2B5EF4-FFF2-40B4-BE49-F238E27FC236}">
                <a16:creationId xmlns:a16="http://schemas.microsoft.com/office/drawing/2014/main" id="{B8E9E442-0FF4-43DA-B76A-23F38F03627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5997" y="1606591"/>
            <a:ext cx="609600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841445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圖片 9">
            <a:extLst>
              <a:ext uri="{FF2B5EF4-FFF2-40B4-BE49-F238E27FC236}">
                <a16:creationId xmlns:a16="http://schemas.microsoft.com/office/drawing/2014/main" id="{9FFDBB6C-4820-4701-B3A3-7BBCE382AD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743438"/>
            <a:ext cx="6258187" cy="3129094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5361010A-80CA-4296-B199-6C4501171D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789285"/>
            <a:ext cx="6422472" cy="3211236"/>
          </a:xfrm>
          <a:prstGeom prst="rect">
            <a:avLst/>
          </a:prstGeom>
        </p:spPr>
      </p:pic>
      <p:sp>
        <p:nvSpPr>
          <p:cNvPr id="5" name="標題 1">
            <a:extLst>
              <a:ext uri="{FF2B5EF4-FFF2-40B4-BE49-F238E27FC236}">
                <a16:creationId xmlns:a16="http://schemas.microsoft.com/office/drawing/2014/main" id="{52C9CFC8-97B7-40C2-88BC-4B89FD014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8255"/>
            <a:ext cx="10906387" cy="1325563"/>
          </a:xfrm>
        </p:spPr>
        <p:txBody>
          <a:bodyPr>
            <a:normAutofit/>
          </a:bodyPr>
          <a:lstStyle/>
          <a:p>
            <a:r>
              <a:rPr lang="zh-TW" altLang="en-US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第一組</a:t>
            </a:r>
            <a:r>
              <a:rPr lang="en-US" altLang="zh-TW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, Audio: a2, </a:t>
            </a:r>
            <a:r>
              <a:rPr lang="zh-TW" altLang="en-US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訓練</a:t>
            </a:r>
            <a:r>
              <a:rPr lang="en-US" altLang="zh-TW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: train set, </a:t>
            </a:r>
            <a:r>
              <a:rPr lang="zh-TW" altLang="en-US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測試</a:t>
            </a:r>
            <a:r>
              <a:rPr lang="en-US" altLang="zh-TW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: development set</a:t>
            </a:r>
          </a:p>
        </p:txBody>
      </p:sp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89D7743D-A038-42D5-A08A-57BCFCBC10B9}"/>
              </a:ext>
            </a:extLst>
          </p:cNvPr>
          <p:cNvSpPr txBox="1">
            <a:spLocks/>
          </p:cNvSpPr>
          <p:nvPr/>
        </p:nvSpPr>
        <p:spPr>
          <a:xfrm>
            <a:off x="838199" y="1343818"/>
            <a:ext cx="10515600" cy="5313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altLang="zh-TW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TW" sz="2400" dirty="0">
              <a:ea typeface="標楷體" panose="03000509000000000000" pitchFamily="65" charset="-120"/>
            </a:endParaRPr>
          </a:p>
        </p:txBody>
      </p:sp>
      <p:pic>
        <p:nvPicPr>
          <p:cNvPr id="12" name="圖片 11">
            <a:extLst>
              <a:ext uri="{FF2B5EF4-FFF2-40B4-BE49-F238E27FC236}">
                <a16:creationId xmlns:a16="http://schemas.microsoft.com/office/drawing/2014/main" id="{CAAC4E3A-CED1-4203-8AF0-A03D55E608C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50560" y="1562450"/>
            <a:ext cx="609600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877650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圖片 10">
            <a:extLst>
              <a:ext uri="{FF2B5EF4-FFF2-40B4-BE49-F238E27FC236}">
                <a16:creationId xmlns:a16="http://schemas.microsoft.com/office/drawing/2014/main" id="{A422BF3C-2A23-4318-B3A7-4716AA25FA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652110"/>
            <a:ext cx="6249798" cy="3124899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AC11B611-A056-461F-98B8-033FA12604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764097"/>
            <a:ext cx="6249798" cy="3124900"/>
          </a:xfrm>
          <a:prstGeom prst="rect">
            <a:avLst/>
          </a:prstGeom>
        </p:spPr>
      </p:pic>
      <p:sp>
        <p:nvSpPr>
          <p:cNvPr id="5" name="標題 1">
            <a:extLst>
              <a:ext uri="{FF2B5EF4-FFF2-40B4-BE49-F238E27FC236}">
                <a16:creationId xmlns:a16="http://schemas.microsoft.com/office/drawing/2014/main" id="{52C9CFC8-97B7-40C2-88BC-4B89FD014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8255"/>
            <a:ext cx="10906387" cy="1325563"/>
          </a:xfrm>
        </p:spPr>
        <p:txBody>
          <a:bodyPr>
            <a:normAutofit/>
          </a:bodyPr>
          <a:lstStyle/>
          <a:p>
            <a:r>
              <a:rPr lang="zh-TW" altLang="en-US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第一組</a:t>
            </a:r>
            <a:r>
              <a:rPr lang="en-US" altLang="zh-TW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, Audio: a3, </a:t>
            </a:r>
            <a:r>
              <a:rPr lang="zh-TW" altLang="en-US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訓練</a:t>
            </a:r>
            <a:r>
              <a:rPr lang="en-US" altLang="zh-TW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: train set, </a:t>
            </a:r>
            <a:r>
              <a:rPr lang="zh-TW" altLang="en-US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測試</a:t>
            </a:r>
            <a:r>
              <a:rPr lang="en-US" altLang="zh-TW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: development set</a:t>
            </a:r>
          </a:p>
        </p:txBody>
      </p:sp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89D7743D-A038-42D5-A08A-57BCFCBC10B9}"/>
              </a:ext>
            </a:extLst>
          </p:cNvPr>
          <p:cNvSpPr txBox="1">
            <a:spLocks/>
          </p:cNvSpPr>
          <p:nvPr/>
        </p:nvSpPr>
        <p:spPr>
          <a:xfrm>
            <a:off x="838199" y="1343818"/>
            <a:ext cx="10515600" cy="5313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altLang="zh-TW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TW" sz="2400" dirty="0">
              <a:ea typeface="標楷體" panose="03000509000000000000" pitchFamily="65" charset="-120"/>
            </a:endParaRPr>
          </a:p>
        </p:txBody>
      </p:sp>
      <p:pic>
        <p:nvPicPr>
          <p:cNvPr id="13" name="圖片 12">
            <a:extLst>
              <a:ext uri="{FF2B5EF4-FFF2-40B4-BE49-F238E27FC236}">
                <a16:creationId xmlns:a16="http://schemas.microsoft.com/office/drawing/2014/main" id="{5C8ADB59-9831-40AE-8BAA-F7150DE9653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00256" y="1366110"/>
            <a:ext cx="609600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637794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>
            <a:extLst>
              <a:ext uri="{FF2B5EF4-FFF2-40B4-BE49-F238E27FC236}">
                <a16:creationId xmlns:a16="http://schemas.microsoft.com/office/drawing/2014/main" id="{C6087947-E1AA-47B1-9D17-4711DC9DBA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224" y="3810000"/>
            <a:ext cx="6096000" cy="3048000"/>
          </a:xfrm>
          <a:prstGeom prst="rect">
            <a:avLst/>
          </a:prstGeom>
        </p:spPr>
      </p:pic>
      <p:pic>
        <p:nvPicPr>
          <p:cNvPr id="3" name="圖片 2">
            <a:extLst>
              <a:ext uri="{FF2B5EF4-FFF2-40B4-BE49-F238E27FC236}">
                <a16:creationId xmlns:a16="http://schemas.microsoft.com/office/drawing/2014/main" id="{0B5BFA7E-BA7A-4941-93D6-A2750B4285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771787"/>
            <a:ext cx="6576970" cy="3288485"/>
          </a:xfrm>
          <a:prstGeom prst="rect">
            <a:avLst/>
          </a:prstGeom>
        </p:spPr>
      </p:pic>
      <p:sp>
        <p:nvSpPr>
          <p:cNvPr id="5" name="標題 1">
            <a:extLst>
              <a:ext uri="{FF2B5EF4-FFF2-40B4-BE49-F238E27FC236}">
                <a16:creationId xmlns:a16="http://schemas.microsoft.com/office/drawing/2014/main" id="{52C9CFC8-97B7-40C2-88BC-4B89FD014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8255"/>
            <a:ext cx="10906387" cy="1325563"/>
          </a:xfrm>
        </p:spPr>
        <p:txBody>
          <a:bodyPr>
            <a:normAutofit/>
          </a:bodyPr>
          <a:lstStyle/>
          <a:p>
            <a:r>
              <a:rPr lang="zh-TW" altLang="en-US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第二組</a:t>
            </a:r>
            <a:r>
              <a:rPr lang="en-US" altLang="zh-TW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, Audio: a, </a:t>
            </a:r>
            <a:r>
              <a:rPr lang="zh-TW" altLang="en-US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訓練</a:t>
            </a:r>
            <a:r>
              <a:rPr lang="en-US" altLang="zh-TW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: train set, </a:t>
            </a:r>
            <a:r>
              <a:rPr lang="zh-TW" altLang="en-US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測試</a:t>
            </a:r>
            <a:r>
              <a:rPr lang="en-US" altLang="zh-TW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: development set</a:t>
            </a:r>
          </a:p>
        </p:txBody>
      </p:sp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89D7743D-A038-42D5-A08A-57BCFCBC10B9}"/>
              </a:ext>
            </a:extLst>
          </p:cNvPr>
          <p:cNvSpPr txBox="1">
            <a:spLocks/>
          </p:cNvSpPr>
          <p:nvPr/>
        </p:nvSpPr>
        <p:spPr>
          <a:xfrm>
            <a:off x="838199" y="1343818"/>
            <a:ext cx="10515600" cy="5313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altLang="zh-TW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TW" sz="2400" dirty="0">
              <a:ea typeface="標楷體" panose="03000509000000000000" pitchFamily="65" charset="-120"/>
            </a:endParaRPr>
          </a:p>
        </p:txBody>
      </p:sp>
      <p:pic>
        <p:nvPicPr>
          <p:cNvPr id="11" name="圖片 10">
            <a:extLst>
              <a:ext uri="{FF2B5EF4-FFF2-40B4-BE49-F238E27FC236}">
                <a16:creationId xmlns:a16="http://schemas.microsoft.com/office/drawing/2014/main" id="{68950FCD-0F97-4079-B323-BD118C6528F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1514213"/>
            <a:ext cx="609600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358364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>
            <a:extLst>
              <a:ext uri="{FF2B5EF4-FFF2-40B4-BE49-F238E27FC236}">
                <a16:creationId xmlns:a16="http://schemas.microsoft.com/office/drawing/2014/main" id="{5DA2A4B6-40B5-437B-A7AB-C3A3CB3E87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08" y="3749878"/>
            <a:ext cx="6216241" cy="3108121"/>
          </a:xfrm>
          <a:prstGeom prst="rect">
            <a:avLst/>
          </a:prstGeom>
        </p:spPr>
      </p:pic>
      <p:pic>
        <p:nvPicPr>
          <p:cNvPr id="3" name="圖片 2">
            <a:extLst>
              <a:ext uri="{FF2B5EF4-FFF2-40B4-BE49-F238E27FC236}">
                <a16:creationId xmlns:a16="http://schemas.microsoft.com/office/drawing/2014/main" id="{3DD02E26-B3FA-4415-BB7C-5FF547F573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772486"/>
            <a:ext cx="6375633" cy="3187817"/>
          </a:xfrm>
          <a:prstGeom prst="rect">
            <a:avLst/>
          </a:prstGeom>
        </p:spPr>
      </p:pic>
      <p:sp>
        <p:nvSpPr>
          <p:cNvPr id="5" name="標題 1">
            <a:extLst>
              <a:ext uri="{FF2B5EF4-FFF2-40B4-BE49-F238E27FC236}">
                <a16:creationId xmlns:a16="http://schemas.microsoft.com/office/drawing/2014/main" id="{52C9CFC8-97B7-40C2-88BC-4B89FD014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8255"/>
            <a:ext cx="10906387" cy="1325563"/>
          </a:xfrm>
        </p:spPr>
        <p:txBody>
          <a:bodyPr>
            <a:normAutofit/>
          </a:bodyPr>
          <a:lstStyle/>
          <a:p>
            <a:r>
              <a:rPr lang="zh-TW" altLang="en-US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第二組</a:t>
            </a:r>
            <a:r>
              <a:rPr lang="en-US" altLang="zh-TW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, Audio: a2, </a:t>
            </a:r>
            <a:r>
              <a:rPr lang="zh-TW" altLang="en-US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訓練</a:t>
            </a:r>
            <a:r>
              <a:rPr lang="en-US" altLang="zh-TW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: train set, </a:t>
            </a:r>
            <a:r>
              <a:rPr lang="zh-TW" altLang="en-US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測試</a:t>
            </a:r>
            <a:r>
              <a:rPr lang="en-US" altLang="zh-TW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: development set</a:t>
            </a:r>
          </a:p>
        </p:txBody>
      </p:sp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89D7743D-A038-42D5-A08A-57BCFCBC10B9}"/>
              </a:ext>
            </a:extLst>
          </p:cNvPr>
          <p:cNvSpPr txBox="1">
            <a:spLocks/>
          </p:cNvSpPr>
          <p:nvPr/>
        </p:nvSpPr>
        <p:spPr>
          <a:xfrm>
            <a:off x="838199" y="1343818"/>
            <a:ext cx="10515600" cy="5313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altLang="zh-TW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TW" sz="2400" dirty="0">
              <a:ea typeface="標楷體" panose="03000509000000000000" pitchFamily="65" charset="-120"/>
            </a:endParaRPr>
          </a:p>
        </p:txBody>
      </p:sp>
      <p:pic>
        <p:nvPicPr>
          <p:cNvPr id="11" name="圖片 10">
            <a:extLst>
              <a:ext uri="{FF2B5EF4-FFF2-40B4-BE49-F238E27FC236}">
                <a16:creationId xmlns:a16="http://schemas.microsoft.com/office/drawing/2014/main" id="{6E927BB1-AB4A-4A87-AD59-7452893628D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61108" y="1463878"/>
            <a:ext cx="609600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732475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064BEC98-7D65-4241-B5FF-CF98EF3466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55009"/>
            <a:ext cx="6274965" cy="3137483"/>
          </a:xfrm>
          <a:prstGeom prst="rect">
            <a:avLst/>
          </a:prstGeom>
        </p:spPr>
      </p:pic>
      <p:sp>
        <p:nvSpPr>
          <p:cNvPr id="5" name="標題 1">
            <a:extLst>
              <a:ext uri="{FF2B5EF4-FFF2-40B4-BE49-F238E27FC236}">
                <a16:creationId xmlns:a16="http://schemas.microsoft.com/office/drawing/2014/main" id="{52C9CFC8-97B7-40C2-88BC-4B89FD014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8255"/>
            <a:ext cx="10906387" cy="1325563"/>
          </a:xfrm>
        </p:spPr>
        <p:txBody>
          <a:bodyPr>
            <a:normAutofit/>
          </a:bodyPr>
          <a:lstStyle/>
          <a:p>
            <a:r>
              <a:rPr lang="zh-TW" altLang="en-US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第二組</a:t>
            </a:r>
            <a:r>
              <a:rPr lang="en-US" altLang="zh-TW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, Audio: a3, </a:t>
            </a:r>
            <a:r>
              <a:rPr lang="zh-TW" altLang="en-US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訓練</a:t>
            </a:r>
            <a:r>
              <a:rPr lang="en-US" altLang="zh-TW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: train set, </a:t>
            </a:r>
            <a:r>
              <a:rPr lang="zh-TW" altLang="en-US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測試</a:t>
            </a:r>
            <a:r>
              <a:rPr lang="en-US" altLang="zh-TW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: development set</a:t>
            </a:r>
          </a:p>
        </p:txBody>
      </p:sp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89D7743D-A038-42D5-A08A-57BCFCBC10B9}"/>
              </a:ext>
            </a:extLst>
          </p:cNvPr>
          <p:cNvSpPr txBox="1">
            <a:spLocks/>
          </p:cNvSpPr>
          <p:nvPr/>
        </p:nvSpPr>
        <p:spPr>
          <a:xfrm>
            <a:off x="838199" y="1343818"/>
            <a:ext cx="10515600" cy="5313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altLang="zh-TW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TW" sz="2400" dirty="0">
              <a:ea typeface="標楷體" panose="03000509000000000000" pitchFamily="65" charset="-120"/>
            </a:endParaRPr>
          </a:p>
        </p:txBody>
      </p:sp>
      <p:pic>
        <p:nvPicPr>
          <p:cNvPr id="10" name="圖片 9">
            <a:extLst>
              <a:ext uri="{FF2B5EF4-FFF2-40B4-BE49-F238E27FC236}">
                <a16:creationId xmlns:a16="http://schemas.microsoft.com/office/drawing/2014/main" id="{5136F6E0-B2DD-4972-A93E-FA65573F6F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427" y="3706117"/>
            <a:ext cx="6274965" cy="3137483"/>
          </a:xfrm>
          <a:prstGeom prst="rect">
            <a:avLst/>
          </a:prstGeom>
        </p:spPr>
      </p:pic>
      <p:pic>
        <p:nvPicPr>
          <p:cNvPr id="14" name="圖片 13">
            <a:extLst>
              <a:ext uri="{FF2B5EF4-FFF2-40B4-BE49-F238E27FC236}">
                <a16:creationId xmlns:a16="http://schemas.microsoft.com/office/drawing/2014/main" id="{0CB4E2CF-8696-4336-91EC-1D9F070D786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61776" y="1420117"/>
            <a:ext cx="609600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447308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圖片 5">
            <a:extLst>
              <a:ext uri="{FF2B5EF4-FFF2-40B4-BE49-F238E27FC236}">
                <a16:creationId xmlns:a16="http://schemas.microsoft.com/office/drawing/2014/main" id="{A31814E7-A51B-41AE-8734-4C8CB80609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979" y="3776793"/>
            <a:ext cx="6162413" cy="3081207"/>
          </a:xfrm>
          <a:prstGeom prst="rect">
            <a:avLst/>
          </a:prstGeom>
        </p:spPr>
      </p:pic>
      <p:pic>
        <p:nvPicPr>
          <p:cNvPr id="3" name="圖片 2">
            <a:extLst>
              <a:ext uri="{FF2B5EF4-FFF2-40B4-BE49-F238E27FC236}">
                <a16:creationId xmlns:a16="http://schemas.microsoft.com/office/drawing/2014/main" id="{A240162F-260F-4174-8D17-81A6FE2980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" y="727975"/>
            <a:ext cx="6350466" cy="3175233"/>
          </a:xfrm>
          <a:prstGeom prst="rect">
            <a:avLst/>
          </a:prstGeom>
        </p:spPr>
      </p:pic>
      <p:sp>
        <p:nvSpPr>
          <p:cNvPr id="5" name="標題 1">
            <a:extLst>
              <a:ext uri="{FF2B5EF4-FFF2-40B4-BE49-F238E27FC236}">
                <a16:creationId xmlns:a16="http://schemas.microsoft.com/office/drawing/2014/main" id="{52C9CFC8-97B7-40C2-88BC-4B89FD014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8255"/>
            <a:ext cx="10906387" cy="1325563"/>
          </a:xfrm>
        </p:spPr>
        <p:txBody>
          <a:bodyPr>
            <a:normAutofit/>
          </a:bodyPr>
          <a:lstStyle/>
          <a:p>
            <a:r>
              <a:rPr lang="zh-TW" altLang="en-US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第三組</a:t>
            </a:r>
            <a:r>
              <a:rPr lang="en-US" altLang="zh-TW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, Audio: a, </a:t>
            </a:r>
            <a:r>
              <a:rPr lang="zh-TW" altLang="en-US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訓練</a:t>
            </a:r>
            <a:r>
              <a:rPr lang="en-US" altLang="zh-TW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: train set, </a:t>
            </a:r>
            <a:r>
              <a:rPr lang="zh-TW" altLang="en-US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測試</a:t>
            </a:r>
            <a:r>
              <a:rPr lang="en-US" altLang="zh-TW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: development set</a:t>
            </a:r>
          </a:p>
        </p:txBody>
      </p:sp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89D7743D-A038-42D5-A08A-57BCFCBC10B9}"/>
              </a:ext>
            </a:extLst>
          </p:cNvPr>
          <p:cNvSpPr txBox="1">
            <a:spLocks/>
          </p:cNvSpPr>
          <p:nvPr/>
        </p:nvSpPr>
        <p:spPr>
          <a:xfrm>
            <a:off x="838199" y="1343818"/>
            <a:ext cx="10515600" cy="5313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altLang="zh-TW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TW" sz="2400" dirty="0">
              <a:ea typeface="標楷體" panose="03000509000000000000" pitchFamily="65" charset="-120"/>
            </a:endParaRP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E7644C8D-E9A5-4707-B42E-E5759F12C3C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67019" y="1490793"/>
            <a:ext cx="609600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444187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圖片 5">
            <a:extLst>
              <a:ext uri="{FF2B5EF4-FFF2-40B4-BE49-F238E27FC236}">
                <a16:creationId xmlns:a16="http://schemas.microsoft.com/office/drawing/2014/main" id="{29519DC8-A578-4499-984C-04D5A96B1B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684345"/>
            <a:ext cx="6380527" cy="3190264"/>
          </a:xfrm>
          <a:prstGeom prst="rect">
            <a:avLst/>
          </a:prstGeom>
        </p:spPr>
      </p:pic>
      <p:pic>
        <p:nvPicPr>
          <p:cNvPr id="3" name="圖片 2">
            <a:extLst>
              <a:ext uri="{FF2B5EF4-FFF2-40B4-BE49-F238E27FC236}">
                <a16:creationId xmlns:a16="http://schemas.microsoft.com/office/drawing/2014/main" id="{D19D277D-3DE0-47A1-943C-3DF0A70B5D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81036"/>
            <a:ext cx="6380528" cy="3190264"/>
          </a:xfrm>
          <a:prstGeom prst="rect">
            <a:avLst/>
          </a:prstGeom>
        </p:spPr>
      </p:pic>
      <p:sp>
        <p:nvSpPr>
          <p:cNvPr id="5" name="標題 1">
            <a:extLst>
              <a:ext uri="{FF2B5EF4-FFF2-40B4-BE49-F238E27FC236}">
                <a16:creationId xmlns:a16="http://schemas.microsoft.com/office/drawing/2014/main" id="{52C9CFC8-97B7-40C2-88BC-4B89FD014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8255"/>
            <a:ext cx="10906387" cy="1325563"/>
          </a:xfrm>
        </p:spPr>
        <p:txBody>
          <a:bodyPr>
            <a:normAutofit/>
          </a:bodyPr>
          <a:lstStyle/>
          <a:p>
            <a:r>
              <a:rPr lang="zh-TW" altLang="en-US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第三組</a:t>
            </a:r>
            <a:r>
              <a:rPr lang="en-US" altLang="zh-TW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, Audio: a2, </a:t>
            </a:r>
            <a:r>
              <a:rPr lang="zh-TW" altLang="en-US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訓練</a:t>
            </a:r>
            <a:r>
              <a:rPr lang="en-US" altLang="zh-TW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: train set, </a:t>
            </a:r>
            <a:r>
              <a:rPr lang="zh-TW" altLang="en-US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測試</a:t>
            </a:r>
            <a:r>
              <a:rPr lang="en-US" altLang="zh-TW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: development set</a:t>
            </a:r>
          </a:p>
        </p:txBody>
      </p:sp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89D7743D-A038-42D5-A08A-57BCFCBC10B9}"/>
              </a:ext>
            </a:extLst>
          </p:cNvPr>
          <p:cNvSpPr txBox="1">
            <a:spLocks/>
          </p:cNvSpPr>
          <p:nvPr/>
        </p:nvSpPr>
        <p:spPr>
          <a:xfrm>
            <a:off x="854279" y="1343818"/>
            <a:ext cx="10515600" cy="5313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altLang="zh-TW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TW" sz="2400" dirty="0">
              <a:ea typeface="標楷體" panose="03000509000000000000" pitchFamily="65" charset="-120"/>
            </a:endParaRP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3C221D08-A990-4284-9FF5-06D636620EE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14556" y="1398345"/>
            <a:ext cx="609600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944922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圖片 5">
            <a:extLst>
              <a:ext uri="{FF2B5EF4-FFF2-40B4-BE49-F238E27FC236}">
                <a16:creationId xmlns:a16="http://schemas.microsoft.com/office/drawing/2014/main" id="{AD5B2151-30CC-4170-948B-980B40FA65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706458"/>
            <a:ext cx="6266576" cy="3133288"/>
          </a:xfrm>
          <a:prstGeom prst="rect">
            <a:avLst/>
          </a:prstGeom>
        </p:spPr>
      </p:pic>
      <p:pic>
        <p:nvPicPr>
          <p:cNvPr id="3" name="圖片 2">
            <a:extLst>
              <a:ext uri="{FF2B5EF4-FFF2-40B4-BE49-F238E27FC236}">
                <a16:creationId xmlns:a16="http://schemas.microsoft.com/office/drawing/2014/main" id="{04F8C1F7-1234-46F1-B9D8-E16B78F4FC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806392"/>
            <a:ext cx="6266576" cy="3133288"/>
          </a:xfrm>
          <a:prstGeom prst="rect">
            <a:avLst/>
          </a:prstGeom>
        </p:spPr>
      </p:pic>
      <p:sp>
        <p:nvSpPr>
          <p:cNvPr id="5" name="標題 1">
            <a:extLst>
              <a:ext uri="{FF2B5EF4-FFF2-40B4-BE49-F238E27FC236}">
                <a16:creationId xmlns:a16="http://schemas.microsoft.com/office/drawing/2014/main" id="{52C9CFC8-97B7-40C2-88BC-4B89FD014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8255"/>
            <a:ext cx="10906387" cy="1325563"/>
          </a:xfrm>
        </p:spPr>
        <p:txBody>
          <a:bodyPr>
            <a:normAutofit/>
          </a:bodyPr>
          <a:lstStyle/>
          <a:p>
            <a:r>
              <a:rPr lang="zh-TW" altLang="en-US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第三組</a:t>
            </a:r>
            <a:r>
              <a:rPr lang="en-US" altLang="zh-TW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, Audio: a3, </a:t>
            </a:r>
            <a:r>
              <a:rPr lang="zh-TW" altLang="en-US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訓練</a:t>
            </a:r>
            <a:r>
              <a:rPr lang="en-US" altLang="zh-TW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: train set, </a:t>
            </a:r>
            <a:r>
              <a:rPr lang="zh-TW" altLang="en-US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測試</a:t>
            </a:r>
            <a:r>
              <a:rPr lang="en-US" altLang="zh-TW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: development set</a:t>
            </a:r>
          </a:p>
        </p:txBody>
      </p:sp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89D7743D-A038-42D5-A08A-57BCFCBC10B9}"/>
              </a:ext>
            </a:extLst>
          </p:cNvPr>
          <p:cNvSpPr txBox="1">
            <a:spLocks/>
          </p:cNvSpPr>
          <p:nvPr/>
        </p:nvSpPr>
        <p:spPr>
          <a:xfrm>
            <a:off x="838199" y="1343818"/>
            <a:ext cx="10515600" cy="5313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altLang="zh-TW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TW" sz="2400" dirty="0">
              <a:ea typeface="標楷體" panose="03000509000000000000" pitchFamily="65" charset="-120"/>
            </a:endParaRP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1324DD3A-1C3C-4973-9E9D-710EDE66BA5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49923" y="1420458"/>
            <a:ext cx="609600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780062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AD0B77E6-7C63-4740-AC95-C09B87EC25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7540591"/>
              </p:ext>
            </p:extLst>
          </p:nvPr>
        </p:nvGraphicFramePr>
        <p:xfrm>
          <a:off x="3461682" y="3429000"/>
          <a:ext cx="5268636" cy="247632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98480">
                  <a:extLst>
                    <a:ext uri="{9D8B030D-6E8A-4147-A177-3AD203B41FA5}">
                      <a16:colId xmlns:a16="http://schemas.microsoft.com/office/drawing/2014/main" val="3412031312"/>
                    </a:ext>
                  </a:extLst>
                </a:gridCol>
                <a:gridCol w="1362929">
                  <a:extLst>
                    <a:ext uri="{9D8B030D-6E8A-4147-A177-3AD203B41FA5}">
                      <a16:colId xmlns:a16="http://schemas.microsoft.com/office/drawing/2014/main" val="3550437390"/>
                    </a:ext>
                  </a:extLst>
                </a:gridCol>
                <a:gridCol w="1444298">
                  <a:extLst>
                    <a:ext uri="{9D8B030D-6E8A-4147-A177-3AD203B41FA5}">
                      <a16:colId xmlns:a16="http://schemas.microsoft.com/office/drawing/2014/main" val="3146195158"/>
                    </a:ext>
                  </a:extLst>
                </a:gridCol>
                <a:gridCol w="1362929">
                  <a:extLst>
                    <a:ext uri="{9D8B030D-6E8A-4147-A177-3AD203B41FA5}">
                      <a16:colId xmlns:a16="http://schemas.microsoft.com/office/drawing/2014/main" val="849733236"/>
                    </a:ext>
                  </a:extLst>
                </a:gridCol>
              </a:tblGrid>
              <a:tr h="412721"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800" u="none" strike="noStrike" dirty="0">
                          <a:effectLst/>
                          <a:latin typeface="Arial" panose="020B0604020202020204" pitchFamily="34" charset="0"/>
                          <a:ea typeface="標楷體" panose="03000509000000000000" pitchFamily="65" charset="-120"/>
                          <a:cs typeface="Arial" panose="020B0604020202020204" pitchFamily="34" charset="0"/>
                        </a:rPr>
                        <a:t>訓練</a:t>
                      </a:r>
                      <a:endParaRPr lang="zh-TW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標楷體" panose="03000509000000000000" pitchFamily="65" charset="-12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u="none" strike="noStrike" dirty="0">
                          <a:effectLst/>
                          <a:latin typeface="Arial" panose="020B0604020202020204" pitchFamily="34" charset="0"/>
                          <a:ea typeface="標楷體" panose="03000509000000000000" pitchFamily="65" charset="-120"/>
                          <a:cs typeface="Arial" panose="020B0604020202020204" pitchFamily="34" charset="0"/>
                        </a:rPr>
                        <a:t>train + dev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標楷體" panose="03000509000000000000" pitchFamily="65" charset="-12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標楷體" panose="03000509000000000000" pitchFamily="65" charset="-12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標楷體" panose="03000509000000000000" pitchFamily="65" charset="-12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211978246"/>
                  </a:ext>
                </a:extLst>
              </a:tr>
              <a:tr h="412721"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800" u="none" strike="noStrike">
                          <a:effectLst/>
                          <a:latin typeface="Arial" panose="020B0604020202020204" pitchFamily="34" charset="0"/>
                          <a:ea typeface="標楷體" panose="03000509000000000000" pitchFamily="65" charset="-120"/>
                          <a:cs typeface="Arial" panose="020B0604020202020204" pitchFamily="34" charset="0"/>
                        </a:rPr>
                        <a:t>測試</a:t>
                      </a:r>
                      <a:endParaRPr lang="zh-TW" altLang="en-US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標楷體" panose="03000509000000000000" pitchFamily="65" charset="-12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u="none" strike="noStrike" dirty="0">
                          <a:effectLst/>
                          <a:latin typeface="Arial" panose="020B0604020202020204" pitchFamily="34" charset="0"/>
                          <a:ea typeface="標楷體" panose="03000509000000000000" pitchFamily="65" charset="-120"/>
                          <a:cs typeface="Arial" panose="020B0604020202020204" pitchFamily="34" charset="0"/>
                        </a:rPr>
                        <a:t>test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標楷體" panose="03000509000000000000" pitchFamily="65" charset="-12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標楷體" panose="03000509000000000000" pitchFamily="65" charset="-12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標楷體" panose="03000509000000000000" pitchFamily="65" charset="-12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656034096"/>
                  </a:ext>
                </a:extLst>
              </a:tr>
              <a:tr h="412721"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800" u="none" strike="noStrike">
                          <a:effectLst/>
                          <a:latin typeface="Arial" panose="020B0604020202020204" pitchFamily="34" charset="0"/>
                          <a:ea typeface="標楷體" panose="03000509000000000000" pitchFamily="65" charset="-120"/>
                          <a:cs typeface="Arial" panose="020B0604020202020204" pitchFamily="34" charset="0"/>
                        </a:rPr>
                        <a:t>　</a:t>
                      </a:r>
                      <a:endParaRPr lang="zh-TW" altLang="en-US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標楷體" panose="03000509000000000000" pitchFamily="65" charset="-12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u="none" strike="noStrike" dirty="0">
                          <a:effectLst/>
                          <a:latin typeface="Arial" panose="020B0604020202020204" pitchFamily="34" charset="0"/>
                          <a:ea typeface="標楷體" panose="03000509000000000000" pitchFamily="65" charset="-120"/>
                          <a:cs typeface="Arial" panose="020B0604020202020204" pitchFamily="34" charset="0"/>
                        </a:rPr>
                        <a:t>F1 score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標楷體" panose="03000509000000000000" pitchFamily="65" charset="-12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u="none" strike="noStrike">
                          <a:effectLst/>
                          <a:latin typeface="Arial" panose="020B0604020202020204" pitchFamily="34" charset="0"/>
                          <a:ea typeface="標楷體" panose="03000509000000000000" pitchFamily="65" charset="-120"/>
                          <a:cs typeface="Arial" panose="020B0604020202020204" pitchFamily="34" charset="0"/>
                        </a:rPr>
                        <a:t>Precision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標楷體" panose="03000509000000000000" pitchFamily="65" charset="-12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u="none" strike="noStrike">
                          <a:effectLst/>
                          <a:latin typeface="Arial" panose="020B0604020202020204" pitchFamily="34" charset="0"/>
                          <a:ea typeface="標楷體" panose="03000509000000000000" pitchFamily="65" charset="-120"/>
                          <a:cs typeface="Arial" panose="020B0604020202020204" pitchFamily="34" charset="0"/>
                        </a:rPr>
                        <a:t>Recall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標楷體" panose="03000509000000000000" pitchFamily="65" charset="-12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890850510"/>
                  </a:ext>
                </a:extLst>
              </a:tr>
              <a:tr h="412721"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u="none" strike="noStrike">
                          <a:effectLst/>
                          <a:latin typeface="Arial" panose="020B0604020202020204" pitchFamily="34" charset="0"/>
                          <a:ea typeface="標楷體" panose="03000509000000000000" pitchFamily="65" charset="-120"/>
                          <a:cs typeface="Arial" panose="020B0604020202020204" pitchFamily="34" charset="0"/>
                        </a:rPr>
                        <a:t>audio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標楷體" panose="03000509000000000000" pitchFamily="65" charset="-12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800" u="none" strike="noStrike" dirty="0">
                          <a:effectLst/>
                          <a:latin typeface="Arial" panose="020B0604020202020204" pitchFamily="34" charset="0"/>
                          <a:ea typeface="標楷體" panose="03000509000000000000" pitchFamily="65" charset="-120"/>
                          <a:cs typeface="Arial" panose="020B0604020202020204" pitchFamily="34" charset="0"/>
                        </a:rPr>
                        <a:t>0.286</a:t>
                      </a:r>
                      <a:endParaRPr lang="en-US" altLang="zh-TW" sz="1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標楷體" panose="03000509000000000000" pitchFamily="65" charset="-12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800" u="none" strike="noStrike" dirty="0">
                          <a:effectLst/>
                          <a:latin typeface="Arial" panose="020B0604020202020204" pitchFamily="34" charset="0"/>
                          <a:ea typeface="標楷體" panose="03000509000000000000" pitchFamily="65" charset="-120"/>
                          <a:cs typeface="Arial" panose="020B0604020202020204" pitchFamily="34" charset="0"/>
                        </a:rPr>
                        <a:t>0.238</a:t>
                      </a:r>
                      <a:endParaRPr lang="en-US" altLang="zh-TW" sz="1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標楷體" panose="03000509000000000000" pitchFamily="65" charset="-12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800" u="none" strike="noStrike">
                          <a:effectLst/>
                          <a:latin typeface="Arial" panose="020B0604020202020204" pitchFamily="34" charset="0"/>
                          <a:ea typeface="標楷體" panose="03000509000000000000" pitchFamily="65" charset="-120"/>
                          <a:cs typeface="Arial" panose="020B0604020202020204" pitchFamily="34" charset="0"/>
                        </a:rPr>
                        <a:t>0.357</a:t>
                      </a:r>
                      <a:endParaRPr lang="en-US" altLang="zh-TW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標楷體" panose="03000509000000000000" pitchFamily="65" charset="-12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773979519"/>
                  </a:ext>
                </a:extLst>
              </a:tr>
              <a:tr h="412721"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u="none" strike="noStrike">
                          <a:effectLst/>
                          <a:latin typeface="Arial" panose="020B0604020202020204" pitchFamily="34" charset="0"/>
                          <a:ea typeface="標楷體" panose="03000509000000000000" pitchFamily="65" charset="-120"/>
                          <a:cs typeface="Arial" panose="020B0604020202020204" pitchFamily="34" charset="0"/>
                        </a:rPr>
                        <a:t>audio2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標楷體" panose="03000509000000000000" pitchFamily="65" charset="-12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800" u="none" strike="noStrike" dirty="0">
                          <a:effectLst/>
                          <a:latin typeface="Arial" panose="020B0604020202020204" pitchFamily="34" charset="0"/>
                          <a:ea typeface="標楷體" panose="03000509000000000000" pitchFamily="65" charset="-120"/>
                          <a:cs typeface="Arial" panose="020B0604020202020204" pitchFamily="34" charset="0"/>
                        </a:rPr>
                        <a:t>0.421</a:t>
                      </a:r>
                      <a:endParaRPr lang="en-US" altLang="zh-TW" sz="1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標楷體" panose="03000509000000000000" pitchFamily="65" charset="-12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800" u="none" strike="noStrike">
                          <a:effectLst/>
                          <a:latin typeface="Arial" panose="020B0604020202020204" pitchFamily="34" charset="0"/>
                          <a:ea typeface="標楷體" panose="03000509000000000000" pitchFamily="65" charset="-120"/>
                          <a:cs typeface="Arial" panose="020B0604020202020204" pitchFamily="34" charset="0"/>
                        </a:rPr>
                        <a:t>0.333</a:t>
                      </a:r>
                      <a:endParaRPr lang="en-US" altLang="zh-TW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標楷體" panose="03000509000000000000" pitchFamily="65" charset="-12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800" u="none" strike="noStrike" dirty="0">
                          <a:effectLst/>
                          <a:latin typeface="Arial" panose="020B0604020202020204" pitchFamily="34" charset="0"/>
                          <a:ea typeface="標楷體" panose="03000509000000000000" pitchFamily="65" charset="-120"/>
                          <a:cs typeface="Arial" panose="020B0604020202020204" pitchFamily="34" charset="0"/>
                        </a:rPr>
                        <a:t>0.571</a:t>
                      </a:r>
                      <a:endParaRPr lang="en-US" altLang="zh-TW" sz="1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標楷體" panose="03000509000000000000" pitchFamily="65" charset="-12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89927452"/>
                  </a:ext>
                </a:extLst>
              </a:tr>
              <a:tr h="412721"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u="none" strike="noStrike" dirty="0">
                          <a:effectLst/>
                          <a:latin typeface="Arial" panose="020B0604020202020204" pitchFamily="34" charset="0"/>
                          <a:ea typeface="標楷體" panose="03000509000000000000" pitchFamily="65" charset="-120"/>
                          <a:cs typeface="Arial" panose="020B0604020202020204" pitchFamily="34" charset="0"/>
                        </a:rPr>
                        <a:t>audio3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標楷體" panose="03000509000000000000" pitchFamily="65" charset="-12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800" u="none" strike="noStrike" dirty="0">
                          <a:effectLst/>
                          <a:latin typeface="Arial" panose="020B0604020202020204" pitchFamily="34" charset="0"/>
                          <a:ea typeface="標楷體" panose="03000509000000000000" pitchFamily="65" charset="-120"/>
                          <a:cs typeface="Arial" panose="020B0604020202020204" pitchFamily="34" charset="0"/>
                        </a:rPr>
                        <a:t>0.5</a:t>
                      </a:r>
                      <a:endParaRPr lang="en-US" altLang="zh-TW" sz="1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標楷體" panose="03000509000000000000" pitchFamily="65" charset="-12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800" u="none" strike="noStrike">
                          <a:effectLst/>
                          <a:latin typeface="Arial" panose="020B0604020202020204" pitchFamily="34" charset="0"/>
                          <a:ea typeface="標楷體" panose="03000509000000000000" pitchFamily="65" charset="-120"/>
                          <a:cs typeface="Arial" panose="020B0604020202020204" pitchFamily="34" charset="0"/>
                        </a:rPr>
                        <a:t>0.5</a:t>
                      </a:r>
                      <a:endParaRPr lang="en-US" altLang="zh-TW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標楷體" panose="03000509000000000000" pitchFamily="65" charset="-12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800" u="none" strike="noStrike" dirty="0">
                          <a:effectLst/>
                          <a:latin typeface="Arial" panose="020B0604020202020204" pitchFamily="34" charset="0"/>
                          <a:ea typeface="標楷體" panose="03000509000000000000" pitchFamily="65" charset="-120"/>
                          <a:cs typeface="Arial" panose="020B0604020202020204" pitchFamily="34" charset="0"/>
                        </a:rPr>
                        <a:t>0.5</a:t>
                      </a:r>
                      <a:endParaRPr lang="en-US" altLang="zh-TW" sz="1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標楷體" panose="03000509000000000000" pitchFamily="65" charset="-12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804419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4469586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1">
            <a:extLst>
              <a:ext uri="{FF2B5EF4-FFF2-40B4-BE49-F238E27FC236}">
                <a16:creationId xmlns:a16="http://schemas.microsoft.com/office/drawing/2014/main" id="{52C9CFC8-97B7-40C2-88BC-4B89FD014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8255"/>
            <a:ext cx="10906387" cy="1325563"/>
          </a:xfrm>
        </p:spPr>
        <p:txBody>
          <a:bodyPr>
            <a:normAutofit/>
          </a:bodyPr>
          <a:lstStyle/>
          <a:p>
            <a:r>
              <a:rPr lang="en-US" altLang="zh-TW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Audio: a, </a:t>
            </a:r>
            <a:r>
              <a:rPr lang="zh-TW" altLang="en-US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訓練</a:t>
            </a:r>
            <a:r>
              <a:rPr lang="en-US" altLang="zh-TW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: train + dev, </a:t>
            </a:r>
            <a:r>
              <a:rPr lang="zh-TW" altLang="en-US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測試</a:t>
            </a:r>
            <a:r>
              <a:rPr lang="en-US" altLang="zh-TW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: test set</a:t>
            </a:r>
          </a:p>
        </p:txBody>
      </p:sp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89D7743D-A038-42D5-A08A-57BCFCBC10B9}"/>
              </a:ext>
            </a:extLst>
          </p:cNvPr>
          <p:cNvSpPr txBox="1">
            <a:spLocks/>
          </p:cNvSpPr>
          <p:nvPr/>
        </p:nvSpPr>
        <p:spPr>
          <a:xfrm>
            <a:off x="838199" y="1343818"/>
            <a:ext cx="10515600" cy="5313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altLang="zh-TW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TW" sz="2400" dirty="0">
              <a:ea typeface="標楷體" panose="03000509000000000000" pitchFamily="65" charset="-120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1EBFC0C0-0334-4B1B-A456-56F58DA8E9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754" y="1022099"/>
            <a:ext cx="5767991" cy="2883996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1717A19C-BD37-4E11-BB05-31DB9462B2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3136" y="1022100"/>
            <a:ext cx="5956844" cy="2978422"/>
          </a:xfrm>
          <a:prstGeom prst="rect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DB532B93-4F8E-42F4-B750-4F695214314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4755" y="3933294"/>
            <a:ext cx="5767991" cy="2883996"/>
          </a:xfrm>
          <a:prstGeom prst="rect">
            <a:avLst/>
          </a:prstGeom>
        </p:spPr>
      </p:pic>
      <p:pic>
        <p:nvPicPr>
          <p:cNvPr id="15" name="圖片 14">
            <a:extLst>
              <a:ext uri="{FF2B5EF4-FFF2-40B4-BE49-F238E27FC236}">
                <a16:creationId xmlns:a16="http://schemas.microsoft.com/office/drawing/2014/main" id="{74C9A903-5093-4EEF-8E99-6635A4080E3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90373" y="3933294"/>
            <a:ext cx="5956844" cy="2978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676554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表格 12">
            <a:extLst>
              <a:ext uri="{FF2B5EF4-FFF2-40B4-BE49-F238E27FC236}">
                <a16:creationId xmlns:a16="http://schemas.microsoft.com/office/drawing/2014/main" id="{38170CB6-714E-45A9-829C-7B98A12496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7327431"/>
              </p:ext>
            </p:extLst>
          </p:nvPr>
        </p:nvGraphicFramePr>
        <p:xfrm>
          <a:off x="46954" y="947956"/>
          <a:ext cx="12145046" cy="59100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72523">
                  <a:extLst>
                    <a:ext uri="{9D8B030D-6E8A-4147-A177-3AD203B41FA5}">
                      <a16:colId xmlns:a16="http://schemas.microsoft.com/office/drawing/2014/main" val="2634384517"/>
                    </a:ext>
                  </a:extLst>
                </a:gridCol>
                <a:gridCol w="6072523">
                  <a:extLst>
                    <a:ext uri="{9D8B030D-6E8A-4147-A177-3AD203B41FA5}">
                      <a16:colId xmlns:a16="http://schemas.microsoft.com/office/drawing/2014/main" val="2841499348"/>
                    </a:ext>
                  </a:extLst>
                </a:gridCol>
              </a:tblGrid>
              <a:tr h="2955022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4491525"/>
                  </a:ext>
                </a:extLst>
              </a:tr>
              <a:tr h="2955022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7686629"/>
                  </a:ext>
                </a:extLst>
              </a:tr>
            </a:tbl>
          </a:graphicData>
        </a:graphic>
      </p:graphicFrame>
      <p:sp>
        <p:nvSpPr>
          <p:cNvPr id="5" name="標題 1">
            <a:extLst>
              <a:ext uri="{FF2B5EF4-FFF2-40B4-BE49-F238E27FC236}">
                <a16:creationId xmlns:a16="http://schemas.microsoft.com/office/drawing/2014/main" id="{52C9CFC8-97B7-40C2-88BC-4B89FD014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8255"/>
            <a:ext cx="10906387" cy="1325563"/>
          </a:xfrm>
        </p:spPr>
        <p:txBody>
          <a:bodyPr>
            <a:normAutofit/>
          </a:bodyPr>
          <a:lstStyle/>
          <a:p>
            <a:r>
              <a:rPr lang="en-US" altLang="zh-TW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Audio: a2, </a:t>
            </a:r>
            <a:r>
              <a:rPr lang="zh-TW" altLang="en-US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訓練</a:t>
            </a:r>
            <a:r>
              <a:rPr lang="en-US" altLang="zh-TW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: train + dev, </a:t>
            </a:r>
            <a:r>
              <a:rPr lang="zh-TW" altLang="en-US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測試</a:t>
            </a:r>
            <a:r>
              <a:rPr lang="en-US" altLang="zh-TW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: test set</a:t>
            </a:r>
          </a:p>
        </p:txBody>
      </p:sp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89D7743D-A038-42D5-A08A-57BCFCBC10B9}"/>
              </a:ext>
            </a:extLst>
          </p:cNvPr>
          <p:cNvSpPr txBox="1">
            <a:spLocks/>
          </p:cNvSpPr>
          <p:nvPr/>
        </p:nvSpPr>
        <p:spPr>
          <a:xfrm>
            <a:off x="838199" y="1343818"/>
            <a:ext cx="10515600" cy="5313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altLang="zh-TW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TW" sz="2400" dirty="0">
              <a:ea typeface="標楷體" panose="03000509000000000000" pitchFamily="65" charset="-120"/>
            </a:endParaRPr>
          </a:p>
        </p:txBody>
      </p:sp>
      <p:pic>
        <p:nvPicPr>
          <p:cNvPr id="14" name="圖片 13">
            <a:extLst>
              <a:ext uri="{FF2B5EF4-FFF2-40B4-BE49-F238E27FC236}">
                <a16:creationId xmlns:a16="http://schemas.microsoft.com/office/drawing/2014/main" id="{D6664863-06F5-42DF-B8B5-236CC22C3E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170" y="1025968"/>
            <a:ext cx="5673346" cy="2836673"/>
          </a:xfrm>
          <a:prstGeom prst="rect">
            <a:avLst/>
          </a:prstGeom>
        </p:spPr>
      </p:pic>
      <p:pic>
        <p:nvPicPr>
          <p:cNvPr id="17" name="圖片 16">
            <a:extLst>
              <a:ext uri="{FF2B5EF4-FFF2-40B4-BE49-F238E27FC236}">
                <a16:creationId xmlns:a16="http://schemas.microsoft.com/office/drawing/2014/main" id="{7A5B9E27-1FCD-451E-81F7-B209CB8334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1164" y="1010747"/>
            <a:ext cx="5577981" cy="2788991"/>
          </a:xfrm>
          <a:prstGeom prst="rect">
            <a:avLst/>
          </a:prstGeom>
        </p:spPr>
      </p:pic>
      <p:pic>
        <p:nvPicPr>
          <p:cNvPr id="19" name="圖片 18">
            <a:extLst>
              <a:ext uri="{FF2B5EF4-FFF2-40B4-BE49-F238E27FC236}">
                <a16:creationId xmlns:a16="http://schemas.microsoft.com/office/drawing/2014/main" id="{52168D4D-C048-442F-BF2E-1C374E12AE9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168" y="3940653"/>
            <a:ext cx="5673346" cy="2836674"/>
          </a:xfrm>
          <a:prstGeom prst="rect">
            <a:avLst/>
          </a:prstGeom>
        </p:spPr>
      </p:pic>
      <p:pic>
        <p:nvPicPr>
          <p:cNvPr id="27" name="圖片 26">
            <a:extLst>
              <a:ext uri="{FF2B5EF4-FFF2-40B4-BE49-F238E27FC236}">
                <a16:creationId xmlns:a16="http://schemas.microsoft.com/office/drawing/2014/main" id="{5CEF2573-300E-4043-A53F-6E7A01C8A87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86529" y="3940653"/>
            <a:ext cx="5742615" cy="2871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043538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表格 12">
            <a:extLst>
              <a:ext uri="{FF2B5EF4-FFF2-40B4-BE49-F238E27FC236}">
                <a16:creationId xmlns:a16="http://schemas.microsoft.com/office/drawing/2014/main" id="{38170CB6-714E-45A9-829C-7B98A12496B4}"/>
              </a:ext>
            </a:extLst>
          </p:cNvPr>
          <p:cNvGraphicFramePr>
            <a:graphicFrameLocks noGrp="1"/>
          </p:cNvGraphicFramePr>
          <p:nvPr/>
        </p:nvGraphicFramePr>
        <p:xfrm>
          <a:off x="46954" y="947956"/>
          <a:ext cx="12145046" cy="59100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72523">
                  <a:extLst>
                    <a:ext uri="{9D8B030D-6E8A-4147-A177-3AD203B41FA5}">
                      <a16:colId xmlns:a16="http://schemas.microsoft.com/office/drawing/2014/main" val="2634384517"/>
                    </a:ext>
                  </a:extLst>
                </a:gridCol>
                <a:gridCol w="6072523">
                  <a:extLst>
                    <a:ext uri="{9D8B030D-6E8A-4147-A177-3AD203B41FA5}">
                      <a16:colId xmlns:a16="http://schemas.microsoft.com/office/drawing/2014/main" val="2841499348"/>
                    </a:ext>
                  </a:extLst>
                </a:gridCol>
              </a:tblGrid>
              <a:tr h="2955022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4491525"/>
                  </a:ext>
                </a:extLst>
              </a:tr>
              <a:tr h="2955022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7686629"/>
                  </a:ext>
                </a:extLst>
              </a:tr>
            </a:tbl>
          </a:graphicData>
        </a:graphic>
      </p:graphicFrame>
      <p:sp>
        <p:nvSpPr>
          <p:cNvPr id="5" name="標題 1">
            <a:extLst>
              <a:ext uri="{FF2B5EF4-FFF2-40B4-BE49-F238E27FC236}">
                <a16:creationId xmlns:a16="http://schemas.microsoft.com/office/drawing/2014/main" id="{52C9CFC8-97B7-40C2-88BC-4B89FD014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8255"/>
            <a:ext cx="10906387" cy="1325563"/>
          </a:xfrm>
        </p:spPr>
        <p:txBody>
          <a:bodyPr>
            <a:normAutofit/>
          </a:bodyPr>
          <a:lstStyle/>
          <a:p>
            <a:r>
              <a:rPr lang="en-US" altLang="zh-TW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Audio: a3, </a:t>
            </a:r>
            <a:r>
              <a:rPr lang="zh-TW" altLang="en-US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訓練</a:t>
            </a:r>
            <a:r>
              <a:rPr lang="en-US" altLang="zh-TW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: train + dev, </a:t>
            </a:r>
            <a:r>
              <a:rPr lang="zh-TW" altLang="en-US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測試</a:t>
            </a:r>
            <a:r>
              <a:rPr lang="en-US" altLang="zh-TW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: test set</a:t>
            </a:r>
          </a:p>
        </p:txBody>
      </p:sp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89D7743D-A038-42D5-A08A-57BCFCBC10B9}"/>
              </a:ext>
            </a:extLst>
          </p:cNvPr>
          <p:cNvSpPr txBox="1">
            <a:spLocks/>
          </p:cNvSpPr>
          <p:nvPr/>
        </p:nvSpPr>
        <p:spPr>
          <a:xfrm>
            <a:off x="838199" y="1343818"/>
            <a:ext cx="10515600" cy="5313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altLang="zh-TW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TW" sz="2400" dirty="0">
              <a:ea typeface="標楷體" panose="03000509000000000000" pitchFamily="65" charset="-120"/>
            </a:endParaRP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FCDF037B-B501-443A-93AD-1C0866B3C8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843" y="947956"/>
            <a:ext cx="5800173" cy="2900087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FB875D74-C86C-4FC1-ABB2-7401CC664F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0843" y="3902978"/>
            <a:ext cx="5800173" cy="2900087"/>
          </a:xfrm>
          <a:prstGeom prst="rect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F1394893-6C29-4177-844C-5F674DA15B3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95750" y="3920142"/>
            <a:ext cx="5833772" cy="2916886"/>
          </a:xfrm>
          <a:prstGeom prst="rect">
            <a:avLst/>
          </a:prstGeom>
        </p:spPr>
      </p:pic>
      <p:pic>
        <p:nvPicPr>
          <p:cNvPr id="18" name="圖片 17">
            <a:extLst>
              <a:ext uri="{FF2B5EF4-FFF2-40B4-BE49-F238E27FC236}">
                <a16:creationId xmlns:a16="http://schemas.microsoft.com/office/drawing/2014/main" id="{A3B43E51-23D7-48C7-9636-FF57A12B710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39584" y="947956"/>
            <a:ext cx="5833772" cy="2916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83496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5302</TotalTime>
  <Words>1575</Words>
  <Application>Microsoft Office PowerPoint</Application>
  <PresentationFormat>寬螢幕</PresentationFormat>
  <Paragraphs>400</Paragraphs>
  <Slides>29</Slides>
  <Notes>28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29</vt:i4>
      </vt:variant>
    </vt:vector>
  </HeadingPairs>
  <TitlesOfParts>
    <vt:vector size="34" baseType="lpstr">
      <vt:lpstr>-apple-system</vt:lpstr>
      <vt:lpstr>Arial</vt:lpstr>
      <vt:lpstr>Calibri</vt:lpstr>
      <vt:lpstr>Calibri Light</vt:lpstr>
      <vt:lpstr>Office 佈景主題</vt:lpstr>
      <vt:lpstr>2024/12/03 Meeting Report</vt:lpstr>
      <vt:lpstr>Create 3 audio features</vt:lpstr>
      <vt:lpstr>實驗使用不同的 audio features</vt:lpstr>
      <vt:lpstr>實驗使用不同的 audio features</vt:lpstr>
      <vt:lpstr>第一組, Audio: a, 訓練: train set, 測試: development set</vt:lpstr>
      <vt:lpstr>第一組, Audio: a2, 訓練: train set, 測試: development set</vt:lpstr>
      <vt:lpstr>第一組, Audio: a3, 訓練: train set, 測試: development set</vt:lpstr>
      <vt:lpstr>第二組, Audio: a, 訓練: train set, 測試: development set</vt:lpstr>
      <vt:lpstr>第二組, Audio: a2, 訓練: train set, 測試: development set</vt:lpstr>
      <vt:lpstr>第二組, Audio: a3, 訓練: train set, 測試: development set</vt:lpstr>
      <vt:lpstr>第三組, Audio: a, 訓練: train set, 測試: development set</vt:lpstr>
      <vt:lpstr>第三組, Audio: a2, 訓練: train set, 測試: development set</vt:lpstr>
      <vt:lpstr>第三組, Audio: a3, 訓練: train set, 測試: development set</vt:lpstr>
      <vt:lpstr>Use Resampling method</vt:lpstr>
      <vt:lpstr>Use Resampling method</vt:lpstr>
      <vt:lpstr>實驗使用不同的 audio features</vt:lpstr>
      <vt:lpstr>第一組, Audio: a, 訓練: train set, 測試: development set</vt:lpstr>
      <vt:lpstr>第一組, Audio: a2, 訓練: train set, 測試: development set</vt:lpstr>
      <vt:lpstr>第一組, Audio: a3, 訓練: train set, 測試: development set</vt:lpstr>
      <vt:lpstr>第二組, Audio: a, 訓練: train set, 測試: development set</vt:lpstr>
      <vt:lpstr>第二組, Audio: a2, 訓練: train set, 測試: development set</vt:lpstr>
      <vt:lpstr>第二組, Audio: a3, 訓練: train set, 測試: development set</vt:lpstr>
      <vt:lpstr>第三組, Audio: a, 訓練: train set, 測試: development set</vt:lpstr>
      <vt:lpstr>第三組, Audio: a2, 訓練: train set, 測試: development set</vt:lpstr>
      <vt:lpstr>第三組, Audio: a3, 訓練: train set, 測試: development set</vt:lpstr>
      <vt:lpstr>PowerPoint 簡報</vt:lpstr>
      <vt:lpstr>Audio: a, 訓練: train + dev, 測試: test set</vt:lpstr>
      <vt:lpstr>Audio: a2, 訓練: train + dev, 測試: test set</vt:lpstr>
      <vt:lpstr>Audio: a3, 訓練: train + dev, 測試: test set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2024/11/26 Meeting Report</dc:title>
  <dc:creator>嘉均 簡</dc:creator>
  <cp:lastModifiedBy>嘉均 簡</cp:lastModifiedBy>
  <cp:revision>32</cp:revision>
  <dcterms:created xsi:type="dcterms:W3CDTF">2024-11-26T08:17:58Z</dcterms:created>
  <dcterms:modified xsi:type="dcterms:W3CDTF">2024-12-03T07:03:27Z</dcterms:modified>
</cp:coreProperties>
</file>