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332" r:id="rId3"/>
    <p:sldId id="353" r:id="rId4"/>
    <p:sldId id="338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E59C6C-8FAA-4805-9ACA-A9D4DFE9847D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C03E96-372D-49B0-A32D-A91E3978ADC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8013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249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2905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302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7834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9136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50440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9773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99405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4439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1072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5738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47275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74A25A-1558-49C6-9254-AF70394D94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7875EA1-F60E-45E4-8D4B-EBED6BF673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93DFDA-F3C2-4BFF-946E-20F68524B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92B1C8-2BFD-4BDD-B225-E2324E700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BC09B8-D8B3-483F-A554-176E78FB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5678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CEAF74-C184-4FC0-96D3-30F59B14C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378E991-6997-4A4B-B76D-E2F834709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472118-76BA-43BA-8385-5876F665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CB00F2-8D9A-4662-8402-124E4BD33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357CFD-EBEF-49DC-83A6-171DAF03C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2085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F78CD3-773B-4F6A-A6DE-B93D6E680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4CE3BC-A9AB-44F5-9567-D59662CB8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594C44-531E-4DC4-AF24-7D9CC0F41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319F611-7242-4EBB-BB59-36A0D02C6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49AB4B-0BFB-40A9-8564-B14D5974C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368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7F76AB-A8EB-4C28-962A-CE178DB5A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BB6800-346E-4B60-9273-9D7DD25CFE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CAC3CE7-29E1-4F24-AFCB-55C481980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B967D7-A55A-4D8F-9391-2BCD39707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FA11677-CF5D-475F-B7D8-31236D3C2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7C5CDF-90E4-47C5-BEDC-034BC18E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083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AC3ADB-BBAE-4A81-88C8-3A67A81AE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09BE75D-1510-402E-8C22-260E02AD1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997048E-74BD-491E-AA40-519F39D14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24EE29D-E94F-4A52-9DCE-1F2FAEE2C2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8FA8F7A-AC67-497C-87C5-4B8AF44A0C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974B631-4518-44BC-8FE7-89504EAB9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474DE50-BF22-4BB1-A007-E54A6CD11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1B8D349-FE4C-44D9-808C-BCEFB509B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90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90B9EF-0B4A-41CA-8DA8-75C5D8C34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FF0F529-4B68-45DB-9C20-1D211A6FE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F5C208A-E7D0-4934-81D1-56DE4475B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4CD3454-4824-4EF1-96DE-73920B691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9119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FD98AF-6180-48C6-A0B2-72AACD6C6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18118E19-9D4C-4616-A8B7-1AA0182C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5BF24C-D726-411B-ADF7-995CB59E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5534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2A26FE-6B78-417F-8253-A8FE504E4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10BDB6-69B2-4E61-889A-318975BDD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C677D5B-1753-4F03-9D4E-EF583557A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91D6756-6309-4D22-9436-E3C53EAC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0B5960-700A-43EF-B717-5DBFC2289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1B491F-2EB1-46D5-8D43-3743C9A30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5707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167555-DEC0-421E-AFB4-19304590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173C6CF-2C13-42E1-94E2-CE61E77F5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562644F-E06C-48E8-8533-CFD919C946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2AC6794-16EC-4066-A131-16646FA03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4966054-F230-47C0-8C45-DDF119C17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2F60921-E6DD-4B68-9175-81283B491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4073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7B4ABA-71A7-4AE8-AFCE-E645ABEDF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6533F43-8277-41A8-83AA-3B6F43376A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C5CFAB0-3455-4FCC-B468-7675CDBAC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EF3055-7327-422D-A048-EFBC7471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A5C4F5-C46D-4429-8BA1-951F1D8F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57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87867FE-DD59-429E-A50E-58D0FF6D1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72AA4B8-0E51-4121-A6C5-5C793A90B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054522-C581-4F1C-A31B-190EC4DF8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DCE19-B8A6-4C03-BDB3-8A22793A1F0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2DB1B23-9C53-49B7-B1E5-C91621221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D74F3C-73F7-4C23-B4C3-935775A2E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156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EDBB8C3-B50D-465A-9DF3-96A6625A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E95440B-77A4-46E0-8F38-0844DC2FD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C2B530-A76B-482B-AD02-27287DB94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DCE19-B8A6-4C03-BDB3-8A22793A1F01}" type="datetimeFigureOut">
              <a:rPr lang="zh-TW" altLang="en-US" smtClean="0"/>
              <a:t>2025/7/9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AEC7D8-9C87-4A68-8068-E1E3E39347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7BC6BE-B951-4224-BD3E-AF2656F10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E40B4-07EB-42EB-82FA-336364E60FC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6533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2025/07/09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使用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ChatGPT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o3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判斷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sleeping problem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209902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PHQ-8 </a:t>
            </a:r>
            <a:r>
              <a:rPr lang="zh-TW" altLang="en-US" sz="2400" dirty="0">
                <a:ea typeface="標楷體" panose="03000509000000000000" pitchFamily="65" charset="-120"/>
              </a:rPr>
              <a:t>是患者健康問卷</a:t>
            </a:r>
            <a:r>
              <a:rPr lang="en-US" altLang="zh-TW" sz="2400" dirty="0">
                <a:ea typeface="標楷體" panose="03000509000000000000" pitchFamily="65" charset="-120"/>
              </a:rPr>
              <a:t>(Patient Health Questionnaire) </a:t>
            </a:r>
            <a:r>
              <a:rPr lang="zh-TW" altLang="en-US" sz="2400" dirty="0">
                <a:ea typeface="標楷體" panose="03000509000000000000" pitchFamily="65" charset="-120"/>
              </a:rPr>
              <a:t>的一個版本，用於評估過去兩週內抑鬱症狀的嚴重程度。</a:t>
            </a:r>
            <a:r>
              <a:rPr lang="en-US" altLang="zh-TW" sz="2400" dirty="0">
                <a:ea typeface="標楷體" panose="03000509000000000000" pitchFamily="65" charset="-120"/>
              </a:rPr>
              <a:t>PHQ-8 </a:t>
            </a:r>
            <a:r>
              <a:rPr lang="zh-TW" altLang="en-US" sz="2400" dirty="0">
                <a:ea typeface="標楷體" panose="03000509000000000000" pitchFamily="65" charset="-120"/>
              </a:rPr>
              <a:t>問卷內容是這樣的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Over the last 2 weeks, how often have you been bothered by any of the following problems?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1. Little interest or pleasure in doing things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2. Feeling down, depressed, irritable or hopeless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3. Trouble falling or staying asleep, or sleeping too much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4. Feeling tired or having little energy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5. Poor appetite or overeating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6. Feeling bad about yourself – or that you are a failure or have let yourself or your family down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7. Trouble concentrating on things, such as school work, reading or watching television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8. Moving or speaking so slowly that other people could have noticed? Or the opposite – being so fidgety or restless that you have been moving around a lot more than usual</a:t>
            </a:r>
          </a:p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每一個問題都有 </a:t>
            </a:r>
            <a:r>
              <a:rPr lang="en-US" altLang="zh-TW" sz="2400" dirty="0">
                <a:ea typeface="標楷體" panose="03000509000000000000" pitchFamily="65" charset="-120"/>
              </a:rPr>
              <a:t>4 </a:t>
            </a:r>
            <a:r>
              <a:rPr lang="zh-TW" altLang="en-US" sz="2400" dirty="0">
                <a:ea typeface="標楷體" panose="03000509000000000000" pitchFamily="65" charset="-120"/>
              </a:rPr>
              <a:t>個選項，分別是</a:t>
            </a:r>
            <a:r>
              <a:rPr lang="en-US" altLang="zh-TW" sz="2400" dirty="0">
                <a:ea typeface="標楷體" panose="03000509000000000000" pitchFamily="65" charset="-120"/>
              </a:rPr>
              <a:t>: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1. Not at all</a:t>
            </a:r>
            <a:r>
              <a:rPr lang="zh-TW" altLang="en-US" sz="2000" dirty="0">
                <a:ea typeface="標楷體" panose="03000509000000000000" pitchFamily="65" charset="-120"/>
              </a:rPr>
              <a:t>，</a:t>
            </a:r>
            <a:r>
              <a:rPr lang="en-US" altLang="zh-TW" sz="2000" dirty="0">
                <a:ea typeface="標楷體" panose="03000509000000000000" pitchFamily="65" charset="-120"/>
              </a:rPr>
              <a:t>0</a:t>
            </a:r>
            <a:r>
              <a:rPr lang="zh-TW" altLang="en-US" sz="2000" dirty="0">
                <a:ea typeface="標楷體" panose="03000509000000000000" pitchFamily="65" charset="-120"/>
              </a:rPr>
              <a:t>分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2. Several days</a:t>
            </a:r>
            <a:r>
              <a:rPr lang="zh-TW" altLang="en-US" sz="2000" dirty="0">
                <a:ea typeface="標楷體" panose="03000509000000000000" pitchFamily="65" charset="-120"/>
              </a:rPr>
              <a:t>，</a:t>
            </a:r>
            <a:r>
              <a:rPr lang="en-US" altLang="zh-TW" sz="2000" dirty="0">
                <a:ea typeface="標楷體" panose="03000509000000000000" pitchFamily="65" charset="-120"/>
              </a:rPr>
              <a:t>1</a:t>
            </a:r>
            <a:r>
              <a:rPr lang="zh-TW" altLang="en-US" sz="2000" dirty="0">
                <a:ea typeface="標楷體" panose="03000509000000000000" pitchFamily="65" charset="-120"/>
              </a:rPr>
              <a:t>分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3. More than half the days</a:t>
            </a:r>
            <a:r>
              <a:rPr lang="zh-TW" altLang="en-US" sz="2000" dirty="0">
                <a:ea typeface="標楷體" panose="03000509000000000000" pitchFamily="65" charset="-120"/>
              </a:rPr>
              <a:t>，</a:t>
            </a:r>
            <a:r>
              <a:rPr lang="en-US" altLang="zh-TW" sz="2000" dirty="0">
                <a:ea typeface="標楷體" panose="03000509000000000000" pitchFamily="65" charset="-120"/>
              </a:rPr>
              <a:t>2</a:t>
            </a:r>
            <a:r>
              <a:rPr lang="zh-TW" altLang="en-US" sz="2000" dirty="0">
                <a:ea typeface="標楷體" panose="03000509000000000000" pitchFamily="65" charset="-120"/>
              </a:rPr>
              <a:t>分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4. Nearly every day</a:t>
            </a:r>
            <a:r>
              <a:rPr lang="zh-TW" altLang="en-US" sz="2000" dirty="0">
                <a:ea typeface="標楷體" panose="03000509000000000000" pitchFamily="65" charset="-120"/>
              </a:rPr>
              <a:t>，</a:t>
            </a:r>
            <a:r>
              <a:rPr lang="en-US" altLang="zh-TW" sz="2000" dirty="0">
                <a:ea typeface="標楷體" panose="03000509000000000000" pitchFamily="65" charset="-120"/>
              </a:rPr>
              <a:t>3</a:t>
            </a:r>
            <a:r>
              <a:rPr lang="zh-TW" altLang="en-US" sz="2000" dirty="0">
                <a:ea typeface="標楷體" panose="03000509000000000000" pitchFamily="65" charset="-120"/>
              </a:rPr>
              <a:t>分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9338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使用 </a:t>
            </a:r>
            <a:r>
              <a:rPr lang="en-US" altLang="zh-TW" sz="3200" dirty="0" err="1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ChatGPT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o3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判斷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sleeping problem</a:t>
            </a:r>
            <a:endParaRPr lang="zh-TW" altLang="en-US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209902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ea typeface="標楷體" panose="03000509000000000000" pitchFamily="65" charset="-120"/>
              </a:rPr>
              <a:t>現在你是一位心理諮商師，判斷下面的訪談內容中，</a:t>
            </a:r>
            <a:r>
              <a:rPr lang="en-US" altLang="zh-TW" sz="2400" dirty="0">
                <a:ea typeface="標楷體" panose="03000509000000000000" pitchFamily="65" charset="-120"/>
              </a:rPr>
              <a:t>Interviewer </a:t>
            </a:r>
            <a:r>
              <a:rPr lang="zh-TW" altLang="en-US" sz="2400" dirty="0">
                <a:ea typeface="標楷體" panose="03000509000000000000" pitchFamily="65" charset="-120"/>
              </a:rPr>
              <a:t>是否有詢問到與 </a:t>
            </a:r>
            <a:r>
              <a:rPr lang="en-US" altLang="zh-TW" sz="2400" dirty="0">
                <a:ea typeface="標楷體" panose="03000509000000000000" pitchFamily="65" charset="-120"/>
              </a:rPr>
              <a:t>PHQ8 </a:t>
            </a:r>
            <a:r>
              <a:rPr lang="zh-TW" altLang="en-US" sz="2400" dirty="0">
                <a:ea typeface="標楷體" panose="03000509000000000000" pitchFamily="65" charset="-120"/>
              </a:rPr>
              <a:t>症狀中睡眠相關的問題，以及 </a:t>
            </a:r>
            <a:r>
              <a:rPr lang="en-US" altLang="zh-TW" sz="2400" dirty="0">
                <a:ea typeface="標楷體" panose="03000509000000000000" pitchFamily="65" charset="-120"/>
              </a:rPr>
              <a:t>Participant </a:t>
            </a:r>
            <a:r>
              <a:rPr lang="zh-TW" altLang="en-US" sz="2400" dirty="0">
                <a:ea typeface="標楷體" panose="03000509000000000000" pitchFamily="65" charset="-120"/>
              </a:rPr>
              <a:t>是否有描述與 </a:t>
            </a:r>
            <a:r>
              <a:rPr lang="en-US" altLang="zh-TW" sz="2400" dirty="0">
                <a:ea typeface="標楷體" panose="03000509000000000000" pitchFamily="65" charset="-120"/>
              </a:rPr>
              <a:t>PHQ8 </a:t>
            </a:r>
            <a:r>
              <a:rPr lang="zh-TW" altLang="en-US" sz="2400" dirty="0">
                <a:ea typeface="標楷體" panose="03000509000000000000" pitchFamily="65" charset="-120"/>
              </a:rPr>
              <a:t>症狀中睡眠相關的症狀，如果有，則簡潔摘要該 </a:t>
            </a:r>
            <a:r>
              <a:rPr lang="en-US" altLang="zh-TW" sz="2400" dirty="0">
                <a:ea typeface="標楷體" panose="03000509000000000000" pitchFamily="65" charset="-120"/>
              </a:rPr>
              <a:t>Participant </a:t>
            </a:r>
            <a:r>
              <a:rPr lang="zh-TW" altLang="en-US" sz="2400" dirty="0">
                <a:ea typeface="標楷體" panose="03000509000000000000" pitchFamily="65" charset="-120"/>
              </a:rPr>
              <a:t>與 </a:t>
            </a:r>
            <a:r>
              <a:rPr lang="en-US" altLang="zh-TW" sz="2400" dirty="0">
                <a:ea typeface="標楷體" panose="03000509000000000000" pitchFamily="65" charset="-120"/>
              </a:rPr>
              <a:t>PHQ8 </a:t>
            </a:r>
            <a:r>
              <a:rPr lang="zh-TW" altLang="en-US" sz="2400" dirty="0">
                <a:ea typeface="標楷體" panose="03000509000000000000" pitchFamily="65" charset="-120"/>
              </a:rPr>
              <a:t>症狀中睡眠相關的症狀，最後決定 </a:t>
            </a:r>
            <a:r>
              <a:rPr lang="en-US" altLang="zh-TW" sz="2400" dirty="0" err="1">
                <a:ea typeface="標楷體" panose="03000509000000000000" pitchFamily="65" charset="-120"/>
              </a:rPr>
              <a:t>Partcipant</a:t>
            </a:r>
            <a:r>
              <a:rPr lang="en-US" altLang="zh-TW" sz="2400" dirty="0">
                <a:ea typeface="標楷體" panose="03000509000000000000" pitchFamily="65" charset="-120"/>
              </a:rPr>
              <a:t> </a:t>
            </a:r>
            <a:r>
              <a:rPr lang="zh-TW" altLang="en-US" sz="2400" dirty="0">
                <a:ea typeface="標楷體" panose="03000509000000000000" pitchFamily="65" charset="-120"/>
              </a:rPr>
              <a:t>在 </a:t>
            </a:r>
            <a:r>
              <a:rPr lang="en-US" altLang="zh-TW" sz="2400" dirty="0">
                <a:ea typeface="標楷體" panose="03000509000000000000" pitchFamily="65" charset="-120"/>
              </a:rPr>
              <a:t>PHQ8 </a:t>
            </a:r>
            <a:r>
              <a:rPr lang="zh-TW" altLang="en-US" sz="2400" dirty="0">
                <a:ea typeface="標楷體" panose="03000509000000000000" pitchFamily="65" charset="-120"/>
              </a:rPr>
              <a:t>問卷的睡眠問題應該填寫幾分</a:t>
            </a:r>
            <a:r>
              <a:rPr lang="en-US" altLang="zh-TW" sz="2400" dirty="0">
                <a:ea typeface="標楷體" panose="03000509000000000000" pitchFamily="65" charset="-120"/>
              </a:rPr>
              <a:t>(0–3 </a:t>
            </a:r>
            <a:r>
              <a:rPr lang="zh-TW" altLang="en-US" sz="2400" dirty="0">
                <a:ea typeface="標楷體" panose="03000509000000000000" pitchFamily="65" charset="-120"/>
              </a:rPr>
              <a:t>分</a:t>
            </a:r>
            <a:r>
              <a:rPr lang="en-US" altLang="zh-TW" sz="2400" dirty="0">
                <a:ea typeface="標楷體" panose="03000509000000000000" pitchFamily="65" charset="-120"/>
              </a:rPr>
              <a:t>)</a:t>
            </a:r>
            <a:r>
              <a:rPr lang="zh-TW" altLang="en-US" sz="2400" dirty="0">
                <a:ea typeface="標楷體" panose="03000509000000000000" pitchFamily="65" charset="-120"/>
              </a:rPr>
              <a:t>。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6111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PHQ8 Sleeping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分類結果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2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TW" altLang="en-US" sz="24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比較 </a:t>
            </a:r>
            <a:r>
              <a:rPr lang="en-US" altLang="zh-TW" sz="24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multi-task learning </a:t>
            </a:r>
            <a:r>
              <a:rPr lang="zh-TW" altLang="en-US" sz="24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與 </a:t>
            </a:r>
            <a:r>
              <a:rPr lang="en-US" altLang="zh-TW" sz="24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GPT-o3</a:t>
            </a: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15B3C44-ADF9-4E95-A4A7-E6F8DD3318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94" y="1758609"/>
            <a:ext cx="6374239" cy="5099391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03EF866-4042-4C1C-9AE6-EB22888FC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870" y="1892524"/>
            <a:ext cx="5404612" cy="493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841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LLM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分類結果的錯誤分析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1"/>
            <a:ext cx="11870423" cy="56298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Level 0 predicts level 1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314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受訪者表示近兩週「通常」難以一覺到天亮，幾乎每天半夜醒來一次，上廁所或被聲音吵醒；若清晨過早醒來常無法再次入睡。但除這些情況外，其餘時間自覺睡眠尚可。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模型認為受訪者為長期且「有時」發生，因此猜測近兩週內仍偶爾出現。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329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“Pretty easy … for the most part I sleep well; once in a while I wake up at 4 or 5 a.m. and can’t get back to sleep.”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模型認為受訪者僅說「</a:t>
            </a:r>
            <a:r>
              <a:rPr lang="en-US" altLang="zh-TW" sz="2000" dirty="0">
                <a:ea typeface="標楷體" panose="03000509000000000000" pitchFamily="65" charset="-120"/>
              </a:rPr>
              <a:t>once in a while</a:t>
            </a:r>
            <a:r>
              <a:rPr lang="zh-TW" altLang="en-US" sz="2000" dirty="0">
                <a:ea typeface="標楷體" panose="03000509000000000000" pitchFamily="65" charset="-120"/>
              </a:rPr>
              <a:t>」，未提到最近兩週是否發生或發生次數，若偶發早醒在 </a:t>
            </a:r>
            <a:r>
              <a:rPr lang="en-US" altLang="zh-TW" sz="2000" dirty="0">
                <a:ea typeface="標楷體" panose="03000509000000000000" pitchFamily="65" charset="-120"/>
              </a:rPr>
              <a:t>14 </a:t>
            </a:r>
            <a:r>
              <a:rPr lang="zh-TW" altLang="en-US" sz="2000" dirty="0">
                <a:ea typeface="標楷體" panose="03000509000000000000" pitchFamily="65" charset="-120"/>
              </a:rPr>
              <a:t>天內出現 </a:t>
            </a:r>
            <a:r>
              <a:rPr lang="en-US" altLang="zh-TW" sz="2000" dirty="0">
                <a:ea typeface="標楷體" panose="03000509000000000000" pitchFamily="65" charset="-120"/>
              </a:rPr>
              <a:t>1–2 </a:t>
            </a:r>
            <a:r>
              <a:rPr lang="zh-TW" altLang="en-US" sz="2000" dirty="0">
                <a:ea typeface="標楷體" panose="03000509000000000000" pitchFamily="65" charset="-120"/>
              </a:rPr>
              <a:t>次，屬「幾天」程度 → </a:t>
            </a:r>
            <a:r>
              <a:rPr lang="en-US" altLang="zh-TW" sz="2000" dirty="0">
                <a:ea typeface="標楷體" panose="03000509000000000000" pitchFamily="65" charset="-120"/>
              </a:rPr>
              <a:t>1 </a:t>
            </a:r>
            <a:r>
              <a:rPr lang="zh-TW" altLang="en-US" sz="2000" dirty="0">
                <a:ea typeface="標楷體" panose="03000509000000000000" pitchFamily="65" charset="-120"/>
              </a:rPr>
              <a:t>分。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407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受訪者平常容易入睡，但因學業與工作排滿，常常睡眠時間不足；遇到空檔又會一次睡過頭（昨日幾乎整天都在睡）。整體看屬偶發且影響輕度。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5840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LLM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分類結果的錯誤分析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1"/>
            <a:ext cx="11870423" cy="5629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Level 1 predicts level 0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300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模型認為受訪者未提及近兩週內有睡不好；相反地，表示通常都容易入睡。偶爾睡不好僅屬少數情況，無明確近期頻率。所以猜 </a:t>
            </a:r>
            <a:r>
              <a:rPr lang="en-US" altLang="zh-TW" sz="2000" dirty="0">
                <a:ea typeface="標楷體" panose="03000509000000000000" pitchFamily="65" charset="-120"/>
              </a:rPr>
              <a:t>0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301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本段訪談沒有觸及睡眠議題。</a:t>
            </a:r>
            <a:r>
              <a:rPr lang="en-US" altLang="zh-TW" sz="2000" dirty="0">
                <a:ea typeface="標楷體" panose="03000509000000000000" pitchFamily="65" charset="-120"/>
              </a:rPr>
              <a:t>Interviewer </a:t>
            </a:r>
            <a:r>
              <a:rPr lang="zh-TW" altLang="en-US" sz="2000" dirty="0">
                <a:ea typeface="標楷體" panose="03000509000000000000" pitchFamily="65" charset="-120"/>
              </a:rPr>
              <a:t>未詢問任何與 </a:t>
            </a:r>
            <a:r>
              <a:rPr lang="en-US" altLang="zh-TW" sz="2000" dirty="0">
                <a:ea typeface="標楷體" panose="03000509000000000000" pitchFamily="65" charset="-120"/>
              </a:rPr>
              <a:t>PHQ-8 </a:t>
            </a:r>
            <a:r>
              <a:rPr lang="zh-TW" altLang="en-US" sz="2000" dirty="0">
                <a:ea typeface="標楷體" panose="03000509000000000000" pitchFamily="65" charset="-120"/>
              </a:rPr>
              <a:t>第 </a:t>
            </a:r>
            <a:r>
              <a:rPr lang="en-US" altLang="zh-TW" sz="2000" dirty="0">
                <a:ea typeface="標楷體" panose="03000509000000000000" pitchFamily="65" charset="-120"/>
              </a:rPr>
              <a:t>3 </a:t>
            </a:r>
            <a:r>
              <a:rPr lang="zh-TW" altLang="en-US" sz="2000" dirty="0">
                <a:ea typeface="標楷體" panose="03000509000000000000" pitchFamily="65" charset="-120"/>
              </a:rPr>
              <a:t>題相關的問題，</a:t>
            </a:r>
            <a:r>
              <a:rPr lang="en-US" altLang="zh-TW" sz="2000" dirty="0">
                <a:ea typeface="標楷體" panose="03000509000000000000" pitchFamily="65" charset="-120"/>
              </a:rPr>
              <a:t>Participant </a:t>
            </a:r>
            <a:r>
              <a:rPr lang="zh-TW" altLang="en-US" sz="2000" dirty="0">
                <a:ea typeface="標楷體" panose="03000509000000000000" pitchFamily="65" charset="-120"/>
              </a:rPr>
              <a:t>亦未提到失眠、早醒、睡眠過多等症狀。所以猜 </a:t>
            </a:r>
            <a:r>
              <a:rPr lang="en-US" altLang="zh-TW" sz="2000" dirty="0">
                <a:ea typeface="標楷體" panose="03000509000000000000" pitchFamily="65" charset="-120"/>
              </a:rPr>
              <a:t>0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337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受訪者回憶過去重度憂鬱時曾整日嗜睡，但並未提及最近兩週有明顯失眠或過度睡眠。訪談缺乏近期睡眠品質與頻率的具體資訊。所以猜 </a:t>
            </a:r>
            <a:r>
              <a:rPr lang="en-US" altLang="zh-TW" sz="2000" dirty="0">
                <a:ea typeface="標楷體" panose="03000509000000000000" pitchFamily="65" charset="-120"/>
              </a:rPr>
              <a:t>0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C60E5AF-5827-4AE4-A396-059409678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874" y="949179"/>
            <a:ext cx="5711330" cy="141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LLM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分類結果的錯誤分析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1"/>
            <a:ext cx="11870423" cy="5629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Level 1 predicts level 2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334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受訪者近兩週一直睡在車裡，因夜間寒冷與早晨 </a:t>
            </a:r>
            <a:r>
              <a:rPr lang="en-US" altLang="zh-TW" sz="2000" dirty="0">
                <a:ea typeface="標楷體" panose="03000509000000000000" pitchFamily="65" charset="-120"/>
              </a:rPr>
              <a:t>4:30 </a:t>
            </a:r>
            <a:r>
              <a:rPr lang="zh-TW" altLang="en-US" sz="2000" dirty="0">
                <a:ea typeface="標楷體" panose="03000509000000000000" pitchFamily="65" charset="-120"/>
              </a:rPr>
              <a:t>必須起床，睡眠品質差且時常早醒，所以模型填</a:t>
            </a:r>
            <a:r>
              <a:rPr lang="en-US" altLang="zh-TW" sz="2000" dirty="0">
                <a:ea typeface="標楷體" panose="03000509000000000000" pitchFamily="65" charset="-120"/>
              </a:rPr>
              <a:t>2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但是受訪者問卷填 </a:t>
            </a:r>
            <a:r>
              <a:rPr lang="en-US" altLang="zh-TW" sz="2000" dirty="0">
                <a:ea typeface="標楷體" panose="03000509000000000000" pitchFamily="65" charset="-120"/>
              </a:rPr>
              <a:t>1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384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How easy is it for you to get a good night’s sleep?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Really not that easy … usually takes me a few hours to finally get to sleep once I lay down in my bed.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模型根據 </a:t>
            </a:r>
            <a:r>
              <a:rPr lang="en-US" altLang="zh-TW" sz="2000" dirty="0">
                <a:ea typeface="標楷體" panose="03000509000000000000" pitchFamily="65" charset="-120"/>
              </a:rPr>
              <a:t>usually </a:t>
            </a:r>
            <a:r>
              <a:rPr lang="zh-TW" altLang="en-US" sz="2000" dirty="0">
                <a:ea typeface="標楷體" panose="03000509000000000000" pitchFamily="65" charset="-120"/>
              </a:rPr>
              <a:t>判斷失眠為「通常」情況，所以判斷發生頻率為 </a:t>
            </a:r>
            <a:r>
              <a:rPr lang="en-US" altLang="zh-TW" sz="2000" dirty="0">
                <a:ea typeface="標楷體" panose="03000509000000000000" pitchFamily="65" charset="-120"/>
              </a:rPr>
              <a:t>More than half the days </a:t>
            </a:r>
            <a:r>
              <a:rPr lang="zh-TW" altLang="en-US" sz="2000" dirty="0">
                <a:ea typeface="標楷體" panose="03000509000000000000" pitchFamily="65" charset="-120"/>
              </a:rPr>
              <a:t>高於（≥ </a:t>
            </a:r>
            <a:r>
              <a:rPr lang="en-US" altLang="zh-TW" sz="2000" dirty="0">
                <a:ea typeface="標楷體" panose="03000509000000000000" pitchFamily="65" charset="-120"/>
              </a:rPr>
              <a:t>Several days</a:t>
            </a:r>
            <a:r>
              <a:rPr lang="zh-TW" altLang="en-US" sz="2000" dirty="0">
                <a:ea typeface="標楷體" panose="03000509000000000000" pitchFamily="65" charset="-120"/>
              </a:rPr>
              <a:t>）</a:t>
            </a: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5931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LLM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分類結果的錯誤分析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1"/>
            <a:ext cx="11870423" cy="5629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Level 1 predicts level 3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443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“In the last two weeks … it’s been really difficult for me to get some sleep </a:t>
            </a:r>
            <a:r>
              <a:rPr lang="en-US" altLang="zh-TW" sz="2000" dirty="0" err="1">
                <a:ea typeface="標楷體" panose="03000509000000000000" pitchFamily="65" charset="-120"/>
              </a:rPr>
              <a:t>’cause</a:t>
            </a:r>
            <a:r>
              <a:rPr lang="en-US" altLang="zh-TW" sz="2000" dirty="0">
                <a:ea typeface="標楷體" panose="03000509000000000000" pitchFamily="65" charset="-120"/>
              </a:rPr>
              <a:t> I have a heart-burn problem, so I carry a jar of Tums.”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過去兩週因嚴重胃灼熱導致幾乎每天入睡困難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模型根據其表示「過去兩週一直都很難入睡」，推斷症狀接近 “</a:t>
            </a:r>
            <a:r>
              <a:rPr lang="en-US" altLang="zh-TW" sz="2000" dirty="0">
                <a:ea typeface="標楷體" panose="03000509000000000000" pitchFamily="65" charset="-120"/>
              </a:rPr>
              <a:t>Nearly every day” </a:t>
            </a:r>
            <a:r>
              <a:rPr lang="zh-TW" altLang="en-US" sz="2000" dirty="0">
                <a:ea typeface="標楷體" panose="03000509000000000000" pitchFamily="65" charset="-120"/>
              </a:rPr>
              <a:t>的頻率。</a:t>
            </a: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0130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LLM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分類結果的錯誤分析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1"/>
            <a:ext cx="11870423" cy="5629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Level 2 predicts level 1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359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「</a:t>
            </a:r>
            <a:r>
              <a:rPr lang="en-US" altLang="zh-TW" sz="2000" dirty="0">
                <a:ea typeface="標楷體" panose="03000509000000000000" pitchFamily="65" charset="-120"/>
              </a:rPr>
              <a:t>Sometimes I get kicked out of the apartment for snoring … then I sleep in doorways → only 2–3 hrs.</a:t>
            </a:r>
            <a:r>
              <a:rPr lang="zh-TW" altLang="en-US" sz="2000" dirty="0">
                <a:ea typeface="標楷體" panose="03000509000000000000" pitchFamily="65" charset="-120"/>
              </a:rPr>
              <a:t>」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根據「</a:t>
            </a:r>
            <a:r>
              <a:rPr lang="en-US" altLang="zh-TW" sz="2000" dirty="0">
                <a:ea typeface="標楷體" panose="03000509000000000000" pitchFamily="65" charset="-120"/>
              </a:rPr>
              <a:t>I didn’t get much sleep last night.</a:t>
            </a:r>
            <a:r>
              <a:rPr lang="zh-TW" altLang="en-US" sz="2000" dirty="0">
                <a:ea typeface="標楷體" panose="03000509000000000000" pitchFamily="65" charset="-120"/>
              </a:rPr>
              <a:t>」判斷近期有發生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根據 </a:t>
            </a:r>
            <a:r>
              <a:rPr lang="en-US" altLang="zh-TW" sz="2000" dirty="0">
                <a:ea typeface="標楷體" panose="03000509000000000000" pitchFamily="65" charset="-120"/>
              </a:rPr>
              <a:t>Sometimes </a:t>
            </a:r>
            <a:r>
              <a:rPr lang="zh-TW" altLang="en-US" sz="2000" dirty="0">
                <a:ea typeface="標楷體" panose="03000509000000000000" pitchFamily="65" charset="-120"/>
              </a:rPr>
              <a:t>字眼判斷為發生頻率為「</a:t>
            </a:r>
            <a:r>
              <a:rPr lang="en-US" altLang="zh-TW" sz="2000" dirty="0">
                <a:ea typeface="標楷體" panose="03000509000000000000" pitchFamily="65" charset="-120"/>
              </a:rPr>
              <a:t>Several days</a:t>
            </a:r>
            <a:r>
              <a:rPr lang="zh-TW" altLang="en-US" sz="2000" dirty="0">
                <a:ea typeface="標楷體" panose="03000509000000000000" pitchFamily="65" charset="-120"/>
              </a:rPr>
              <a:t>」所以評分為 </a:t>
            </a:r>
            <a:r>
              <a:rPr lang="en-US" altLang="zh-TW" sz="2000" dirty="0">
                <a:ea typeface="標楷體" panose="03000509000000000000" pitchFamily="65" charset="-120"/>
              </a:rPr>
              <a:t>1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365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表示「</a:t>
            </a:r>
            <a:r>
              <a:rPr lang="en-US" altLang="zh-TW" sz="2000" dirty="0">
                <a:ea typeface="標楷體" panose="03000509000000000000" pitchFamily="65" charset="-120"/>
              </a:rPr>
              <a:t>sometimes it's hard</a:t>
            </a:r>
            <a:r>
              <a:rPr lang="zh-TW" altLang="en-US" sz="2000" dirty="0">
                <a:ea typeface="標楷體" panose="03000509000000000000" pitchFamily="65" charset="-120"/>
              </a:rPr>
              <a:t>」入睡，會躺在床上反覆思考工作、經濟壓力及與孩子分離等事情，這些煩惱「有時」讓他整晚清醒。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根據 </a:t>
            </a:r>
            <a:r>
              <a:rPr lang="en-US" altLang="zh-TW" sz="2000" dirty="0">
                <a:ea typeface="標楷體" panose="03000509000000000000" pitchFamily="65" charset="-120"/>
              </a:rPr>
              <a:t>Sometimes </a:t>
            </a:r>
            <a:r>
              <a:rPr lang="zh-TW" altLang="en-US" sz="2000" dirty="0">
                <a:ea typeface="標楷體" panose="03000509000000000000" pitchFamily="65" charset="-120"/>
              </a:rPr>
              <a:t>字眼判斷為發生頻率為「</a:t>
            </a:r>
            <a:r>
              <a:rPr lang="en-US" altLang="zh-TW" sz="2000" dirty="0">
                <a:ea typeface="標楷體" panose="03000509000000000000" pitchFamily="65" charset="-120"/>
              </a:rPr>
              <a:t>Several days</a:t>
            </a:r>
            <a:r>
              <a:rPr lang="zh-TW" altLang="en-US" sz="2000" dirty="0">
                <a:ea typeface="標楷體" panose="03000509000000000000" pitchFamily="65" charset="-120"/>
              </a:rPr>
              <a:t>」所以評分為 </a:t>
            </a:r>
            <a:r>
              <a:rPr lang="en-US" altLang="zh-TW" sz="2000" dirty="0">
                <a:ea typeface="標楷體" panose="03000509000000000000" pitchFamily="65" charset="-120"/>
              </a:rPr>
              <a:t>1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399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「</a:t>
            </a:r>
            <a:r>
              <a:rPr lang="en-US" altLang="zh-TW" sz="2000" dirty="0">
                <a:ea typeface="標楷體" panose="03000509000000000000" pitchFamily="65" charset="-120"/>
              </a:rPr>
              <a:t>Depends on the night—some nights it’s pretty hard, some nights I fall asleep like a baby.</a:t>
            </a:r>
            <a:r>
              <a:rPr lang="zh-TW" altLang="en-US" sz="2000" dirty="0">
                <a:ea typeface="標楷體" panose="03000509000000000000" pitchFamily="65" charset="-120"/>
              </a:rPr>
              <a:t>」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受訪者以現在式形容「</a:t>
            </a:r>
            <a:r>
              <a:rPr lang="en-US" altLang="zh-TW" sz="2000" dirty="0">
                <a:ea typeface="標楷體" panose="03000509000000000000" pitchFamily="65" charset="-120"/>
              </a:rPr>
              <a:t>depends on the night</a:t>
            </a:r>
            <a:r>
              <a:rPr lang="zh-TW" altLang="en-US" sz="2000" dirty="0">
                <a:ea typeface="標楷體" panose="03000509000000000000" pitchFamily="65" charset="-120"/>
              </a:rPr>
              <a:t>」，暗示近期仍有若干夜晚難以入睡</a:t>
            </a: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8852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LLM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分類結果的錯誤分析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1"/>
            <a:ext cx="11870423" cy="5629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Level 2 predicts level 3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421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“I don’t get a good night’s sleep … I wake up a lot in the night.”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受訪者以現在式描述持續失眠（無任何「最近已改善」或「偶爾」的說法），推斷過去兩週仍然存在，根據 </a:t>
            </a:r>
            <a:r>
              <a:rPr lang="en-US" altLang="zh-TW" sz="2000" b="1" dirty="0">
                <a:ea typeface="標楷體" panose="03000509000000000000" pitchFamily="65" charset="-120"/>
              </a:rPr>
              <a:t>a lot </a:t>
            </a:r>
            <a:r>
              <a:rPr lang="zh-TW" altLang="en-US" sz="2000" dirty="0">
                <a:ea typeface="標楷體" panose="03000509000000000000" pitchFamily="65" charset="-120"/>
              </a:rPr>
              <a:t>判斷為每天發生，所以選 </a:t>
            </a:r>
            <a:r>
              <a:rPr lang="en-US" altLang="zh-TW" sz="2000" dirty="0">
                <a:ea typeface="標楷體" panose="03000509000000000000" pitchFamily="65" charset="-120"/>
              </a:rPr>
              <a:t>3</a:t>
            </a:r>
            <a:r>
              <a:rPr lang="zh-TW" altLang="en-US" sz="2000" dirty="0">
                <a:ea typeface="標楷體" panose="03000509000000000000" pitchFamily="65" charset="-120"/>
              </a:rPr>
              <a:t> </a:t>
            </a:r>
            <a:r>
              <a:rPr lang="en-US" altLang="zh-TW" sz="2000" dirty="0">
                <a:ea typeface="標楷體" panose="03000509000000000000" pitchFamily="65" charset="-120"/>
              </a:rPr>
              <a:t>– Nearly every day</a:t>
            </a:r>
          </a:p>
        </p:txBody>
      </p:sp>
    </p:spTree>
    <p:extLst>
      <p:ext uri="{BB962C8B-B14F-4D97-AF65-F5344CB8AC3E}">
        <p14:creationId xmlns:p14="http://schemas.microsoft.com/office/powerpoint/2010/main" val="2001546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LLM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分類結果的錯誤分析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1"/>
            <a:ext cx="11870423" cy="5629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Level 3 predicts level 1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410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“It's hard — I didn't even sleep last night.”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受訪者明確描述近期出現睡眠困難與整夜未眠，但未指出這種情況在過去兩週「超過一半天數」或「幾乎每天」發生，因此建議填入 </a:t>
            </a:r>
            <a:r>
              <a:rPr lang="en-US" altLang="zh-TW" sz="2000" dirty="0">
                <a:ea typeface="標楷體" panose="03000509000000000000" pitchFamily="65" charset="-120"/>
              </a:rPr>
              <a:t>1 </a:t>
            </a:r>
            <a:r>
              <a:rPr lang="zh-TW" altLang="en-US" sz="2000" dirty="0">
                <a:ea typeface="標楷體" panose="03000509000000000000" pitchFamily="65" charset="-120"/>
              </a:rPr>
              <a:t>分。</a:t>
            </a: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3776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LLM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分類結果的錯誤分析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1"/>
            <a:ext cx="11870423" cy="562984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Level 3 predicts level 2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308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How easy is it for you to get a good night‘s sleep?</a:t>
            </a:r>
            <a:r>
              <a:rPr lang="zh-TW" altLang="en-US" sz="2000" dirty="0">
                <a:ea typeface="標楷體" panose="03000509000000000000" pitchFamily="65" charset="-120"/>
              </a:rPr>
              <a:t>」，</a:t>
            </a:r>
            <a:r>
              <a:rPr lang="en-US" altLang="zh-TW" sz="2000" dirty="0">
                <a:ea typeface="標楷體" panose="03000509000000000000" pitchFamily="65" charset="-120"/>
              </a:rPr>
              <a:t>”it isn’t”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「</a:t>
            </a:r>
            <a:r>
              <a:rPr lang="en-US" altLang="zh-TW" sz="2000" dirty="0">
                <a:ea typeface="標楷體" panose="03000509000000000000" pitchFamily="65" charset="-120"/>
              </a:rPr>
              <a:t>Do you feel that way often? </a:t>
            </a:r>
            <a:r>
              <a:rPr lang="zh-TW" altLang="en-US" sz="2000" dirty="0">
                <a:ea typeface="標楷體" panose="03000509000000000000" pitchFamily="65" charset="-120"/>
              </a:rPr>
              <a:t>」，</a:t>
            </a:r>
            <a:r>
              <a:rPr lang="en-US" altLang="zh-TW" sz="2000" dirty="0">
                <a:ea typeface="標楷體" panose="03000509000000000000" pitchFamily="65" charset="-120"/>
              </a:rPr>
              <a:t>”yes … that happens often”</a:t>
            </a: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When was the last time that happened? Why?</a:t>
            </a:r>
            <a:r>
              <a:rPr lang="zh-TW" altLang="en-US" sz="2000" dirty="0">
                <a:ea typeface="標楷體" panose="03000509000000000000" pitchFamily="65" charset="-120"/>
              </a:rPr>
              <a:t>，</a:t>
            </a:r>
            <a:r>
              <a:rPr lang="en-US" altLang="zh-TW" sz="2000" dirty="0">
                <a:ea typeface="標楷體" panose="03000509000000000000" pitchFamily="65" charset="-120"/>
              </a:rPr>
              <a:t>”</a:t>
            </a:r>
            <a:r>
              <a:rPr lang="zh-TW" altLang="en-US" sz="2000" dirty="0">
                <a:ea typeface="標楷體" panose="03000509000000000000" pitchFamily="65" charset="-120"/>
              </a:rPr>
              <a:t>前一晚（</a:t>
            </a:r>
            <a:r>
              <a:rPr lang="en-US" altLang="zh-TW" sz="2000" dirty="0">
                <a:ea typeface="標楷體" panose="03000509000000000000" pitchFamily="65" charset="-120"/>
              </a:rPr>
              <a:t>last night</a:t>
            </a:r>
            <a:r>
              <a:rPr lang="zh-TW" altLang="en-US" sz="2000" dirty="0">
                <a:ea typeface="標楷體" panose="03000509000000000000" pitchFamily="65" charset="-120"/>
              </a:rPr>
              <a:t>）因為擔心經濟與車貸問題，整夜無法入睡。</a:t>
            </a:r>
            <a:r>
              <a:rPr lang="en-US" altLang="zh-TW" sz="2000" dirty="0">
                <a:ea typeface="標楷體" panose="03000509000000000000" pitchFamily="65" charset="-120"/>
              </a:rPr>
              <a:t>”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模型根據受訪者說「</a:t>
            </a:r>
            <a:r>
              <a:rPr lang="en-US" altLang="zh-TW" sz="2000" dirty="0">
                <a:ea typeface="標楷體" panose="03000509000000000000" pitchFamily="65" charset="-120"/>
              </a:rPr>
              <a:t>often</a:t>
            </a:r>
            <a:r>
              <a:rPr lang="zh-TW" altLang="en-US" sz="2000" dirty="0">
                <a:ea typeface="標楷體" panose="03000509000000000000" pitchFamily="65" charset="-120"/>
              </a:rPr>
              <a:t>」且最近一晚失眠，判斷頻率高於「</a:t>
            </a:r>
            <a:r>
              <a:rPr lang="en-US" altLang="zh-TW" sz="2000" dirty="0">
                <a:ea typeface="標楷體" panose="03000509000000000000" pitchFamily="65" charset="-120"/>
              </a:rPr>
              <a:t>several days</a:t>
            </a:r>
            <a:r>
              <a:rPr lang="zh-TW" altLang="en-US" sz="2000" dirty="0">
                <a:ea typeface="標楷體" panose="03000509000000000000" pitchFamily="65" charset="-120"/>
              </a:rPr>
              <a:t>」但未明言「</a:t>
            </a:r>
            <a:r>
              <a:rPr lang="en-US" altLang="zh-TW" sz="2000" dirty="0">
                <a:ea typeface="標楷體" panose="03000509000000000000" pitchFamily="65" charset="-120"/>
              </a:rPr>
              <a:t>nearly every day</a:t>
            </a:r>
            <a:r>
              <a:rPr lang="zh-TW" altLang="en-US" sz="2000" dirty="0">
                <a:ea typeface="標楷體" panose="03000509000000000000" pitchFamily="65" charset="-120"/>
              </a:rPr>
              <a:t>」。所以選 </a:t>
            </a:r>
            <a:r>
              <a:rPr lang="en-US" altLang="zh-TW" sz="2000" dirty="0">
                <a:ea typeface="標楷體" panose="03000509000000000000" pitchFamily="65" charset="-120"/>
              </a:rPr>
              <a:t>2 – More than half the days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詢問過往患上憂鬱症的症狀，</a:t>
            </a:r>
            <a:r>
              <a:rPr lang="en-US" altLang="zh-TW" sz="2000" dirty="0">
                <a:ea typeface="標楷體" panose="03000509000000000000" pitchFamily="65" charset="-120"/>
              </a:rPr>
              <a:t>”mm, lack of energy, wanting to sleep a lot …”</a:t>
            </a: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332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描述過往 </a:t>
            </a:r>
            <a:r>
              <a:rPr lang="en-US" altLang="zh-TW" sz="2000" dirty="0">
                <a:ea typeface="標楷體" panose="03000509000000000000" pitchFamily="65" charset="-120"/>
              </a:rPr>
              <a:t>PTSD </a:t>
            </a:r>
            <a:r>
              <a:rPr lang="zh-TW" altLang="en-US" sz="2000" dirty="0">
                <a:ea typeface="標楷體" panose="03000509000000000000" pitchFamily="65" charset="-120"/>
              </a:rPr>
              <a:t>症狀：「</a:t>
            </a:r>
            <a:r>
              <a:rPr lang="en-US" altLang="zh-TW" sz="2000" dirty="0">
                <a:ea typeface="標楷體" panose="03000509000000000000" pitchFamily="65" charset="-120"/>
              </a:rPr>
              <a:t>couldn‘t sleep</a:t>
            </a:r>
            <a:r>
              <a:rPr lang="zh-TW" altLang="en-US" sz="2000" dirty="0">
                <a:ea typeface="標楷體" panose="03000509000000000000" pitchFamily="65" charset="-120"/>
              </a:rPr>
              <a:t>」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en-US" altLang="zh-TW" sz="2000" dirty="0">
                <a:ea typeface="標楷體" panose="03000509000000000000" pitchFamily="65" charset="-120"/>
              </a:rPr>
              <a:t>have you noticed any changes in your behavior or thoughts lately</a:t>
            </a:r>
            <a:r>
              <a:rPr lang="zh-TW" altLang="en-US" sz="2000" dirty="0">
                <a:ea typeface="標楷體" panose="03000509000000000000" pitchFamily="65" charset="-120"/>
              </a:rPr>
              <a:t>」，「</a:t>
            </a:r>
            <a:r>
              <a:rPr lang="en-US" altLang="zh-TW" sz="2000" dirty="0">
                <a:ea typeface="標楷體" panose="03000509000000000000" pitchFamily="65" charset="-120"/>
              </a:rPr>
              <a:t>I'm a lot more tired ; I sleep longer</a:t>
            </a:r>
            <a:r>
              <a:rPr lang="zh-TW" altLang="en-US" sz="2000" dirty="0">
                <a:ea typeface="標楷體" panose="03000509000000000000" pitchFamily="65" charset="-120"/>
              </a:rPr>
              <a:t>」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資訊不足以判定「幾乎每天」</a:t>
            </a:r>
            <a:r>
              <a:rPr lang="en-US" altLang="zh-TW" sz="2000" dirty="0">
                <a:ea typeface="標楷體" panose="03000509000000000000" pitchFamily="65" charset="-120"/>
              </a:rPr>
              <a:t>(3 </a:t>
            </a:r>
            <a:r>
              <a:rPr lang="zh-TW" altLang="en-US" sz="2000" dirty="0">
                <a:ea typeface="標楷體" panose="03000509000000000000" pitchFamily="65" charset="-120"/>
              </a:rPr>
              <a:t>分</a:t>
            </a:r>
            <a:r>
              <a:rPr lang="en-US" altLang="zh-TW" sz="2000" dirty="0">
                <a:ea typeface="標楷體" panose="03000509000000000000" pitchFamily="65" charset="-120"/>
              </a:rPr>
              <a:t>)</a:t>
            </a:r>
            <a:r>
              <a:rPr lang="zh-TW" altLang="en-US" sz="2000" dirty="0">
                <a:ea typeface="標楷體" panose="03000509000000000000" pitchFamily="65" charset="-120"/>
              </a:rPr>
              <a:t>，但亦非「僅偶爾」</a:t>
            </a:r>
            <a:r>
              <a:rPr lang="en-US" altLang="zh-TW" sz="2000" dirty="0">
                <a:ea typeface="標楷體" panose="03000509000000000000" pitchFamily="65" charset="-120"/>
              </a:rPr>
              <a:t>(1 </a:t>
            </a:r>
            <a:r>
              <a:rPr lang="zh-TW" altLang="en-US" sz="2000" dirty="0">
                <a:ea typeface="標楷體" panose="03000509000000000000" pitchFamily="65" charset="-120"/>
              </a:rPr>
              <a:t>分</a:t>
            </a:r>
            <a:r>
              <a:rPr lang="en-US" altLang="zh-TW" sz="2000" dirty="0">
                <a:ea typeface="標楷體" panose="03000509000000000000" pitchFamily="65" charset="-120"/>
              </a:rPr>
              <a:t>)</a:t>
            </a:r>
            <a:r>
              <a:rPr lang="zh-TW" altLang="en-US" sz="2000" dirty="0">
                <a:ea typeface="標楷體" panose="03000509000000000000" pitchFamily="65" charset="-120"/>
              </a:rPr>
              <a:t>。</a:t>
            </a:r>
            <a:endParaRPr lang="en-US" altLang="zh-TW" sz="20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310992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LLM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分類結果的錯誤分析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2562B24-0CD0-40F3-AA22-8769F801AEE1}"/>
              </a:ext>
            </a:extLst>
          </p:cNvPr>
          <p:cNvSpPr txBox="1">
            <a:spLocks/>
          </p:cNvSpPr>
          <p:nvPr/>
        </p:nvSpPr>
        <p:spPr>
          <a:xfrm>
            <a:off x="321577" y="1033733"/>
            <a:ext cx="11870423" cy="53754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sz="2000" dirty="0">
              <a:ea typeface="標楷體" panose="03000509000000000000" pitchFamily="65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62748EE1-7C04-4A5F-A837-1F111784978D}"/>
              </a:ext>
            </a:extLst>
          </p:cNvPr>
          <p:cNvSpPr txBox="1">
            <a:spLocks/>
          </p:cNvSpPr>
          <p:nvPr/>
        </p:nvSpPr>
        <p:spPr>
          <a:xfrm>
            <a:off x="321577" y="1209901"/>
            <a:ext cx="11870423" cy="5629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Level 3 predicts level 2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>
              <a:lnSpc>
                <a:spcPct val="120000"/>
              </a:lnSpc>
            </a:pPr>
            <a:r>
              <a:rPr lang="en-US" altLang="zh-TW" sz="2400" dirty="0">
                <a:ea typeface="標楷體" panose="03000509000000000000" pitchFamily="65" charset="-120"/>
              </a:rPr>
              <a:t>354</a:t>
            </a: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「</a:t>
            </a:r>
            <a:r>
              <a:rPr lang="en-US" altLang="zh-TW" sz="2000" dirty="0">
                <a:ea typeface="標楷體" panose="03000509000000000000" pitchFamily="65" charset="-120"/>
              </a:rPr>
              <a:t>It's pretty hard … I'm usually up for 15–18 hours … by the time I get home I'm really not even that tired to go to sleep.</a:t>
            </a:r>
            <a:r>
              <a:rPr lang="zh-TW" altLang="en-US" sz="2000" dirty="0">
                <a:ea typeface="標楷體" panose="03000509000000000000" pitchFamily="65" charset="-120"/>
              </a:rPr>
              <a:t>」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現階段以入睡困難為主（作息過長、回家後難以立即入睡），並影響隔日情緒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受訪者描述為目前的日常情況：「通常工時 </a:t>
            </a:r>
            <a:r>
              <a:rPr lang="en-US" altLang="zh-TW" sz="2000" dirty="0">
                <a:ea typeface="標楷體" panose="03000509000000000000" pitchFamily="65" charset="-120"/>
              </a:rPr>
              <a:t>15–18 </a:t>
            </a:r>
            <a:r>
              <a:rPr lang="zh-TW" altLang="en-US" sz="2000" dirty="0">
                <a:ea typeface="標楷體" panose="03000509000000000000" pitchFamily="65" charset="-120"/>
              </a:rPr>
              <a:t>小時 → 回家難以入睡」，暗示連續一段時間（包含最近兩週）皆有困擾</a:t>
            </a:r>
            <a:endParaRPr lang="en-US" altLang="zh-TW" sz="2000" dirty="0">
              <a:ea typeface="標楷體" panose="03000509000000000000" pitchFamily="65" charset="-120"/>
            </a:endParaRPr>
          </a:p>
          <a:p>
            <a:pPr lvl="1">
              <a:lnSpc>
                <a:spcPct val="120000"/>
              </a:lnSpc>
            </a:pPr>
            <a:r>
              <a:rPr lang="zh-TW" altLang="en-US" sz="2000" dirty="0">
                <a:ea typeface="標楷體" panose="03000509000000000000" pitchFamily="65" charset="-120"/>
              </a:rPr>
              <a:t>模型判斷頻率大於「偶爾</a:t>
            </a:r>
            <a:r>
              <a:rPr lang="en-US" altLang="zh-TW" sz="2000" dirty="0">
                <a:ea typeface="標楷體" panose="03000509000000000000" pitchFamily="65" charset="-120"/>
              </a:rPr>
              <a:t>(Several days)</a:t>
            </a:r>
            <a:r>
              <a:rPr lang="zh-TW" altLang="en-US" sz="2000" dirty="0">
                <a:ea typeface="標楷體" panose="03000509000000000000" pitchFamily="65" charset="-120"/>
              </a:rPr>
              <a:t>」但未明確達到「幾乎每天</a:t>
            </a:r>
            <a:r>
              <a:rPr lang="en-US" altLang="zh-TW" sz="2000" dirty="0">
                <a:ea typeface="標楷體" panose="03000509000000000000" pitchFamily="65" charset="-120"/>
              </a:rPr>
              <a:t>(Nearly every days)</a:t>
            </a:r>
            <a:r>
              <a:rPr lang="zh-TW" altLang="en-US" sz="2000" dirty="0">
                <a:ea typeface="標楷體" panose="03000509000000000000" pitchFamily="65" charset="-120"/>
              </a:rPr>
              <a:t>」，因此評 </a:t>
            </a:r>
            <a:r>
              <a:rPr lang="en-US" altLang="zh-TW" sz="2000" dirty="0">
                <a:ea typeface="標楷體" panose="03000509000000000000" pitchFamily="65" charset="-12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08446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5513</TotalTime>
  <Words>1901</Words>
  <Application>Microsoft Office PowerPoint</Application>
  <PresentationFormat>寬螢幕</PresentationFormat>
  <Paragraphs>198</Paragraphs>
  <Slides>13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8" baseType="lpstr">
      <vt:lpstr>-apple-system</vt:lpstr>
      <vt:lpstr>Arial</vt:lpstr>
      <vt:lpstr>Calibri</vt:lpstr>
      <vt:lpstr>Calibri Light</vt:lpstr>
      <vt:lpstr>Office 佈景主題</vt:lpstr>
      <vt:lpstr>2025/07/09 Meeting Report</vt:lpstr>
      <vt:lpstr>使用 ChatGPT o3 判斷 sleeping problem</vt:lpstr>
      <vt:lpstr>使用 ChatGPT o3 判斷 sleeping problem</vt:lpstr>
      <vt:lpstr>PHQ8 Sleeping 分類結果</vt:lpstr>
      <vt:lpstr>LLM 分類結果的錯誤分析</vt:lpstr>
      <vt:lpstr>LLM 分類結果的錯誤分析</vt:lpstr>
      <vt:lpstr>LLM 分類結果的錯誤分析</vt:lpstr>
      <vt:lpstr>LLM 分類結果的錯誤分析</vt:lpstr>
      <vt:lpstr>LLM 分類結果的錯誤分析</vt:lpstr>
      <vt:lpstr>LLM 分類結果的錯誤分析</vt:lpstr>
      <vt:lpstr>LLM 分類結果的錯誤分析</vt:lpstr>
      <vt:lpstr>LLM 分類結果的錯誤分析</vt:lpstr>
      <vt:lpstr>LLM 分類結果的錯誤分析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2025/06/24 Meeting Report</dc:title>
  <dc:creator>嘉均 簡</dc:creator>
  <cp:lastModifiedBy>嘉均 簡</cp:lastModifiedBy>
  <cp:revision>88</cp:revision>
  <dcterms:created xsi:type="dcterms:W3CDTF">2025-06-24T01:15:17Z</dcterms:created>
  <dcterms:modified xsi:type="dcterms:W3CDTF">2025-07-09T03:42:32Z</dcterms:modified>
</cp:coreProperties>
</file>