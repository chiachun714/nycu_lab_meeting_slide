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7" r:id="rId2"/>
    <p:sldId id="313" r:id="rId3"/>
    <p:sldId id="322" r:id="rId4"/>
    <p:sldId id="314" r:id="rId5"/>
    <p:sldId id="315" r:id="rId6"/>
    <p:sldId id="311" r:id="rId7"/>
    <p:sldId id="317" r:id="rId8"/>
    <p:sldId id="327" r:id="rId9"/>
    <p:sldId id="318" r:id="rId10"/>
    <p:sldId id="325" r:id="rId11"/>
    <p:sldId id="319" r:id="rId12"/>
    <p:sldId id="323" r:id="rId13"/>
    <p:sldId id="320" r:id="rId14"/>
    <p:sldId id="321" r:id="rId15"/>
    <p:sldId id="324" r:id="rId16"/>
    <p:sldId id="326" r:id="rId17"/>
    <p:sldId id="309" r:id="rId18"/>
    <p:sldId id="310" r:id="rId1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83FCE3-478C-431E-87AB-BE170C516E69}" type="datetimeFigureOut">
              <a:rPr lang="zh-TW" altLang="en-US" smtClean="0"/>
              <a:t>2025/1/9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F28D4C-F25D-4326-8B73-8471B974A0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3185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AA43A8-D8AF-4A57-B3C3-ACEB87B86596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40039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72721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63943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64356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99934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78560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14238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491993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132952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63374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46566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25644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87834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27198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43125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56082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34302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60977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704A3D9-15E9-4086-9416-05789441AE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27BC534-F64A-4BAC-AEAD-A2043EDB35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95E37C9-7BD0-4DCD-910F-A6C7E31F4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1045B-A1E6-44A0-A725-97F99BB28122}" type="datetimeFigureOut">
              <a:rPr lang="zh-TW" altLang="en-US" smtClean="0"/>
              <a:t>2025/1/9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3166B29-95AE-40F6-8B6C-FF04BA8E0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546CC68-0B78-449E-A300-BE6492469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9E302-4139-4D9D-989B-DA70CE82B6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01732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E531F92-87DB-4A03-B534-2E8C2272C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E5A9A84-0B06-42E3-A6FF-CF152780A5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5249F61-91D8-4AF1-93F3-4427C1189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1045B-A1E6-44A0-A725-97F99BB28122}" type="datetimeFigureOut">
              <a:rPr lang="zh-TW" altLang="en-US" smtClean="0"/>
              <a:t>2025/1/9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E055F53-6359-4ED8-A61B-0C03615B2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0631735-F8E1-4AA6-BD18-E480F6D97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9E302-4139-4D9D-989B-DA70CE82B6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8927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BB6B74-1F25-4025-89D1-3FD1370B5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0B2351E-9E60-47C4-AC59-64AF7079B6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E1937E6-660F-4C46-B477-20D78A462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1045B-A1E6-44A0-A725-97F99BB28122}" type="datetimeFigureOut">
              <a:rPr lang="zh-TW" altLang="en-US" smtClean="0"/>
              <a:t>2025/1/9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E888549-25B1-4EE2-9D8F-AC4917253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F290F1E-C4BD-4C66-8A1E-6256F22BC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9E302-4139-4D9D-989B-DA70CE82B6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4122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B89A568-1BE1-48A2-8EC9-EC98EE6E8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B1E703-6AEA-4325-825F-B5AB5725C0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6A186C0-B94D-4AE8-88EB-EE7520C2DA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A219445-A430-4EDA-8CDB-750FA05D9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1045B-A1E6-44A0-A725-97F99BB28122}" type="datetimeFigureOut">
              <a:rPr lang="zh-TW" altLang="en-US" smtClean="0"/>
              <a:t>2025/1/9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BE602F1-C8E8-4B65-9D11-BECA640DC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782FA8A-4374-4FE7-A684-E9EBD090A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9E302-4139-4D9D-989B-DA70CE82B6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935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85D98E-0400-4C92-8B1C-79D3D446E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3181CD2-678D-4171-82ED-EDEBC8424B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4ED527C-AF3D-4030-AC73-974CD0A695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E005D37-5DAA-46A4-8847-C428339D73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37FFD1D8-DC2F-464F-89CB-3F309D56C7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53D14D72-90B7-4AC4-B35E-60D8ECFF6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1045B-A1E6-44A0-A725-97F99BB28122}" type="datetimeFigureOut">
              <a:rPr lang="zh-TW" altLang="en-US" smtClean="0"/>
              <a:t>2025/1/9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172E2AB7-7C06-44A2-A09A-917A67E23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EC5C4994-9C35-4585-BEE1-2A20ECA1F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9E302-4139-4D9D-989B-DA70CE82B6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53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789B3A-3305-4A3A-923B-289F25A93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F0A53EE-3FEF-46D9-AD75-6B57192FD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1045B-A1E6-44A0-A725-97F99BB28122}" type="datetimeFigureOut">
              <a:rPr lang="zh-TW" altLang="en-US" smtClean="0"/>
              <a:t>2025/1/9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F0DFCF92-E46E-48EF-9432-0891C63C7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BBE9FF3-5389-491A-9627-8F6B0E76A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9E302-4139-4D9D-989B-DA70CE82B6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22513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F75B2888-479E-47E0-9AC3-845F29035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1045B-A1E6-44A0-A725-97F99BB28122}" type="datetimeFigureOut">
              <a:rPr lang="zh-TW" altLang="en-US" smtClean="0"/>
              <a:t>2025/1/9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F6B3824-EEA0-4AE9-8D56-A9C632F78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CB8FA32-B005-4772-AF93-98857F7F5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9E302-4139-4D9D-989B-DA70CE82B6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5369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0BAD46B-27BE-4814-B1C5-162EC11E7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0203E8E-E52C-494C-BFB6-4BF1B07A17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EF397A1-5A73-47E6-9B11-6909468158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4C03C9A-8DCB-47E9-A1E4-3ED3B7BEA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1045B-A1E6-44A0-A725-97F99BB28122}" type="datetimeFigureOut">
              <a:rPr lang="zh-TW" altLang="en-US" smtClean="0"/>
              <a:t>2025/1/9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780F470-6778-420B-8A93-97709E635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DEB09AE-4183-4A3C-8287-043BA88FF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9E302-4139-4D9D-989B-DA70CE82B6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0252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839FF56-56A6-4B6F-85AE-6B5E79B75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7A72E51C-DBFB-49CB-845F-6F7CF244A0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88C8888-AFD5-4943-AE5C-0A2C0A57C7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E9F613C-0A88-4A59-A82F-6F3B0703B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1045B-A1E6-44A0-A725-97F99BB28122}" type="datetimeFigureOut">
              <a:rPr lang="zh-TW" altLang="en-US" smtClean="0"/>
              <a:t>2025/1/9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BBA4FC6-D27B-4EDF-8C76-C345F6EFF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AB4B0F6-359D-41DA-B573-2A00027B5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9E302-4139-4D9D-989B-DA70CE82B6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8743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5E2C750-B0A2-4D3A-ADB4-A3FEFF6F1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691C6F4-772F-460D-A51A-467DF1BC03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121F333-A86D-4708-9A90-D71590455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1045B-A1E6-44A0-A725-97F99BB28122}" type="datetimeFigureOut">
              <a:rPr lang="zh-TW" altLang="en-US" smtClean="0"/>
              <a:t>2025/1/9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AD49260-352E-42E8-B5DA-5197516C7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7621D93-B296-4823-8786-B95B850B7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9E302-4139-4D9D-989B-DA70CE82B6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5431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1DF3E2F-06A1-4089-BE94-1797AE548A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4D3E8AD-73C8-4B6A-BCBC-395990E460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02683CB-806B-4713-80FE-D73D13C63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1045B-A1E6-44A0-A725-97F99BB28122}" type="datetimeFigureOut">
              <a:rPr lang="zh-TW" altLang="en-US" smtClean="0"/>
              <a:t>2025/1/9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BA8DB0B-6413-4B1A-BBD1-239E30039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B0EEF2E-64CC-4AD1-BB5E-A81D308A5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9E302-4139-4D9D-989B-DA70CE82B6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63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689BA23D-A74C-4150-84B3-E3B034C76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DC9E99D-3205-4DD3-9389-F2797F2D08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09D3FC5-709C-45C3-8758-28B4444FCC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91045B-A1E6-44A0-A725-97F99BB28122}" type="datetimeFigureOut">
              <a:rPr lang="zh-TW" altLang="en-US" smtClean="0"/>
              <a:t>2025/1/9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4FF4EEB-2F90-43FE-B9DF-6B99A51632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A55A917-BCBC-4D9F-9061-BB1B977B64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39E302-4139-4D9D-989B-DA70CE82B6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09884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F6782A-F7CF-4A5C-9F5E-8B26F42F92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0421" y="1041400"/>
            <a:ext cx="10631155" cy="2387600"/>
          </a:xfrm>
        </p:spPr>
        <p:txBody>
          <a:bodyPr>
            <a:normAutofit/>
          </a:bodyPr>
          <a:lstStyle/>
          <a:p>
            <a:r>
              <a:rPr lang="en-US" altLang="zh-TW" sz="4400" b="1" dirty="0"/>
              <a:t>2024/01/09</a:t>
            </a:r>
            <a:r>
              <a:rPr lang="zh-TW" altLang="en-US" sz="4400" b="1" dirty="0"/>
              <a:t> </a:t>
            </a:r>
            <a:r>
              <a:rPr lang="en-US" altLang="zh-TW" sz="4400" b="1" dirty="0"/>
              <a:t>Meeting Report</a:t>
            </a:r>
            <a:endParaRPr lang="zh-TW" altLang="en-US" sz="4400" dirty="0"/>
          </a:p>
        </p:txBody>
      </p:sp>
    </p:spTree>
    <p:extLst>
      <p:ext uri="{BB962C8B-B14F-4D97-AF65-F5344CB8AC3E}">
        <p14:creationId xmlns:p14="http://schemas.microsoft.com/office/powerpoint/2010/main" val="3275906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Wav2vec2.0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複現的實驗數據</a:t>
            </a:r>
            <a:endParaRPr lang="en-US" altLang="zh-TW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0BBC12D3-1FB2-427F-810B-DAF835F43F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109" y="2669381"/>
            <a:ext cx="6059235" cy="2322102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346AC2A5-CCE3-4847-8276-A6D049781B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7911" y="1694607"/>
            <a:ext cx="5402510" cy="3706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958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Wav2vec2.0 ASR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複現的實驗數據</a:t>
            </a:r>
            <a:endParaRPr lang="en-US" altLang="zh-TW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EACA181-D84B-484E-BC17-2A45AC898F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2827" y="1587952"/>
            <a:ext cx="5479345" cy="3813540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044349C5-CEA1-46F0-85C6-ECFE3C45D9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817" y="2575719"/>
            <a:ext cx="6010275" cy="2409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8106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en-US" altLang="zh-TW" sz="3200" dirty="0" err="1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HuBERT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複現的實驗數據</a:t>
            </a:r>
            <a:endParaRPr lang="en-US" altLang="zh-TW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A660C61-8C4F-489E-AFD7-71CD8C9B4C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5465" y="1343818"/>
            <a:ext cx="5721530" cy="3991580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87468360-5971-4F03-96AA-FD6CFD5DF1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170" y="2504851"/>
            <a:ext cx="5696326" cy="2322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126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en-US" altLang="zh-TW" sz="3200" dirty="0" err="1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WavLM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複現的實驗數據</a:t>
            </a:r>
            <a:endParaRPr lang="en-US" altLang="zh-TW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B8D72438-B197-41C7-A57B-99688C44A9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833" y="2470995"/>
            <a:ext cx="6019800" cy="241935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11CD4D50-C770-4739-9D9C-5FD12BA4BF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3871" y="1231128"/>
            <a:ext cx="5801583" cy="4104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867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複現的 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Block Wise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實驗數據總結</a:t>
            </a:r>
            <a:endParaRPr lang="en-US" altLang="zh-TW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756E0E1C-E165-44F5-8706-DB4835DEFFCB}"/>
              </a:ext>
            </a:extLst>
          </p:cNvPr>
          <p:cNvSpPr txBox="1">
            <a:spLocks/>
          </p:cNvSpPr>
          <p:nvPr/>
        </p:nvSpPr>
        <p:spPr>
          <a:xfrm>
            <a:off x="627742" y="1338035"/>
            <a:ext cx="8127186" cy="24001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zh-TW" altLang="en-US" sz="3200" dirty="0">
                <a:ea typeface="標楷體" panose="03000509000000000000" pitchFamily="65" charset="-120"/>
              </a:rPr>
              <a:t>我的數據都比論文差</a:t>
            </a:r>
            <a:endParaRPr lang="en-US" altLang="zh-TW" sz="32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Wav2vec2.0 ASR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的結果與論文不同</a:t>
            </a:r>
            <a:endParaRPr lang="en-US" altLang="zh-TW" sz="3200" dirty="0"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682219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複現的 </a:t>
            </a:r>
            <a:r>
              <a:rPr lang="en-US" altLang="zh-TW" sz="3200" dirty="0" err="1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RoBERTa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Hypotheses Transcript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實驗數據</a:t>
            </a:r>
            <a:endParaRPr lang="en-US" altLang="zh-TW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CA5D262-0563-4550-BC01-6B312215A6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0484" y="1456508"/>
            <a:ext cx="7058025" cy="1657350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6EE096EC-8AC2-4E30-83E3-757FC20384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4464" y="3408363"/>
            <a:ext cx="7034804" cy="1502791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8A93B747-C290-44D4-BAF3-1BE797E318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4464" y="5085397"/>
            <a:ext cx="7174393" cy="1441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0407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How does </a:t>
            </a:r>
            <a:r>
              <a:rPr lang="en-US" altLang="zh-TW" sz="3200" dirty="0" err="1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RoBERTa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produce sentence feature ?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B0FF56AF-5768-47DA-8600-B3A94A2B9C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90" y="1343818"/>
            <a:ext cx="11953875" cy="439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9256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複現的 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Hypotheses Transcript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實驗數據總結</a:t>
            </a:r>
            <a:endParaRPr lang="en-US" altLang="zh-TW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756E0E1C-E165-44F5-8706-DB4835DEFFCB}"/>
              </a:ext>
            </a:extLst>
          </p:cNvPr>
          <p:cNvSpPr txBox="1">
            <a:spLocks/>
          </p:cNvSpPr>
          <p:nvPr/>
        </p:nvSpPr>
        <p:spPr>
          <a:xfrm>
            <a:off x="627741" y="1338035"/>
            <a:ext cx="10515599" cy="24001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zh-TW" altLang="en-US" sz="3200" dirty="0">
                <a:ea typeface="標楷體" panose="03000509000000000000" pitchFamily="65" charset="-120"/>
              </a:rPr>
              <a:t>我的數據與論文結果不符</a:t>
            </a:r>
            <a:endParaRPr lang="en-US" altLang="zh-TW" sz="32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r>
              <a:rPr lang="en-US" altLang="zh-TW" sz="3200" dirty="0">
                <a:ea typeface="標楷體" panose="03000509000000000000" pitchFamily="65" charset="-120"/>
              </a:rPr>
              <a:t>Reference 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Transcript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</a:t>
            </a:r>
            <a:r>
              <a:rPr lang="zh-TW" altLang="en-US" sz="3200" dirty="0">
                <a:ea typeface="標楷體" panose="03000509000000000000" pitchFamily="65" charset="-120"/>
              </a:rPr>
              <a:t>比 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Hypotheses Transcript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差</a:t>
            </a:r>
            <a:endParaRPr lang="en-US" altLang="zh-TW" sz="3200" dirty="0"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484217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我的與論文的 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Fuse Feature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實驗數據比較</a:t>
            </a:r>
            <a:endParaRPr lang="en-US" altLang="zh-TW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16" name="內容版面配置區 2">
            <a:extLst>
              <a:ext uri="{FF2B5EF4-FFF2-40B4-BE49-F238E27FC236}">
                <a16:creationId xmlns:a16="http://schemas.microsoft.com/office/drawing/2014/main" id="{5EE3267E-85AD-4FD1-9CA8-3304EB395806}"/>
              </a:ext>
            </a:extLst>
          </p:cNvPr>
          <p:cNvSpPr txBox="1">
            <a:spLocks/>
          </p:cNvSpPr>
          <p:nvPr/>
        </p:nvSpPr>
        <p:spPr>
          <a:xfrm>
            <a:off x="1189533" y="1600374"/>
            <a:ext cx="7850732" cy="24001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zh-TW" altLang="en-US" sz="3200" dirty="0">
                <a:ea typeface="標楷體" panose="03000509000000000000" pitchFamily="65" charset="-120"/>
              </a:rPr>
              <a:t>兩者數據大致相符</a:t>
            </a:r>
            <a:endParaRPr lang="en-US" altLang="zh-TW" sz="3200" dirty="0">
              <a:ea typeface="標楷體" panose="03000509000000000000" pitchFamily="65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FAFBC729-3A3C-4956-8166-6E622EDD18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9533" y="2543891"/>
            <a:ext cx="9477375" cy="2066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9212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Wav2Vec2.0 + </a:t>
            </a:r>
            <a:r>
              <a:rPr lang="en-US" altLang="zh-TW" sz="3200" dirty="0" err="1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RoBERTa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複現的實驗數據</a:t>
            </a:r>
            <a:endParaRPr lang="en-US" altLang="zh-TW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6723043B-8CB2-4923-B279-4E7D2168B0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127" y="1082398"/>
            <a:ext cx="7959056" cy="1669191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D2BCC8BC-981E-46AA-AC34-5EB0A5F6C3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577" y="2864279"/>
            <a:ext cx="7999567" cy="1591074"/>
          </a:xfrm>
          <a:prstGeom prst="rect">
            <a:avLst/>
          </a:prstGeom>
        </p:spPr>
      </p:pic>
      <p:sp>
        <p:nvSpPr>
          <p:cNvPr id="16" name="內容版面配置區 2">
            <a:extLst>
              <a:ext uri="{FF2B5EF4-FFF2-40B4-BE49-F238E27FC236}">
                <a16:creationId xmlns:a16="http://schemas.microsoft.com/office/drawing/2014/main" id="{5EE3267E-85AD-4FD1-9CA8-3304EB395806}"/>
              </a:ext>
            </a:extLst>
          </p:cNvPr>
          <p:cNvSpPr txBox="1">
            <a:spLocks/>
          </p:cNvSpPr>
          <p:nvPr/>
        </p:nvSpPr>
        <p:spPr>
          <a:xfrm>
            <a:off x="8331631" y="1600374"/>
            <a:ext cx="3860369" cy="24001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使用 </a:t>
            </a:r>
            <a:r>
              <a:rPr lang="en-US" altLang="zh-TW" sz="2400" dirty="0">
                <a:ea typeface="標楷體" panose="03000509000000000000" pitchFamily="65" charset="-120"/>
              </a:rPr>
              <a:t>reference feature </a:t>
            </a:r>
            <a:r>
              <a:rPr lang="zh-TW" altLang="en-US" sz="2400" dirty="0">
                <a:ea typeface="標楷體" panose="03000509000000000000" pitchFamily="65" charset="-120"/>
              </a:rPr>
              <a:t>比 </a:t>
            </a:r>
            <a:r>
              <a:rPr lang="en-US" altLang="zh-TW" sz="2400" dirty="0">
                <a:ea typeface="標楷體" panose="03000509000000000000" pitchFamily="65" charset="-120"/>
              </a:rPr>
              <a:t>Hypotheses feature </a:t>
            </a:r>
            <a:r>
              <a:rPr lang="zh-TW" altLang="en-US" sz="2400" dirty="0">
                <a:ea typeface="標楷體" panose="03000509000000000000" pitchFamily="65" charset="-120"/>
              </a:rPr>
              <a:t>好</a:t>
            </a: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用 </a:t>
            </a:r>
            <a:r>
              <a:rPr lang="en-US" altLang="zh-TW" sz="2400" dirty="0">
                <a:ea typeface="標楷體" panose="03000509000000000000" pitchFamily="65" charset="-120"/>
              </a:rPr>
              <a:t>fuse feature </a:t>
            </a:r>
            <a:r>
              <a:rPr lang="zh-TW" altLang="en-US" sz="2400" dirty="0">
                <a:ea typeface="標楷體" panose="03000509000000000000" pitchFamily="65" charset="-120"/>
              </a:rPr>
              <a:t>會比只使用 </a:t>
            </a:r>
            <a:r>
              <a:rPr lang="en-US" altLang="zh-TW" sz="2400" dirty="0">
                <a:ea typeface="標楷體" panose="03000509000000000000" pitchFamily="65" charset="-120"/>
              </a:rPr>
              <a:t>audio feature </a:t>
            </a:r>
            <a:r>
              <a:rPr lang="zh-TW" altLang="en-US" sz="2400" dirty="0">
                <a:ea typeface="標楷體" panose="03000509000000000000" pitchFamily="65" charset="-120"/>
              </a:rPr>
              <a:t>好</a:t>
            </a: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上述兩點與論文相同</a:t>
            </a: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90C4B76A-A3D3-4CA8-9F24-3A432DC8FE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3866" y="4568043"/>
            <a:ext cx="5123513" cy="1963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0591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Wav2Vec2.0 ASR + </a:t>
            </a:r>
            <a:r>
              <a:rPr lang="en-US" altLang="zh-TW" sz="3200" dirty="0" err="1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RoBERTa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複現的實驗數據</a:t>
            </a:r>
            <a:endParaRPr lang="en-US" altLang="zh-TW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16" name="內容版面配置區 2">
            <a:extLst>
              <a:ext uri="{FF2B5EF4-FFF2-40B4-BE49-F238E27FC236}">
                <a16:creationId xmlns:a16="http://schemas.microsoft.com/office/drawing/2014/main" id="{5EE3267E-85AD-4FD1-9CA8-3304EB395806}"/>
              </a:ext>
            </a:extLst>
          </p:cNvPr>
          <p:cNvSpPr txBox="1">
            <a:spLocks/>
          </p:cNvSpPr>
          <p:nvPr/>
        </p:nvSpPr>
        <p:spPr>
          <a:xfrm>
            <a:off x="8331631" y="1600374"/>
            <a:ext cx="3860369" cy="24001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使用 </a:t>
            </a:r>
            <a:r>
              <a:rPr lang="en-US" altLang="zh-TW" sz="2400" dirty="0">
                <a:ea typeface="標楷體" panose="03000509000000000000" pitchFamily="65" charset="-120"/>
              </a:rPr>
              <a:t>reference feature </a:t>
            </a:r>
            <a:r>
              <a:rPr lang="zh-TW" altLang="en-US" sz="2400" dirty="0">
                <a:ea typeface="標楷體" panose="03000509000000000000" pitchFamily="65" charset="-120"/>
              </a:rPr>
              <a:t>比 </a:t>
            </a:r>
            <a:r>
              <a:rPr lang="en-US" altLang="zh-TW" sz="2400" dirty="0">
                <a:ea typeface="標楷體" panose="03000509000000000000" pitchFamily="65" charset="-120"/>
              </a:rPr>
              <a:t>Hypotheses feature </a:t>
            </a:r>
            <a:r>
              <a:rPr lang="zh-TW" altLang="en-US" sz="2400" dirty="0">
                <a:ea typeface="標楷體" panose="03000509000000000000" pitchFamily="65" charset="-120"/>
              </a:rPr>
              <a:t>好</a:t>
            </a: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用 </a:t>
            </a:r>
            <a:r>
              <a:rPr lang="en-US" altLang="zh-TW" sz="2400" dirty="0">
                <a:ea typeface="標楷體" panose="03000509000000000000" pitchFamily="65" charset="-120"/>
              </a:rPr>
              <a:t>fuse feature </a:t>
            </a:r>
            <a:r>
              <a:rPr lang="zh-TW" altLang="en-US" sz="2400" dirty="0">
                <a:ea typeface="標楷體" panose="03000509000000000000" pitchFamily="65" charset="-120"/>
              </a:rPr>
              <a:t>會比只使用 </a:t>
            </a:r>
            <a:r>
              <a:rPr lang="en-US" altLang="zh-TW" sz="2400" dirty="0">
                <a:ea typeface="標楷體" panose="03000509000000000000" pitchFamily="65" charset="-120"/>
              </a:rPr>
              <a:t>audio feature </a:t>
            </a:r>
            <a:r>
              <a:rPr lang="zh-TW" altLang="en-US" sz="2400" dirty="0">
                <a:ea typeface="標楷體" panose="03000509000000000000" pitchFamily="65" charset="-120"/>
              </a:rPr>
              <a:t>好</a:t>
            </a: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上述兩點與論文相同</a:t>
            </a: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B057001-BD0C-4690-A0F8-12F2ED56A5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833" y="1231128"/>
            <a:ext cx="8145712" cy="1618110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6A31D3FC-1117-4290-9D1F-EDC19ECFBF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834" y="2954111"/>
            <a:ext cx="8205798" cy="1617268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98FCA28C-A5A3-4CFF-9C1D-3BD2C56379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6929" y="4657633"/>
            <a:ext cx="4834702" cy="1938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6194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en-US" altLang="zh-TW" sz="3200" dirty="0" err="1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HuBERT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+ </a:t>
            </a:r>
            <a:r>
              <a:rPr lang="en-US" altLang="zh-TW" sz="3200" dirty="0" err="1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RoBERTa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複現的實驗數據</a:t>
            </a:r>
            <a:endParaRPr lang="en-US" altLang="zh-TW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16" name="內容版面配置區 2">
            <a:extLst>
              <a:ext uri="{FF2B5EF4-FFF2-40B4-BE49-F238E27FC236}">
                <a16:creationId xmlns:a16="http://schemas.microsoft.com/office/drawing/2014/main" id="{5EE3267E-85AD-4FD1-9CA8-3304EB395806}"/>
              </a:ext>
            </a:extLst>
          </p:cNvPr>
          <p:cNvSpPr txBox="1">
            <a:spLocks/>
          </p:cNvSpPr>
          <p:nvPr/>
        </p:nvSpPr>
        <p:spPr>
          <a:xfrm>
            <a:off x="8331631" y="1600374"/>
            <a:ext cx="3860369" cy="24001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使用 </a:t>
            </a:r>
            <a:r>
              <a:rPr lang="en-US" altLang="zh-TW" sz="2400" dirty="0">
                <a:ea typeface="標楷體" panose="03000509000000000000" pitchFamily="65" charset="-120"/>
              </a:rPr>
              <a:t>reference feature </a:t>
            </a:r>
            <a:r>
              <a:rPr lang="zh-TW" altLang="en-US" sz="2400" dirty="0">
                <a:ea typeface="標楷體" panose="03000509000000000000" pitchFamily="65" charset="-120"/>
              </a:rPr>
              <a:t>比 </a:t>
            </a:r>
            <a:r>
              <a:rPr lang="en-US" altLang="zh-TW" sz="2400" dirty="0">
                <a:ea typeface="標楷體" panose="03000509000000000000" pitchFamily="65" charset="-120"/>
              </a:rPr>
              <a:t>Hypotheses feature </a:t>
            </a:r>
            <a:r>
              <a:rPr lang="zh-TW" altLang="en-US" sz="2400" dirty="0">
                <a:ea typeface="標楷體" panose="03000509000000000000" pitchFamily="65" charset="-120"/>
              </a:rPr>
              <a:t>好</a:t>
            </a: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用 </a:t>
            </a:r>
            <a:r>
              <a:rPr lang="en-US" altLang="zh-TW" sz="2400" dirty="0">
                <a:ea typeface="標楷體" panose="03000509000000000000" pitchFamily="65" charset="-120"/>
              </a:rPr>
              <a:t>fuse feature </a:t>
            </a:r>
            <a:r>
              <a:rPr lang="zh-TW" altLang="en-US" sz="2400" dirty="0">
                <a:ea typeface="標楷體" panose="03000509000000000000" pitchFamily="65" charset="-120"/>
              </a:rPr>
              <a:t>會比只使用 </a:t>
            </a:r>
            <a:r>
              <a:rPr lang="en-US" altLang="zh-TW" sz="2400" dirty="0">
                <a:ea typeface="標楷體" panose="03000509000000000000" pitchFamily="65" charset="-120"/>
              </a:rPr>
              <a:t>audio feature </a:t>
            </a:r>
            <a:r>
              <a:rPr lang="zh-TW" altLang="en-US" sz="2400" dirty="0">
                <a:ea typeface="標楷體" panose="03000509000000000000" pitchFamily="65" charset="-120"/>
              </a:rPr>
              <a:t>好</a:t>
            </a: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上述兩點與論文相同</a:t>
            </a: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663F08E7-5C84-4228-9C42-9D6C389321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833" y="1214936"/>
            <a:ext cx="8128023" cy="1585511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0B3C0E7D-A891-4287-97D4-1F6AEB8E5F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833" y="2913137"/>
            <a:ext cx="8205798" cy="1581184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BF811BA4-9231-497E-A9C6-D3EBFC5062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0079" y="4607011"/>
            <a:ext cx="4841552" cy="1983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0874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en-US" altLang="zh-TW" sz="3200" dirty="0" err="1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WavLM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+ </a:t>
            </a:r>
            <a:r>
              <a:rPr lang="en-US" altLang="zh-TW" sz="3200" dirty="0" err="1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RoBERTa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複現的實驗數據</a:t>
            </a:r>
            <a:endParaRPr lang="en-US" altLang="zh-TW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16" name="內容版面配置區 2">
            <a:extLst>
              <a:ext uri="{FF2B5EF4-FFF2-40B4-BE49-F238E27FC236}">
                <a16:creationId xmlns:a16="http://schemas.microsoft.com/office/drawing/2014/main" id="{5EE3267E-85AD-4FD1-9CA8-3304EB395806}"/>
              </a:ext>
            </a:extLst>
          </p:cNvPr>
          <p:cNvSpPr txBox="1">
            <a:spLocks/>
          </p:cNvSpPr>
          <p:nvPr/>
        </p:nvSpPr>
        <p:spPr>
          <a:xfrm>
            <a:off x="8331631" y="1600374"/>
            <a:ext cx="3860369" cy="24001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使用 </a:t>
            </a:r>
            <a:r>
              <a:rPr lang="en-US" altLang="zh-TW" sz="2400" dirty="0">
                <a:ea typeface="標楷體" panose="03000509000000000000" pitchFamily="65" charset="-120"/>
              </a:rPr>
              <a:t>reference feature </a:t>
            </a:r>
            <a:r>
              <a:rPr lang="zh-TW" altLang="en-US" sz="2400" dirty="0">
                <a:ea typeface="標楷體" panose="03000509000000000000" pitchFamily="65" charset="-120"/>
              </a:rPr>
              <a:t>比 </a:t>
            </a:r>
            <a:r>
              <a:rPr lang="en-US" altLang="zh-TW" sz="2400" dirty="0">
                <a:ea typeface="標楷體" panose="03000509000000000000" pitchFamily="65" charset="-120"/>
              </a:rPr>
              <a:t>Hypotheses feature </a:t>
            </a:r>
            <a:r>
              <a:rPr lang="zh-TW" altLang="en-US" sz="2400" dirty="0">
                <a:ea typeface="標楷體" panose="03000509000000000000" pitchFamily="65" charset="-120"/>
              </a:rPr>
              <a:t>好</a:t>
            </a: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用 </a:t>
            </a:r>
            <a:r>
              <a:rPr lang="en-US" altLang="zh-TW" sz="2400" dirty="0">
                <a:ea typeface="標楷體" panose="03000509000000000000" pitchFamily="65" charset="-120"/>
              </a:rPr>
              <a:t>fuse feature </a:t>
            </a:r>
            <a:r>
              <a:rPr lang="zh-TW" altLang="en-US" sz="2400" dirty="0">
                <a:ea typeface="標楷體" panose="03000509000000000000" pitchFamily="65" charset="-120"/>
              </a:rPr>
              <a:t>會比只使用 </a:t>
            </a:r>
            <a:r>
              <a:rPr lang="en-US" altLang="zh-TW" sz="2400" dirty="0">
                <a:ea typeface="標楷體" panose="03000509000000000000" pitchFamily="65" charset="-120"/>
              </a:rPr>
              <a:t>audio feature </a:t>
            </a:r>
            <a:r>
              <a:rPr lang="zh-TW" altLang="en-US" sz="2400" dirty="0">
                <a:ea typeface="標楷體" panose="03000509000000000000" pitchFamily="65" charset="-120"/>
              </a:rPr>
              <a:t>好</a:t>
            </a: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上述兩點與論文相同</a:t>
            </a: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05CF89F-6317-4F16-9F1B-C1CB9A80E8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833" y="1114523"/>
            <a:ext cx="8205798" cy="1643016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8F00374C-1D0D-4083-A6A7-CD2EC75444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833" y="2843010"/>
            <a:ext cx="8205798" cy="1600454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B95D35B4-60EA-44D2-8DD9-73F8D3B61E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7804" y="4526751"/>
            <a:ext cx="4913827" cy="1974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4604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我自己的 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Fuse Feature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實驗數據總結</a:t>
            </a:r>
            <a:endParaRPr lang="en-US" altLang="zh-TW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756E0E1C-E165-44F5-8706-DB4835DEFFCB}"/>
              </a:ext>
            </a:extLst>
          </p:cNvPr>
          <p:cNvSpPr txBox="1">
            <a:spLocks/>
          </p:cNvSpPr>
          <p:nvPr/>
        </p:nvSpPr>
        <p:spPr>
          <a:xfrm>
            <a:off x="627741" y="1338035"/>
            <a:ext cx="10515599" cy="24001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zh-TW" altLang="en-US" sz="3200" dirty="0">
                <a:ea typeface="標楷體" panose="03000509000000000000" pitchFamily="65" charset="-120"/>
              </a:rPr>
              <a:t>使用 </a:t>
            </a:r>
            <a:r>
              <a:rPr lang="en-US" altLang="zh-TW" sz="3200" dirty="0">
                <a:ea typeface="標楷體" panose="03000509000000000000" pitchFamily="65" charset="-120"/>
              </a:rPr>
              <a:t>reference feature </a:t>
            </a:r>
            <a:r>
              <a:rPr lang="zh-TW" altLang="en-US" sz="3200" dirty="0">
                <a:ea typeface="標楷體" panose="03000509000000000000" pitchFamily="65" charset="-120"/>
              </a:rPr>
              <a:t>比 </a:t>
            </a:r>
            <a:r>
              <a:rPr lang="en-US" altLang="zh-TW" sz="3200" dirty="0">
                <a:ea typeface="標楷體" panose="03000509000000000000" pitchFamily="65" charset="-120"/>
              </a:rPr>
              <a:t>Hypotheses feature </a:t>
            </a:r>
            <a:r>
              <a:rPr lang="zh-TW" altLang="en-US" sz="3200" dirty="0">
                <a:ea typeface="標楷體" panose="03000509000000000000" pitchFamily="65" charset="-120"/>
              </a:rPr>
              <a:t>好</a:t>
            </a:r>
            <a:endParaRPr lang="en-US" altLang="zh-TW" sz="3200" dirty="0"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289350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後續實驗</a:t>
            </a:r>
            <a:endParaRPr lang="en-US" altLang="zh-TW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756E0E1C-E165-44F5-8706-DB4835DEFFCB}"/>
              </a:ext>
            </a:extLst>
          </p:cNvPr>
          <p:cNvSpPr txBox="1">
            <a:spLocks/>
          </p:cNvSpPr>
          <p:nvPr/>
        </p:nvSpPr>
        <p:spPr>
          <a:xfrm>
            <a:off x="627741" y="1338035"/>
            <a:ext cx="10515599" cy="5012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zh-TW" altLang="en-US" sz="3200" dirty="0">
                <a:ea typeface="標楷體" panose="03000509000000000000" pitchFamily="65" charset="-120"/>
              </a:rPr>
              <a:t>使用其他 </a:t>
            </a:r>
            <a:r>
              <a:rPr lang="en-US" altLang="zh-TW" sz="3200" dirty="0">
                <a:ea typeface="標楷體" panose="03000509000000000000" pitchFamily="65" charset="-120"/>
              </a:rPr>
              <a:t>pretrained</a:t>
            </a:r>
            <a:r>
              <a:rPr lang="zh-TW" altLang="en-US" sz="3200" dirty="0">
                <a:ea typeface="標楷體" panose="03000509000000000000" pitchFamily="65" charset="-120"/>
              </a:rPr>
              <a:t> </a:t>
            </a:r>
            <a:r>
              <a:rPr lang="en-US" altLang="zh-TW" sz="3200" dirty="0">
                <a:ea typeface="標楷體" panose="03000509000000000000" pitchFamily="65" charset="-120"/>
              </a:rPr>
              <a:t>Text Language model</a:t>
            </a:r>
          </a:p>
          <a:p>
            <a:pPr>
              <a:lnSpc>
                <a:spcPct val="100000"/>
              </a:lnSpc>
            </a:pPr>
            <a:r>
              <a:rPr lang="en-US" altLang="zh-TW" sz="3200" dirty="0">
                <a:ea typeface="標楷體" panose="03000509000000000000" pitchFamily="65" charset="-120"/>
              </a:rPr>
              <a:t>Word2Vec</a:t>
            </a:r>
          </a:p>
          <a:p>
            <a:pPr>
              <a:lnSpc>
                <a:spcPct val="100000"/>
              </a:lnSpc>
            </a:pPr>
            <a:r>
              <a:rPr lang="en-US" altLang="zh-TW" sz="3200" dirty="0">
                <a:ea typeface="標楷體" panose="03000509000000000000" pitchFamily="65" charset="-120"/>
              </a:rPr>
              <a:t>Sentence-BERT (SBERT)</a:t>
            </a:r>
          </a:p>
          <a:p>
            <a:pPr>
              <a:lnSpc>
                <a:spcPct val="100000"/>
              </a:lnSpc>
            </a:pPr>
            <a:r>
              <a:rPr lang="en-US" altLang="zh-TW" sz="3200" dirty="0">
                <a:ea typeface="標楷體" panose="03000509000000000000" pitchFamily="65" charset="-120"/>
              </a:rPr>
              <a:t>Universal Sentence Encoder (USE)</a:t>
            </a:r>
          </a:p>
          <a:p>
            <a:pPr>
              <a:lnSpc>
                <a:spcPct val="100000"/>
              </a:lnSpc>
            </a:pPr>
            <a:r>
              <a:rPr lang="en-US" altLang="zh-TW" sz="3200" dirty="0" err="1">
                <a:ea typeface="標楷體" panose="03000509000000000000" pitchFamily="65" charset="-120"/>
              </a:rPr>
              <a:t>XLNet</a:t>
            </a:r>
            <a:endParaRPr lang="en-US" altLang="zh-TW" sz="32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r>
              <a:rPr lang="en-US" altLang="zh-TW" sz="3200" dirty="0">
                <a:ea typeface="標楷體" panose="03000509000000000000" pitchFamily="65" charset="-120"/>
              </a:rPr>
              <a:t>T5 (Text-to-Text Transfer Transformer)</a:t>
            </a:r>
          </a:p>
          <a:p>
            <a:pPr>
              <a:lnSpc>
                <a:spcPct val="100000"/>
              </a:lnSpc>
            </a:pPr>
            <a:endParaRPr lang="en-US" altLang="zh-TW" sz="3200" dirty="0"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473293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Self-supervised representations in speech-based depression detection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F397D837-56CD-4F5A-8292-4773FA0EC3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25144"/>
            <a:ext cx="12192000" cy="3789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7103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Data augmentation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93832E0-6D06-4DC7-8FF0-B892A91EBF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9384" y="950031"/>
            <a:ext cx="7104733" cy="5907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1274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5580</TotalTime>
  <Words>866</Words>
  <Application>Microsoft Office PowerPoint</Application>
  <PresentationFormat>寬螢幕</PresentationFormat>
  <Paragraphs>239</Paragraphs>
  <Slides>18</Slides>
  <Notes>18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18</vt:i4>
      </vt:variant>
    </vt:vector>
  </HeadingPairs>
  <TitlesOfParts>
    <vt:vector size="23" baseType="lpstr">
      <vt:lpstr>-apple-system</vt:lpstr>
      <vt:lpstr>Arial</vt:lpstr>
      <vt:lpstr>Calibri</vt:lpstr>
      <vt:lpstr>Calibri Light</vt:lpstr>
      <vt:lpstr>Office 佈景主題</vt:lpstr>
      <vt:lpstr>2024/01/09 Meeting Report</vt:lpstr>
      <vt:lpstr>Wav2vec2.0 複現的實驗數據</vt:lpstr>
      <vt:lpstr>Wav2vec2.0 ASR 複現的實驗數據</vt:lpstr>
      <vt:lpstr>HuBERT 複現的實驗數據</vt:lpstr>
      <vt:lpstr>WavLM 複現的實驗數據</vt:lpstr>
      <vt:lpstr>複現的 Block Wise 實驗數據總結</vt:lpstr>
      <vt:lpstr>複現的 RoBERTa Hypotheses Transcript 實驗數據</vt:lpstr>
      <vt:lpstr>How does RoBERTa produce sentence feature ?</vt:lpstr>
      <vt:lpstr>複現的 Hypotheses Transcript 實驗數據總結</vt:lpstr>
      <vt:lpstr>我的與論文的 Fuse Feature 實驗數據比較</vt:lpstr>
      <vt:lpstr>Wav2Vec2.0 + RoBERTa 複現的實驗數據</vt:lpstr>
      <vt:lpstr>Wav2Vec2.0 ASR + RoBERTa 複現的實驗數據</vt:lpstr>
      <vt:lpstr>HuBERT + RoBERTa 複現的實驗數據</vt:lpstr>
      <vt:lpstr>WavLM + RoBERTa 複現的實驗數據</vt:lpstr>
      <vt:lpstr>我自己的 Fuse Feature實驗數據總結</vt:lpstr>
      <vt:lpstr>後續實驗</vt:lpstr>
      <vt:lpstr>Self-supervised representations in speech-based depression detection</vt:lpstr>
      <vt:lpstr>Data augmentation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2024/11/26 Meeting Report</dc:title>
  <dc:creator>嘉均 簡</dc:creator>
  <cp:lastModifiedBy>嘉均 簡</cp:lastModifiedBy>
  <cp:revision>61</cp:revision>
  <dcterms:created xsi:type="dcterms:W3CDTF">2024-11-26T08:17:58Z</dcterms:created>
  <dcterms:modified xsi:type="dcterms:W3CDTF">2025-01-09T07:02:41Z</dcterms:modified>
</cp:coreProperties>
</file>