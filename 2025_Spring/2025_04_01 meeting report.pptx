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322" r:id="rId3"/>
    <p:sldId id="323" r:id="rId4"/>
    <p:sldId id="324" r:id="rId5"/>
    <p:sldId id="325" r:id="rId6"/>
    <p:sldId id="316" r:id="rId7"/>
    <p:sldId id="317" r:id="rId8"/>
    <p:sldId id="318" r:id="rId9"/>
    <p:sldId id="319" r:id="rId10"/>
    <p:sldId id="320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1EE17-1EED-43AA-A57C-E35F1DC0DE01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1A831-E57A-46E7-BA2D-8E619234BC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94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247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7034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4298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1049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854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6509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710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5743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948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F65DBE-5D91-44FB-866B-C82D7D208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49449B1-C887-42EC-8C0D-004C0A5D1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59AFE2-C8B5-4006-86FA-728FAFA2E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DA3F3-E125-4CA0-A838-C4EC482A805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5F776B-5666-453D-A550-45819CEB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6980FC-31A0-41C6-B78A-C54162235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F62F-7FC5-44D3-8EAD-F2B9C8254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8752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38A1C8-A4AF-456B-8581-09948A40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C23B1B-EDDB-4D4F-955A-D73FEB430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DEB162-8451-474C-9D60-EB503265C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DA3F3-E125-4CA0-A838-C4EC482A805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46B9A9-4954-4780-B908-7D762B62A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B92BC7-5DA3-4282-A319-83E8D465F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F62F-7FC5-44D3-8EAD-F2B9C8254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568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84E262-3989-4EE4-8304-222D5301D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7CFCB8-1E46-49DB-9442-69BA63B20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D3BF75-E5E5-4A37-AB09-6020D6EC8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DA3F3-E125-4CA0-A838-C4EC482A805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A53236-DB36-4AB9-9FBC-009887AFE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8CE20F-B00B-483A-9F33-A347D943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F62F-7FC5-44D3-8EAD-F2B9C8254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7629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99F8E-A23A-43E3-8ACE-6492E9309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83352C-E88D-4A9B-A8F2-A59A076D0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5C3344-5D00-4A79-97C3-BD5D6EF14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9D294F2-0653-4EBE-8872-B093FF335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DA3F3-E125-4CA0-A838-C4EC482A805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A72CFF8-EF04-4543-9D91-74A816CD7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B9CEF78-D0DF-49CD-8970-C4FD20EF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F62F-7FC5-44D3-8EAD-F2B9C8254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3228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CB1084-F3EE-4A0B-8F77-CC4879FFD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1F9842C-ABAA-421C-8B92-A86F7328B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B5ACDAE-F318-4E8F-A54B-080BAC570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5E16FAB-727B-493E-9BD3-78DEE5D910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6A4F53F-900A-4E03-B962-AB5A8224F4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0F87800-3100-4125-B272-00E70BE9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DA3F3-E125-4CA0-A838-C4EC482A805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0B9EEA5-3BD7-4B1A-9475-EDC1873AA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0574673-F2B2-497C-8D0D-525EC3995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F62F-7FC5-44D3-8EAD-F2B9C8254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0038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E145CC-F346-4E91-955F-2C6AC4094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564C5AF-0B75-4719-839B-3910E9A76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DA3F3-E125-4CA0-A838-C4EC482A805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130DCC9-4F8D-4D40-8A33-A25EDF2E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46D5C05-D852-40C3-AC55-325B99F58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F62F-7FC5-44D3-8EAD-F2B9C8254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8526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22BEA72-7DE5-4565-B960-990044CB3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DA3F3-E125-4CA0-A838-C4EC482A805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E526014-1328-47AF-A63B-3000E797C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F245E8-9959-40F6-B787-6BADCB461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F62F-7FC5-44D3-8EAD-F2B9C8254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4241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7D7149-E496-47FC-9F25-0FC2B3FDD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D0BA3C-503B-4212-9860-2F31ED9B8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BD98E3F-CAEB-4806-80B2-3EDA54160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B7680F0-9BD9-4C26-BC55-738A6F236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DA3F3-E125-4CA0-A838-C4EC482A805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091C086-1B87-4696-8D49-35FB3F18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A0CC9F7-E881-4195-8DDC-0B887C15E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F62F-7FC5-44D3-8EAD-F2B9C8254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0978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7EF193-EEAA-4DA7-AB08-A42949AC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C1C7F75-4D0D-4926-AB64-84C6EC693F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511E489-F0AB-4870-B66B-FCB8698CD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0945090-9A02-4742-AA61-16671376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DA3F3-E125-4CA0-A838-C4EC482A805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D60BDBB-2BE0-468E-A837-96AB77D86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A0743B-37B1-4203-BF11-CB427646B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F62F-7FC5-44D3-8EAD-F2B9C8254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7829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6924B5-D6FC-4F07-8608-1EB7CA58A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FC67E02-BCA1-473D-95B4-4698FFACA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A0D526-C7AE-4CAE-8A58-6663782A3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DA3F3-E125-4CA0-A838-C4EC482A805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911BF3-C24B-4439-B0A1-640817264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942A54-AE63-47F4-AAF9-DB6CF6ABE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F62F-7FC5-44D3-8EAD-F2B9C8254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608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9B152D2-C440-496D-8138-5F8A4DC10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E800A3C-FBBA-4E8E-818C-EE68D6DDB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1AC64D-FF8C-47C1-999D-638A790C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DA3F3-E125-4CA0-A838-C4EC482A805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33785A-F3A1-45BA-9B22-D75F5E7D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8B28AD-FA9B-406C-B9A8-D2FD10D6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F62F-7FC5-44D3-8EAD-F2B9C8254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478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9A70E09-4C93-4DE4-82D9-0482C45A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ADA13A-BAFE-4110-9A98-A928DE17A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CBAFC4-F20F-495D-BCA5-000F59F71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DA3F3-E125-4CA0-A838-C4EC482A8054}" type="datetimeFigureOut">
              <a:rPr lang="zh-TW" altLang="en-US" smtClean="0"/>
              <a:t>2025/4/1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C0D81D-2F6B-465F-9799-CC7453592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711919-3D08-4BF3-9229-CC0A7201E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2F62F-7FC5-44D3-8EAD-F2B9C82548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214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2025/04/01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模型改動想法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A1DD755-8D30-4AD5-94E4-14F20D524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56508"/>
            <a:ext cx="12192000" cy="50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06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模型改動想法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– Feature Extraction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84F8EB4-8139-4968-A25B-AA1743EF4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77" y="1733266"/>
            <a:ext cx="10595295" cy="5101723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BFA84E11-D40B-44C8-D631-5740B22115AA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2192000" cy="1583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Extract Question Answering pair feature</a:t>
            </a: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2854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模型改動想法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– PHQ8 Symptom Classification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CFB4B6F-E830-4D86-954B-517D9F48D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7004"/>
            <a:ext cx="12192000" cy="414035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462E4136-6031-1D4D-D63C-85C2A0740D0E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2192000" cy="1583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核心想法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ea typeface="標楷體" panose="03000509000000000000" pitchFamily="65" charset="-120"/>
              </a:rPr>
              <a:t> 判斷哪個問答句與 </a:t>
            </a:r>
            <a:r>
              <a:rPr lang="en-US" altLang="zh-TW" sz="2400" dirty="0">
                <a:ea typeface="標楷體" panose="03000509000000000000" pitchFamily="65" charset="-120"/>
              </a:rPr>
              <a:t>PHQ8 </a:t>
            </a:r>
            <a:r>
              <a:rPr lang="zh-TW" altLang="en-US" sz="2400" dirty="0">
                <a:ea typeface="標楷體" panose="03000509000000000000" pitchFamily="65" charset="-120"/>
              </a:rPr>
              <a:t>症狀相關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0024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模型改動想法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– PHQ8 score prediction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、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Depression Detection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40A1764-7664-9A0A-06C5-24D524447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6508"/>
            <a:ext cx="12192000" cy="450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89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PHQ-8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問卷（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Patient Health Questionnaire-8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）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D433679-DEC3-4133-B918-80760D338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42" y="1091952"/>
            <a:ext cx="10515600" cy="556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982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PHQ-8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問卷（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Patient Health Questionnaire-8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）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0" y="1069592"/>
            <a:ext cx="12192000" cy="6430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評估過去兩週內（</a:t>
            </a:r>
            <a:r>
              <a:rPr lang="en-US" altLang="zh-TW" sz="2400" dirty="0">
                <a:ea typeface="標楷體" panose="03000509000000000000" pitchFamily="65" charset="-120"/>
              </a:rPr>
              <a:t>14 </a:t>
            </a:r>
            <a:r>
              <a:rPr lang="zh-TW" altLang="en-US" sz="2400" dirty="0">
                <a:ea typeface="標楷體" panose="03000509000000000000" pitchFamily="65" charset="-120"/>
              </a:rPr>
              <a:t>天）患者是否經歷特定的憂鬱症狀，以及這些症狀的頻率：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2000" dirty="0">
                <a:ea typeface="標楷體" panose="03000509000000000000" pitchFamily="65" charset="-120"/>
              </a:rPr>
              <a:t>Little interest or pleasure in doing things</a:t>
            </a:r>
            <a:r>
              <a:rPr lang="zh-TW" altLang="en-US" sz="2000" dirty="0">
                <a:ea typeface="標楷體" panose="03000509000000000000" pitchFamily="65" charset="-120"/>
              </a:rPr>
              <a:t>（對做事情缺乏興趣或愉悅感）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2000" dirty="0">
                <a:ea typeface="標楷體" panose="03000509000000000000" pitchFamily="65" charset="-120"/>
              </a:rPr>
              <a:t>Feeling down, depressed, or hopeless</a:t>
            </a:r>
            <a:r>
              <a:rPr lang="zh-TW" altLang="en-US" sz="2000" dirty="0">
                <a:ea typeface="標楷體" panose="03000509000000000000" pitchFamily="65" charset="-120"/>
              </a:rPr>
              <a:t>（感到情緒低落、憂鬱或絕望）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marL="1200150" lvl="1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2000" dirty="0">
                <a:ea typeface="標楷體" panose="03000509000000000000" pitchFamily="65" charset="-120"/>
              </a:rPr>
              <a:t>Trouble falling or staying asleep, or sleeping too much</a:t>
            </a:r>
            <a:r>
              <a:rPr lang="zh-TW" altLang="en-US" sz="2000" dirty="0">
                <a:ea typeface="標楷體" panose="03000509000000000000" pitchFamily="65" charset="-120"/>
              </a:rPr>
              <a:t>（難以入睡、保持睡眠，或睡得太多）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2000" dirty="0">
                <a:ea typeface="標楷體" panose="03000509000000000000" pitchFamily="65" charset="-120"/>
              </a:rPr>
              <a:t>Feeling tired or having little energy</a:t>
            </a:r>
            <a:r>
              <a:rPr lang="zh-TW" altLang="en-US" sz="2000" dirty="0">
                <a:ea typeface="標楷體" panose="03000509000000000000" pitchFamily="65" charset="-120"/>
              </a:rPr>
              <a:t>（感到疲倦或缺乏精力）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2000" dirty="0">
                <a:ea typeface="標楷體" panose="03000509000000000000" pitchFamily="65" charset="-120"/>
              </a:rPr>
              <a:t>Poor appetite or overeating</a:t>
            </a:r>
            <a:r>
              <a:rPr lang="zh-TW" altLang="en-US" sz="2000" dirty="0">
                <a:ea typeface="標楷體" panose="03000509000000000000" pitchFamily="65" charset="-120"/>
              </a:rPr>
              <a:t>（食慾不振或過食）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2000" dirty="0">
                <a:ea typeface="標楷體" panose="03000509000000000000" pitchFamily="65" charset="-120"/>
              </a:rPr>
              <a:t>Feeling bad about yourself – or that you are a failure or have let yourself or your family down</a:t>
            </a:r>
            <a:r>
              <a:rPr lang="zh-TW" altLang="en-US" sz="2000" dirty="0">
                <a:ea typeface="標楷體" panose="03000509000000000000" pitchFamily="65" charset="-120"/>
              </a:rPr>
              <a:t>（對自己感到不好，覺得自己是失敗者，或讓自己或家人失望）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2000" dirty="0">
                <a:ea typeface="標楷體" panose="03000509000000000000" pitchFamily="65" charset="-120"/>
              </a:rPr>
              <a:t>Trouble concentrating on things, such as reading the newspaper or watching television</a:t>
            </a:r>
            <a:r>
              <a:rPr lang="zh-TW" altLang="en-US" sz="2000" dirty="0">
                <a:ea typeface="標楷體" panose="03000509000000000000" pitchFamily="65" charset="-120"/>
              </a:rPr>
              <a:t>（難以專注於事情，例如閱讀報紙或看電視）</a:t>
            </a:r>
          </a:p>
          <a:p>
            <a:pPr marL="1200150" lvl="1" indent="-742950">
              <a:lnSpc>
                <a:spcPct val="120000"/>
              </a:lnSpc>
              <a:buFont typeface="+mj-lt"/>
              <a:buAutoNum type="arabicPeriod"/>
            </a:pPr>
            <a:r>
              <a:rPr lang="en-US" altLang="zh-TW" sz="2000" dirty="0">
                <a:ea typeface="標楷體" panose="03000509000000000000" pitchFamily="65" charset="-120"/>
              </a:rPr>
              <a:t>Moving or speaking so slowly that other people could have noticed? Or the opposite – being so fidgety or restless that you have been moving around a lot more than usual</a:t>
            </a:r>
            <a:r>
              <a:rPr lang="zh-TW" altLang="en-US" sz="2000" dirty="0">
                <a:ea typeface="標楷體" panose="03000509000000000000" pitchFamily="65" charset="-120"/>
              </a:rPr>
              <a:t>（動作或說話緩慢到他人可能會注意到？或相反，感到焦躁或不安，移動比平時多很多）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7850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PHQ-8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問卷（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Patient Health Questionnaire-8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）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2192000" cy="4587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每個問題的回答選項有 </a:t>
            </a:r>
            <a:r>
              <a:rPr lang="en-US" altLang="zh-TW" sz="2400" dirty="0">
                <a:ea typeface="標楷體" panose="03000509000000000000" pitchFamily="65" charset="-120"/>
              </a:rPr>
              <a:t>4 </a:t>
            </a:r>
            <a:r>
              <a:rPr lang="zh-TW" altLang="en-US" sz="2400" dirty="0">
                <a:ea typeface="標楷體" panose="03000509000000000000" pitchFamily="65" charset="-120"/>
              </a:rPr>
              <a:t>個，根據症狀出現的頻率評分：</a:t>
            </a:r>
          </a:p>
          <a:p>
            <a:pPr lvl="1"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0 = Not at all</a:t>
            </a:r>
            <a:r>
              <a:rPr lang="zh-TW" altLang="en-US" dirty="0">
                <a:ea typeface="標楷體" panose="03000509000000000000" pitchFamily="65" charset="-120"/>
              </a:rPr>
              <a:t>（完全沒有）</a:t>
            </a:r>
          </a:p>
          <a:p>
            <a:pPr lvl="1"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1 = Several days</a:t>
            </a:r>
            <a:r>
              <a:rPr lang="zh-TW" altLang="en-US" dirty="0">
                <a:ea typeface="標楷體" panose="03000509000000000000" pitchFamily="65" charset="-120"/>
              </a:rPr>
              <a:t>（幾天）</a:t>
            </a:r>
          </a:p>
          <a:p>
            <a:pPr lvl="1"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2 = More than half the days</a:t>
            </a:r>
            <a:r>
              <a:rPr lang="zh-TW" altLang="en-US" dirty="0">
                <a:ea typeface="標楷體" panose="03000509000000000000" pitchFamily="65" charset="-120"/>
              </a:rPr>
              <a:t>（超過一半的日子）</a:t>
            </a:r>
          </a:p>
          <a:p>
            <a:pPr lvl="1">
              <a:lnSpc>
                <a:spcPct val="120000"/>
              </a:lnSpc>
            </a:pPr>
            <a:r>
              <a:rPr lang="en-US" altLang="zh-TW" dirty="0">
                <a:ea typeface="標楷體" panose="03000509000000000000" pitchFamily="65" charset="-120"/>
              </a:rPr>
              <a:t>3 = Nearly every day</a:t>
            </a:r>
            <a:r>
              <a:rPr lang="zh-TW" altLang="en-US" dirty="0">
                <a:ea typeface="標楷體" panose="03000509000000000000" pitchFamily="65" charset="-120"/>
              </a:rPr>
              <a:t>（幾乎每天）</a:t>
            </a: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總分範圍為 </a:t>
            </a:r>
            <a:r>
              <a:rPr lang="en-US" altLang="zh-TW" sz="2400" dirty="0">
                <a:ea typeface="標楷體" panose="03000509000000000000" pitchFamily="65" charset="-120"/>
              </a:rPr>
              <a:t>0 </a:t>
            </a:r>
            <a:r>
              <a:rPr lang="zh-TW" altLang="en-US" sz="2400" dirty="0">
                <a:ea typeface="標楷體" panose="03000509000000000000" pitchFamily="65" charset="-120"/>
              </a:rPr>
              <a:t>到 </a:t>
            </a:r>
            <a:r>
              <a:rPr lang="en-US" altLang="zh-TW" sz="2400" dirty="0">
                <a:ea typeface="標楷體" panose="03000509000000000000" pitchFamily="65" charset="-120"/>
              </a:rPr>
              <a:t>24</a:t>
            </a:r>
            <a:r>
              <a:rPr lang="zh-TW" altLang="en-US" sz="2400" dirty="0">
                <a:ea typeface="標楷體" panose="03000509000000000000" pitchFamily="65" charset="-120"/>
              </a:rPr>
              <a:t>（</a:t>
            </a:r>
            <a:r>
              <a:rPr lang="en-US" altLang="zh-TW" sz="2400" dirty="0">
                <a:ea typeface="標楷體" panose="03000509000000000000" pitchFamily="65" charset="-120"/>
              </a:rPr>
              <a:t>8 </a:t>
            </a:r>
            <a:r>
              <a:rPr lang="zh-TW" altLang="en-US" sz="2400" dirty="0">
                <a:ea typeface="標楷體" panose="03000509000000000000" pitchFamily="65" charset="-120"/>
              </a:rPr>
              <a:t>個問題，每題最高 </a:t>
            </a:r>
            <a:r>
              <a:rPr lang="en-US" altLang="zh-TW" sz="2400" dirty="0">
                <a:ea typeface="標楷體" panose="03000509000000000000" pitchFamily="65" charset="-120"/>
              </a:rPr>
              <a:t>3 </a:t>
            </a:r>
            <a:r>
              <a:rPr lang="zh-TW" altLang="en-US" sz="2400" dirty="0">
                <a:ea typeface="標楷體" panose="03000509000000000000" pitchFamily="65" charset="-120"/>
              </a:rPr>
              <a:t>分）。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總分大於等於 </a:t>
            </a:r>
            <a:r>
              <a:rPr lang="en-US" altLang="zh-TW" sz="2400" dirty="0">
                <a:ea typeface="標楷體" panose="03000509000000000000" pitchFamily="65" charset="-120"/>
              </a:rPr>
              <a:t>10 </a:t>
            </a:r>
            <a:r>
              <a:rPr lang="zh-TW" altLang="en-US" sz="2400" dirty="0">
                <a:ea typeface="標楷體" panose="03000509000000000000" pitchFamily="65" charset="-120"/>
              </a:rPr>
              <a:t>被列為患有憂鬱症</a:t>
            </a:r>
          </a:p>
          <a:p>
            <a:pPr>
              <a:lnSpc>
                <a:spcPct val="120000"/>
              </a:lnSpc>
            </a:pPr>
            <a:endParaRPr lang="zh-TW" altLang="en-US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5516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Label of PHQ8 symptom classification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2192000" cy="4587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訓練模型專注在訪談文本有關於症狀的地方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利用 </a:t>
            </a:r>
            <a:r>
              <a:rPr lang="en-US" altLang="zh-TW" sz="2400" dirty="0">
                <a:ea typeface="標楷體" panose="03000509000000000000" pitchFamily="65" charset="-120"/>
              </a:rPr>
              <a:t>GPT</a:t>
            </a:r>
            <a:r>
              <a:rPr lang="zh-TW" altLang="en-US" sz="2400" dirty="0">
                <a:ea typeface="標楷體" panose="03000509000000000000" pitchFamily="65" charset="-120"/>
              </a:rPr>
              <a:t> 產生新的資料集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6BCCA71-DF46-4028-AC72-81969669B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21" y="2096900"/>
            <a:ext cx="1116330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60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模型改動想法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2192000" cy="4587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擷取問題與病患整個回答的特徵向量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92B372F-235B-4B12-9FA4-D7A71B52F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276" y="1741860"/>
            <a:ext cx="8801099" cy="489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581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3077</TotalTime>
  <Words>726</Words>
  <Application>Microsoft Office PowerPoint</Application>
  <PresentationFormat>寬螢幕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-apple-system</vt:lpstr>
      <vt:lpstr>標楷體</vt:lpstr>
      <vt:lpstr>Arial</vt:lpstr>
      <vt:lpstr>Calibri</vt:lpstr>
      <vt:lpstr>Calibri Light</vt:lpstr>
      <vt:lpstr>Office 佈景主題</vt:lpstr>
      <vt:lpstr>2025/04/01 Meeting Report</vt:lpstr>
      <vt:lpstr>模型改動想法</vt:lpstr>
      <vt:lpstr>模型改動想法 – Feature Extraction</vt:lpstr>
      <vt:lpstr>模型改動想法 – PHQ8 Symptom Classification</vt:lpstr>
      <vt:lpstr>模型改動想法 – PHQ8 score prediction、Depression Detection</vt:lpstr>
      <vt:lpstr>PHQ-8 問卷（Patient Health Questionnaire-8）</vt:lpstr>
      <vt:lpstr>PHQ-8 問卷（Patient Health Questionnaire-8）</vt:lpstr>
      <vt:lpstr>PHQ-8 問卷（Patient Health Questionnaire-8）</vt:lpstr>
      <vt:lpstr>Label of PHQ8 symptom classification</vt:lpstr>
      <vt:lpstr>模型改動想法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2025/04/01 Meeting Report</dc:title>
  <dc:creator>嘉均 簡</dc:creator>
  <cp:lastModifiedBy>johnny john</cp:lastModifiedBy>
  <cp:revision>8</cp:revision>
  <dcterms:created xsi:type="dcterms:W3CDTF">2025-04-01T03:00:20Z</dcterms:created>
  <dcterms:modified xsi:type="dcterms:W3CDTF">2025-04-03T06:20:49Z</dcterms:modified>
</cp:coreProperties>
</file>