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372" r:id="rId3"/>
    <p:sldId id="380" r:id="rId4"/>
    <p:sldId id="367" r:id="rId5"/>
    <p:sldId id="373" r:id="rId6"/>
    <p:sldId id="371" r:id="rId7"/>
    <p:sldId id="374" r:id="rId8"/>
    <p:sldId id="379" r:id="rId9"/>
    <p:sldId id="375" r:id="rId10"/>
    <p:sldId id="376" r:id="rId11"/>
    <p:sldId id="378" r:id="rId12"/>
    <p:sldId id="377" r:id="rId13"/>
    <p:sldId id="357"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9F744C-C3D7-4081-9DFA-6B95CD506B5A}" type="datetimeFigureOut">
              <a:rPr lang="zh-TW" altLang="en-US" smtClean="0"/>
              <a:t>2025/9/17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457EEA-9B0E-4DB5-8CE6-B3EC1C36CDCA}" type="slidenum">
              <a:rPr lang="zh-TW" altLang="en-US" smtClean="0"/>
              <a:t>‹#›</a:t>
            </a:fld>
            <a:endParaRPr lang="zh-TW" altLang="en-US"/>
          </a:p>
        </p:txBody>
      </p:sp>
    </p:spTree>
    <p:extLst>
      <p:ext uri="{BB962C8B-B14F-4D97-AF65-F5344CB8AC3E}">
        <p14:creationId xmlns:p14="http://schemas.microsoft.com/office/powerpoint/2010/main" val="2938694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9AA43A8-D8AF-4A57-B3C3-ACEB87B86596}" type="slidenum">
              <a:rPr lang="zh-TW" altLang="en-US" smtClean="0"/>
              <a:t>1</a:t>
            </a:fld>
            <a:endParaRPr lang="zh-TW" altLang="en-US"/>
          </a:p>
        </p:txBody>
      </p:sp>
    </p:spTree>
    <p:extLst>
      <p:ext uri="{BB962C8B-B14F-4D97-AF65-F5344CB8AC3E}">
        <p14:creationId xmlns:p14="http://schemas.microsoft.com/office/powerpoint/2010/main" val="2804003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2</a:t>
            </a:fld>
            <a:endParaRPr lang="zh-TW" altLang="en-US"/>
          </a:p>
        </p:txBody>
      </p:sp>
    </p:spTree>
    <p:extLst>
      <p:ext uri="{BB962C8B-B14F-4D97-AF65-F5344CB8AC3E}">
        <p14:creationId xmlns:p14="http://schemas.microsoft.com/office/powerpoint/2010/main" val="374382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4</a:t>
            </a:fld>
            <a:endParaRPr lang="zh-TW" altLang="en-US"/>
          </a:p>
        </p:txBody>
      </p:sp>
    </p:spTree>
    <p:extLst>
      <p:ext uri="{BB962C8B-B14F-4D97-AF65-F5344CB8AC3E}">
        <p14:creationId xmlns:p14="http://schemas.microsoft.com/office/powerpoint/2010/main" val="999359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5</a:t>
            </a:fld>
            <a:endParaRPr lang="zh-TW" altLang="en-US"/>
          </a:p>
        </p:txBody>
      </p:sp>
    </p:spTree>
    <p:extLst>
      <p:ext uri="{BB962C8B-B14F-4D97-AF65-F5344CB8AC3E}">
        <p14:creationId xmlns:p14="http://schemas.microsoft.com/office/powerpoint/2010/main" val="3529883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6</a:t>
            </a:fld>
            <a:endParaRPr lang="zh-TW" altLang="en-US"/>
          </a:p>
        </p:txBody>
      </p:sp>
    </p:spTree>
    <p:extLst>
      <p:ext uri="{BB962C8B-B14F-4D97-AF65-F5344CB8AC3E}">
        <p14:creationId xmlns:p14="http://schemas.microsoft.com/office/powerpoint/2010/main" val="679330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7</a:t>
            </a:fld>
            <a:endParaRPr lang="zh-TW" altLang="en-US"/>
          </a:p>
        </p:txBody>
      </p:sp>
    </p:spTree>
    <p:extLst>
      <p:ext uri="{BB962C8B-B14F-4D97-AF65-F5344CB8AC3E}">
        <p14:creationId xmlns:p14="http://schemas.microsoft.com/office/powerpoint/2010/main" val="742244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8</a:t>
            </a:fld>
            <a:endParaRPr lang="zh-TW" altLang="en-US"/>
          </a:p>
        </p:txBody>
      </p:sp>
    </p:spTree>
    <p:extLst>
      <p:ext uri="{BB962C8B-B14F-4D97-AF65-F5344CB8AC3E}">
        <p14:creationId xmlns:p14="http://schemas.microsoft.com/office/powerpoint/2010/main" val="2339369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9</a:t>
            </a:fld>
            <a:endParaRPr lang="zh-TW" altLang="en-US"/>
          </a:p>
        </p:txBody>
      </p:sp>
    </p:spTree>
    <p:extLst>
      <p:ext uri="{BB962C8B-B14F-4D97-AF65-F5344CB8AC3E}">
        <p14:creationId xmlns:p14="http://schemas.microsoft.com/office/powerpoint/2010/main" val="662035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10</a:t>
            </a:fld>
            <a:endParaRPr lang="zh-TW" altLang="en-US"/>
          </a:p>
        </p:txBody>
      </p:sp>
    </p:spTree>
    <p:extLst>
      <p:ext uri="{BB962C8B-B14F-4D97-AF65-F5344CB8AC3E}">
        <p14:creationId xmlns:p14="http://schemas.microsoft.com/office/powerpoint/2010/main" val="3730019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11</a:t>
            </a:fld>
            <a:endParaRPr lang="zh-TW" altLang="en-US"/>
          </a:p>
        </p:txBody>
      </p:sp>
    </p:spTree>
    <p:extLst>
      <p:ext uri="{BB962C8B-B14F-4D97-AF65-F5344CB8AC3E}">
        <p14:creationId xmlns:p14="http://schemas.microsoft.com/office/powerpoint/2010/main" val="4192570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12</a:t>
            </a:fld>
            <a:endParaRPr lang="zh-TW" altLang="en-US"/>
          </a:p>
        </p:txBody>
      </p:sp>
    </p:spTree>
    <p:extLst>
      <p:ext uri="{BB962C8B-B14F-4D97-AF65-F5344CB8AC3E}">
        <p14:creationId xmlns:p14="http://schemas.microsoft.com/office/powerpoint/2010/main" val="30303705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13</a:t>
            </a:fld>
            <a:endParaRPr lang="zh-TW" altLang="en-US"/>
          </a:p>
        </p:txBody>
      </p:sp>
    </p:spTree>
    <p:extLst>
      <p:ext uri="{BB962C8B-B14F-4D97-AF65-F5344CB8AC3E}">
        <p14:creationId xmlns:p14="http://schemas.microsoft.com/office/powerpoint/2010/main" val="1739939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44C4AB-BB78-4AD8-8AC6-D878211F26A7}"/>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30D602D5-5DF4-459E-834A-39D43DCA34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99DFC97-CF4F-4800-BCE0-EC43FC35E306}"/>
              </a:ext>
            </a:extLst>
          </p:cNvPr>
          <p:cNvSpPr>
            <a:spLocks noGrp="1"/>
          </p:cNvSpPr>
          <p:nvPr>
            <p:ph type="dt" sz="half" idx="10"/>
          </p:nvPr>
        </p:nvSpPr>
        <p:spPr/>
        <p:txBody>
          <a:bodyPr/>
          <a:lstStyle/>
          <a:p>
            <a:fld id="{8FF1AD12-7FAA-48A7-8895-AFE8BEBD0190}" type="datetimeFigureOut">
              <a:rPr lang="zh-TW" altLang="en-US" smtClean="0"/>
              <a:t>2025/9/17</a:t>
            </a:fld>
            <a:endParaRPr lang="zh-TW" altLang="en-US"/>
          </a:p>
        </p:txBody>
      </p:sp>
      <p:sp>
        <p:nvSpPr>
          <p:cNvPr id="5" name="頁尾版面配置區 4">
            <a:extLst>
              <a:ext uri="{FF2B5EF4-FFF2-40B4-BE49-F238E27FC236}">
                <a16:creationId xmlns:a16="http://schemas.microsoft.com/office/drawing/2014/main" id="{312D1A12-29B9-4914-9679-88A31D0ECDE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350A44B-360D-4D5D-B988-46F71D852580}"/>
              </a:ext>
            </a:extLst>
          </p:cNvPr>
          <p:cNvSpPr>
            <a:spLocks noGrp="1"/>
          </p:cNvSpPr>
          <p:nvPr>
            <p:ph type="sldNum" sz="quarter" idx="12"/>
          </p:nvPr>
        </p:nvSpPr>
        <p:spPr/>
        <p:txBody>
          <a:bodyPr/>
          <a:lstStyle/>
          <a:p>
            <a:fld id="{7308F9BF-4B1F-43BA-9AFA-60BACD3716DE}" type="slidenum">
              <a:rPr lang="zh-TW" altLang="en-US" smtClean="0"/>
              <a:t>‹#›</a:t>
            </a:fld>
            <a:endParaRPr lang="zh-TW" altLang="en-US"/>
          </a:p>
        </p:txBody>
      </p:sp>
    </p:spTree>
    <p:extLst>
      <p:ext uri="{BB962C8B-B14F-4D97-AF65-F5344CB8AC3E}">
        <p14:creationId xmlns:p14="http://schemas.microsoft.com/office/powerpoint/2010/main" val="1030998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1095FA-A270-45F1-BF3F-BD4D5817E55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7641C69-4203-4894-A117-E96FFF50A6C3}"/>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6C776DE-D237-49BE-8950-2669D0DC4F12}"/>
              </a:ext>
            </a:extLst>
          </p:cNvPr>
          <p:cNvSpPr>
            <a:spLocks noGrp="1"/>
          </p:cNvSpPr>
          <p:nvPr>
            <p:ph type="dt" sz="half" idx="10"/>
          </p:nvPr>
        </p:nvSpPr>
        <p:spPr/>
        <p:txBody>
          <a:bodyPr/>
          <a:lstStyle/>
          <a:p>
            <a:fld id="{8FF1AD12-7FAA-48A7-8895-AFE8BEBD0190}" type="datetimeFigureOut">
              <a:rPr lang="zh-TW" altLang="en-US" smtClean="0"/>
              <a:t>2025/9/17</a:t>
            </a:fld>
            <a:endParaRPr lang="zh-TW" altLang="en-US"/>
          </a:p>
        </p:txBody>
      </p:sp>
      <p:sp>
        <p:nvSpPr>
          <p:cNvPr id="5" name="頁尾版面配置區 4">
            <a:extLst>
              <a:ext uri="{FF2B5EF4-FFF2-40B4-BE49-F238E27FC236}">
                <a16:creationId xmlns:a16="http://schemas.microsoft.com/office/drawing/2014/main" id="{8894A966-1349-4C4B-A067-4517CB5E490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75609E9-2CBB-4E4F-90D9-C0036FBDA248}"/>
              </a:ext>
            </a:extLst>
          </p:cNvPr>
          <p:cNvSpPr>
            <a:spLocks noGrp="1"/>
          </p:cNvSpPr>
          <p:nvPr>
            <p:ph type="sldNum" sz="quarter" idx="12"/>
          </p:nvPr>
        </p:nvSpPr>
        <p:spPr/>
        <p:txBody>
          <a:bodyPr/>
          <a:lstStyle/>
          <a:p>
            <a:fld id="{7308F9BF-4B1F-43BA-9AFA-60BACD3716DE}" type="slidenum">
              <a:rPr lang="zh-TW" altLang="en-US" smtClean="0"/>
              <a:t>‹#›</a:t>
            </a:fld>
            <a:endParaRPr lang="zh-TW" altLang="en-US"/>
          </a:p>
        </p:txBody>
      </p:sp>
    </p:spTree>
    <p:extLst>
      <p:ext uri="{BB962C8B-B14F-4D97-AF65-F5344CB8AC3E}">
        <p14:creationId xmlns:p14="http://schemas.microsoft.com/office/powerpoint/2010/main" val="3840256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12ED93-BBF5-4C3A-B52D-3942DBE455BF}"/>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CBC828A7-7C0A-48BF-8FA4-B75A779DE5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48A10422-3359-424C-AA24-CA136B4676FC}"/>
              </a:ext>
            </a:extLst>
          </p:cNvPr>
          <p:cNvSpPr>
            <a:spLocks noGrp="1"/>
          </p:cNvSpPr>
          <p:nvPr>
            <p:ph type="dt" sz="half" idx="10"/>
          </p:nvPr>
        </p:nvSpPr>
        <p:spPr/>
        <p:txBody>
          <a:bodyPr/>
          <a:lstStyle/>
          <a:p>
            <a:fld id="{8FF1AD12-7FAA-48A7-8895-AFE8BEBD0190}" type="datetimeFigureOut">
              <a:rPr lang="zh-TW" altLang="en-US" smtClean="0"/>
              <a:t>2025/9/17</a:t>
            </a:fld>
            <a:endParaRPr lang="zh-TW" altLang="en-US"/>
          </a:p>
        </p:txBody>
      </p:sp>
      <p:sp>
        <p:nvSpPr>
          <p:cNvPr id="5" name="頁尾版面配置區 4">
            <a:extLst>
              <a:ext uri="{FF2B5EF4-FFF2-40B4-BE49-F238E27FC236}">
                <a16:creationId xmlns:a16="http://schemas.microsoft.com/office/drawing/2014/main" id="{672B0928-86A4-4201-8355-A948E0C2C8E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BBA404-B670-4CE9-9B88-41287009E235}"/>
              </a:ext>
            </a:extLst>
          </p:cNvPr>
          <p:cNvSpPr>
            <a:spLocks noGrp="1"/>
          </p:cNvSpPr>
          <p:nvPr>
            <p:ph type="sldNum" sz="quarter" idx="12"/>
          </p:nvPr>
        </p:nvSpPr>
        <p:spPr/>
        <p:txBody>
          <a:bodyPr/>
          <a:lstStyle/>
          <a:p>
            <a:fld id="{7308F9BF-4B1F-43BA-9AFA-60BACD3716DE}" type="slidenum">
              <a:rPr lang="zh-TW" altLang="en-US" smtClean="0"/>
              <a:t>‹#›</a:t>
            </a:fld>
            <a:endParaRPr lang="zh-TW" altLang="en-US"/>
          </a:p>
        </p:txBody>
      </p:sp>
    </p:spTree>
    <p:extLst>
      <p:ext uri="{BB962C8B-B14F-4D97-AF65-F5344CB8AC3E}">
        <p14:creationId xmlns:p14="http://schemas.microsoft.com/office/powerpoint/2010/main" val="1411643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35600B-FFD4-48F9-95D0-3F98D427A65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1CC563E-068E-4AEA-A1D0-CD53499E839A}"/>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050CC91-598A-400D-A60E-5A80B537E140}"/>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585D4AAF-BD60-478F-9111-72AE1ECFE3AA}"/>
              </a:ext>
            </a:extLst>
          </p:cNvPr>
          <p:cNvSpPr>
            <a:spLocks noGrp="1"/>
          </p:cNvSpPr>
          <p:nvPr>
            <p:ph type="dt" sz="half" idx="10"/>
          </p:nvPr>
        </p:nvSpPr>
        <p:spPr/>
        <p:txBody>
          <a:bodyPr/>
          <a:lstStyle/>
          <a:p>
            <a:fld id="{8FF1AD12-7FAA-48A7-8895-AFE8BEBD0190}" type="datetimeFigureOut">
              <a:rPr lang="zh-TW" altLang="en-US" smtClean="0"/>
              <a:t>2025/9/17</a:t>
            </a:fld>
            <a:endParaRPr lang="zh-TW" altLang="en-US"/>
          </a:p>
        </p:txBody>
      </p:sp>
      <p:sp>
        <p:nvSpPr>
          <p:cNvPr id="6" name="頁尾版面配置區 5">
            <a:extLst>
              <a:ext uri="{FF2B5EF4-FFF2-40B4-BE49-F238E27FC236}">
                <a16:creationId xmlns:a16="http://schemas.microsoft.com/office/drawing/2014/main" id="{987CF662-3391-4503-BE16-37510120752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74A54C3-E12B-4401-A81C-ECE67D942DBC}"/>
              </a:ext>
            </a:extLst>
          </p:cNvPr>
          <p:cNvSpPr>
            <a:spLocks noGrp="1"/>
          </p:cNvSpPr>
          <p:nvPr>
            <p:ph type="sldNum" sz="quarter" idx="12"/>
          </p:nvPr>
        </p:nvSpPr>
        <p:spPr/>
        <p:txBody>
          <a:bodyPr/>
          <a:lstStyle/>
          <a:p>
            <a:fld id="{7308F9BF-4B1F-43BA-9AFA-60BACD3716DE}" type="slidenum">
              <a:rPr lang="zh-TW" altLang="en-US" smtClean="0"/>
              <a:t>‹#›</a:t>
            </a:fld>
            <a:endParaRPr lang="zh-TW" altLang="en-US"/>
          </a:p>
        </p:txBody>
      </p:sp>
    </p:spTree>
    <p:extLst>
      <p:ext uri="{BB962C8B-B14F-4D97-AF65-F5344CB8AC3E}">
        <p14:creationId xmlns:p14="http://schemas.microsoft.com/office/powerpoint/2010/main" val="1083117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63ADC2-819D-4D07-8AA6-9E97DA96D958}"/>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E707E1A6-B0D8-499D-97B0-233B237A0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C0F210AD-8E67-47BD-9E78-67644D933A49}"/>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E0D1FDF-FB5D-4B1E-847B-0F88BC1112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C4E51C28-D92A-457A-B9C8-E85D59B9811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60A5D6E-DBB8-4457-B758-0BBDA95D8E15}"/>
              </a:ext>
            </a:extLst>
          </p:cNvPr>
          <p:cNvSpPr>
            <a:spLocks noGrp="1"/>
          </p:cNvSpPr>
          <p:nvPr>
            <p:ph type="dt" sz="half" idx="10"/>
          </p:nvPr>
        </p:nvSpPr>
        <p:spPr/>
        <p:txBody>
          <a:bodyPr/>
          <a:lstStyle/>
          <a:p>
            <a:fld id="{8FF1AD12-7FAA-48A7-8895-AFE8BEBD0190}" type="datetimeFigureOut">
              <a:rPr lang="zh-TW" altLang="en-US" smtClean="0"/>
              <a:t>2025/9/17</a:t>
            </a:fld>
            <a:endParaRPr lang="zh-TW" altLang="en-US"/>
          </a:p>
        </p:txBody>
      </p:sp>
      <p:sp>
        <p:nvSpPr>
          <p:cNvPr id="8" name="頁尾版面配置區 7">
            <a:extLst>
              <a:ext uri="{FF2B5EF4-FFF2-40B4-BE49-F238E27FC236}">
                <a16:creationId xmlns:a16="http://schemas.microsoft.com/office/drawing/2014/main" id="{0350E468-A040-4FE8-B9E8-AA8EC705736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2ACBF7C-2E49-41B7-B55E-FBD3A83EB3C4}"/>
              </a:ext>
            </a:extLst>
          </p:cNvPr>
          <p:cNvSpPr>
            <a:spLocks noGrp="1"/>
          </p:cNvSpPr>
          <p:nvPr>
            <p:ph type="sldNum" sz="quarter" idx="12"/>
          </p:nvPr>
        </p:nvSpPr>
        <p:spPr/>
        <p:txBody>
          <a:bodyPr/>
          <a:lstStyle/>
          <a:p>
            <a:fld id="{7308F9BF-4B1F-43BA-9AFA-60BACD3716DE}" type="slidenum">
              <a:rPr lang="zh-TW" altLang="en-US" smtClean="0"/>
              <a:t>‹#›</a:t>
            </a:fld>
            <a:endParaRPr lang="zh-TW" altLang="en-US"/>
          </a:p>
        </p:txBody>
      </p:sp>
    </p:spTree>
    <p:extLst>
      <p:ext uri="{BB962C8B-B14F-4D97-AF65-F5344CB8AC3E}">
        <p14:creationId xmlns:p14="http://schemas.microsoft.com/office/powerpoint/2010/main" val="310086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10DE3A-9AE2-4CAA-89EB-A080E0E8CCC4}"/>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C69449E3-843D-42F0-9B03-028AA55C4B74}"/>
              </a:ext>
            </a:extLst>
          </p:cNvPr>
          <p:cNvSpPr>
            <a:spLocks noGrp="1"/>
          </p:cNvSpPr>
          <p:nvPr>
            <p:ph type="dt" sz="half" idx="10"/>
          </p:nvPr>
        </p:nvSpPr>
        <p:spPr/>
        <p:txBody>
          <a:bodyPr/>
          <a:lstStyle/>
          <a:p>
            <a:fld id="{8FF1AD12-7FAA-48A7-8895-AFE8BEBD0190}" type="datetimeFigureOut">
              <a:rPr lang="zh-TW" altLang="en-US" smtClean="0"/>
              <a:t>2025/9/17</a:t>
            </a:fld>
            <a:endParaRPr lang="zh-TW" altLang="en-US"/>
          </a:p>
        </p:txBody>
      </p:sp>
      <p:sp>
        <p:nvSpPr>
          <p:cNvPr id="4" name="頁尾版面配置區 3">
            <a:extLst>
              <a:ext uri="{FF2B5EF4-FFF2-40B4-BE49-F238E27FC236}">
                <a16:creationId xmlns:a16="http://schemas.microsoft.com/office/drawing/2014/main" id="{CAF2B59F-F67F-46B9-8B52-2C8140FD0EC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E425A62-3C44-456C-9F0E-5F9AB885EA42}"/>
              </a:ext>
            </a:extLst>
          </p:cNvPr>
          <p:cNvSpPr>
            <a:spLocks noGrp="1"/>
          </p:cNvSpPr>
          <p:nvPr>
            <p:ph type="sldNum" sz="quarter" idx="12"/>
          </p:nvPr>
        </p:nvSpPr>
        <p:spPr/>
        <p:txBody>
          <a:bodyPr/>
          <a:lstStyle/>
          <a:p>
            <a:fld id="{7308F9BF-4B1F-43BA-9AFA-60BACD3716DE}" type="slidenum">
              <a:rPr lang="zh-TW" altLang="en-US" smtClean="0"/>
              <a:t>‹#›</a:t>
            </a:fld>
            <a:endParaRPr lang="zh-TW" altLang="en-US"/>
          </a:p>
        </p:txBody>
      </p:sp>
    </p:spTree>
    <p:extLst>
      <p:ext uri="{BB962C8B-B14F-4D97-AF65-F5344CB8AC3E}">
        <p14:creationId xmlns:p14="http://schemas.microsoft.com/office/powerpoint/2010/main" val="2722661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2FB50F3-B552-4474-9C20-63010B7FE98C}"/>
              </a:ext>
            </a:extLst>
          </p:cNvPr>
          <p:cNvSpPr>
            <a:spLocks noGrp="1"/>
          </p:cNvSpPr>
          <p:nvPr>
            <p:ph type="dt" sz="half" idx="10"/>
          </p:nvPr>
        </p:nvSpPr>
        <p:spPr/>
        <p:txBody>
          <a:bodyPr/>
          <a:lstStyle/>
          <a:p>
            <a:fld id="{8FF1AD12-7FAA-48A7-8895-AFE8BEBD0190}" type="datetimeFigureOut">
              <a:rPr lang="zh-TW" altLang="en-US" smtClean="0"/>
              <a:t>2025/9/17</a:t>
            </a:fld>
            <a:endParaRPr lang="zh-TW" altLang="en-US"/>
          </a:p>
        </p:txBody>
      </p:sp>
      <p:sp>
        <p:nvSpPr>
          <p:cNvPr id="3" name="頁尾版面配置區 2">
            <a:extLst>
              <a:ext uri="{FF2B5EF4-FFF2-40B4-BE49-F238E27FC236}">
                <a16:creationId xmlns:a16="http://schemas.microsoft.com/office/drawing/2014/main" id="{2034EA9A-882F-4B5D-A9D7-53313EF1EC94}"/>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E852C827-A51D-4928-AD2C-F7038889583A}"/>
              </a:ext>
            </a:extLst>
          </p:cNvPr>
          <p:cNvSpPr>
            <a:spLocks noGrp="1"/>
          </p:cNvSpPr>
          <p:nvPr>
            <p:ph type="sldNum" sz="quarter" idx="12"/>
          </p:nvPr>
        </p:nvSpPr>
        <p:spPr/>
        <p:txBody>
          <a:bodyPr/>
          <a:lstStyle/>
          <a:p>
            <a:fld id="{7308F9BF-4B1F-43BA-9AFA-60BACD3716DE}" type="slidenum">
              <a:rPr lang="zh-TW" altLang="en-US" smtClean="0"/>
              <a:t>‹#›</a:t>
            </a:fld>
            <a:endParaRPr lang="zh-TW" altLang="en-US"/>
          </a:p>
        </p:txBody>
      </p:sp>
    </p:spTree>
    <p:extLst>
      <p:ext uri="{BB962C8B-B14F-4D97-AF65-F5344CB8AC3E}">
        <p14:creationId xmlns:p14="http://schemas.microsoft.com/office/powerpoint/2010/main" val="3200436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039DAB-0D95-4309-83F8-D2D51FB21ED0}"/>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12469B6-ACB7-4D43-8D90-1870E3D020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19A83429-BE8D-454E-965C-DB67A35091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9BECCF78-D477-4AC5-8C90-F9D1AA39AFAB}"/>
              </a:ext>
            </a:extLst>
          </p:cNvPr>
          <p:cNvSpPr>
            <a:spLocks noGrp="1"/>
          </p:cNvSpPr>
          <p:nvPr>
            <p:ph type="dt" sz="half" idx="10"/>
          </p:nvPr>
        </p:nvSpPr>
        <p:spPr/>
        <p:txBody>
          <a:bodyPr/>
          <a:lstStyle/>
          <a:p>
            <a:fld id="{8FF1AD12-7FAA-48A7-8895-AFE8BEBD0190}" type="datetimeFigureOut">
              <a:rPr lang="zh-TW" altLang="en-US" smtClean="0"/>
              <a:t>2025/9/17</a:t>
            </a:fld>
            <a:endParaRPr lang="zh-TW" altLang="en-US"/>
          </a:p>
        </p:txBody>
      </p:sp>
      <p:sp>
        <p:nvSpPr>
          <p:cNvPr id="6" name="頁尾版面配置區 5">
            <a:extLst>
              <a:ext uri="{FF2B5EF4-FFF2-40B4-BE49-F238E27FC236}">
                <a16:creationId xmlns:a16="http://schemas.microsoft.com/office/drawing/2014/main" id="{AFF90BB1-3879-4509-9BFB-FFB12BE1115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B12A0C5-B804-4C30-A37D-4212A6040CCD}"/>
              </a:ext>
            </a:extLst>
          </p:cNvPr>
          <p:cNvSpPr>
            <a:spLocks noGrp="1"/>
          </p:cNvSpPr>
          <p:nvPr>
            <p:ph type="sldNum" sz="quarter" idx="12"/>
          </p:nvPr>
        </p:nvSpPr>
        <p:spPr/>
        <p:txBody>
          <a:bodyPr/>
          <a:lstStyle/>
          <a:p>
            <a:fld id="{7308F9BF-4B1F-43BA-9AFA-60BACD3716DE}" type="slidenum">
              <a:rPr lang="zh-TW" altLang="en-US" smtClean="0"/>
              <a:t>‹#›</a:t>
            </a:fld>
            <a:endParaRPr lang="zh-TW" altLang="en-US"/>
          </a:p>
        </p:txBody>
      </p:sp>
    </p:spTree>
    <p:extLst>
      <p:ext uri="{BB962C8B-B14F-4D97-AF65-F5344CB8AC3E}">
        <p14:creationId xmlns:p14="http://schemas.microsoft.com/office/powerpoint/2010/main" val="1933094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08E5C0-E27E-41AB-BADA-EB27604318FF}"/>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316F7B67-28CF-407A-BEF2-E672DFD7B4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439DA6C-AA65-4352-849D-1EF1653CEB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D3B77901-CA33-4593-B879-0C8DD43A3ADE}"/>
              </a:ext>
            </a:extLst>
          </p:cNvPr>
          <p:cNvSpPr>
            <a:spLocks noGrp="1"/>
          </p:cNvSpPr>
          <p:nvPr>
            <p:ph type="dt" sz="half" idx="10"/>
          </p:nvPr>
        </p:nvSpPr>
        <p:spPr/>
        <p:txBody>
          <a:bodyPr/>
          <a:lstStyle/>
          <a:p>
            <a:fld id="{8FF1AD12-7FAA-48A7-8895-AFE8BEBD0190}" type="datetimeFigureOut">
              <a:rPr lang="zh-TW" altLang="en-US" smtClean="0"/>
              <a:t>2025/9/17</a:t>
            </a:fld>
            <a:endParaRPr lang="zh-TW" altLang="en-US"/>
          </a:p>
        </p:txBody>
      </p:sp>
      <p:sp>
        <p:nvSpPr>
          <p:cNvPr id="6" name="頁尾版面配置區 5">
            <a:extLst>
              <a:ext uri="{FF2B5EF4-FFF2-40B4-BE49-F238E27FC236}">
                <a16:creationId xmlns:a16="http://schemas.microsoft.com/office/drawing/2014/main" id="{0EF49CC0-448A-4672-93D6-FD1E6D82317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D3BBB75-1208-4DAE-A41E-F205D6660F68}"/>
              </a:ext>
            </a:extLst>
          </p:cNvPr>
          <p:cNvSpPr>
            <a:spLocks noGrp="1"/>
          </p:cNvSpPr>
          <p:nvPr>
            <p:ph type="sldNum" sz="quarter" idx="12"/>
          </p:nvPr>
        </p:nvSpPr>
        <p:spPr/>
        <p:txBody>
          <a:bodyPr/>
          <a:lstStyle/>
          <a:p>
            <a:fld id="{7308F9BF-4B1F-43BA-9AFA-60BACD3716DE}" type="slidenum">
              <a:rPr lang="zh-TW" altLang="en-US" smtClean="0"/>
              <a:t>‹#›</a:t>
            </a:fld>
            <a:endParaRPr lang="zh-TW" altLang="en-US"/>
          </a:p>
        </p:txBody>
      </p:sp>
    </p:spTree>
    <p:extLst>
      <p:ext uri="{BB962C8B-B14F-4D97-AF65-F5344CB8AC3E}">
        <p14:creationId xmlns:p14="http://schemas.microsoft.com/office/powerpoint/2010/main" val="3778175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4933E9-2442-41C1-BE6F-6AB65170B93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48111AC7-935A-477F-8546-53FD48903D80}"/>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CA82C1D-F0EF-4A44-9257-AD82DE3F5B9D}"/>
              </a:ext>
            </a:extLst>
          </p:cNvPr>
          <p:cNvSpPr>
            <a:spLocks noGrp="1"/>
          </p:cNvSpPr>
          <p:nvPr>
            <p:ph type="dt" sz="half" idx="10"/>
          </p:nvPr>
        </p:nvSpPr>
        <p:spPr/>
        <p:txBody>
          <a:bodyPr/>
          <a:lstStyle/>
          <a:p>
            <a:fld id="{8FF1AD12-7FAA-48A7-8895-AFE8BEBD0190}" type="datetimeFigureOut">
              <a:rPr lang="zh-TW" altLang="en-US" smtClean="0"/>
              <a:t>2025/9/17</a:t>
            </a:fld>
            <a:endParaRPr lang="zh-TW" altLang="en-US"/>
          </a:p>
        </p:txBody>
      </p:sp>
      <p:sp>
        <p:nvSpPr>
          <p:cNvPr id="5" name="頁尾版面配置區 4">
            <a:extLst>
              <a:ext uri="{FF2B5EF4-FFF2-40B4-BE49-F238E27FC236}">
                <a16:creationId xmlns:a16="http://schemas.microsoft.com/office/drawing/2014/main" id="{ABD9FC00-D9B4-4C9D-B4FE-3F6AE1EA6E6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4D43F58-EC8B-47B2-8313-430BAD1CB85E}"/>
              </a:ext>
            </a:extLst>
          </p:cNvPr>
          <p:cNvSpPr>
            <a:spLocks noGrp="1"/>
          </p:cNvSpPr>
          <p:nvPr>
            <p:ph type="sldNum" sz="quarter" idx="12"/>
          </p:nvPr>
        </p:nvSpPr>
        <p:spPr/>
        <p:txBody>
          <a:bodyPr/>
          <a:lstStyle/>
          <a:p>
            <a:fld id="{7308F9BF-4B1F-43BA-9AFA-60BACD3716DE}" type="slidenum">
              <a:rPr lang="zh-TW" altLang="en-US" smtClean="0"/>
              <a:t>‹#›</a:t>
            </a:fld>
            <a:endParaRPr lang="zh-TW" altLang="en-US"/>
          </a:p>
        </p:txBody>
      </p:sp>
    </p:spTree>
    <p:extLst>
      <p:ext uri="{BB962C8B-B14F-4D97-AF65-F5344CB8AC3E}">
        <p14:creationId xmlns:p14="http://schemas.microsoft.com/office/powerpoint/2010/main" val="3943421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32D0AC2-F1D9-4B06-B884-416FCD15300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3A51D72-0BC5-4B51-9615-E76541BB099F}"/>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3D8338B-69C9-4910-96FB-7CDBD508EC56}"/>
              </a:ext>
            </a:extLst>
          </p:cNvPr>
          <p:cNvSpPr>
            <a:spLocks noGrp="1"/>
          </p:cNvSpPr>
          <p:nvPr>
            <p:ph type="dt" sz="half" idx="10"/>
          </p:nvPr>
        </p:nvSpPr>
        <p:spPr/>
        <p:txBody>
          <a:bodyPr/>
          <a:lstStyle/>
          <a:p>
            <a:fld id="{8FF1AD12-7FAA-48A7-8895-AFE8BEBD0190}" type="datetimeFigureOut">
              <a:rPr lang="zh-TW" altLang="en-US" smtClean="0"/>
              <a:t>2025/9/17</a:t>
            </a:fld>
            <a:endParaRPr lang="zh-TW" altLang="en-US"/>
          </a:p>
        </p:txBody>
      </p:sp>
      <p:sp>
        <p:nvSpPr>
          <p:cNvPr id="5" name="頁尾版面配置區 4">
            <a:extLst>
              <a:ext uri="{FF2B5EF4-FFF2-40B4-BE49-F238E27FC236}">
                <a16:creationId xmlns:a16="http://schemas.microsoft.com/office/drawing/2014/main" id="{6B20733D-F8C2-4170-B85B-C2E1A9071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2900D9F-1570-42F5-B485-168AD3FE4E5B}"/>
              </a:ext>
            </a:extLst>
          </p:cNvPr>
          <p:cNvSpPr>
            <a:spLocks noGrp="1"/>
          </p:cNvSpPr>
          <p:nvPr>
            <p:ph type="sldNum" sz="quarter" idx="12"/>
          </p:nvPr>
        </p:nvSpPr>
        <p:spPr/>
        <p:txBody>
          <a:bodyPr/>
          <a:lstStyle/>
          <a:p>
            <a:fld id="{7308F9BF-4B1F-43BA-9AFA-60BACD3716DE}" type="slidenum">
              <a:rPr lang="zh-TW" altLang="en-US" smtClean="0"/>
              <a:t>‹#›</a:t>
            </a:fld>
            <a:endParaRPr lang="zh-TW" altLang="en-US"/>
          </a:p>
        </p:txBody>
      </p:sp>
    </p:spTree>
    <p:extLst>
      <p:ext uri="{BB962C8B-B14F-4D97-AF65-F5344CB8AC3E}">
        <p14:creationId xmlns:p14="http://schemas.microsoft.com/office/powerpoint/2010/main" val="3085376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C4442477-0EF2-48DD-9E0E-6FB1D94907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6B717B0-7C23-4663-B6C9-04E34070C6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AD44F0C-2A35-46FF-A8B1-CDA86C542E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F1AD12-7FAA-48A7-8895-AFE8BEBD0190}" type="datetimeFigureOut">
              <a:rPr lang="zh-TW" altLang="en-US" smtClean="0"/>
              <a:t>2025/9/17</a:t>
            </a:fld>
            <a:endParaRPr lang="zh-TW" altLang="en-US"/>
          </a:p>
        </p:txBody>
      </p:sp>
      <p:sp>
        <p:nvSpPr>
          <p:cNvPr id="5" name="頁尾版面配置區 4">
            <a:extLst>
              <a:ext uri="{FF2B5EF4-FFF2-40B4-BE49-F238E27FC236}">
                <a16:creationId xmlns:a16="http://schemas.microsoft.com/office/drawing/2014/main" id="{1671741F-9351-4E79-9733-10E25ECDEB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13BC4D2C-11A7-4491-BEC0-90C458E28B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08F9BF-4B1F-43BA-9AFA-60BACD3716DE}" type="slidenum">
              <a:rPr lang="zh-TW" altLang="en-US" smtClean="0"/>
              <a:t>‹#›</a:t>
            </a:fld>
            <a:endParaRPr lang="zh-TW" altLang="en-US"/>
          </a:p>
        </p:txBody>
      </p:sp>
    </p:spTree>
    <p:extLst>
      <p:ext uri="{BB962C8B-B14F-4D97-AF65-F5344CB8AC3E}">
        <p14:creationId xmlns:p14="http://schemas.microsoft.com/office/powerpoint/2010/main" val="42024614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package" Target="../embeddings/Microsoft_Excel_Worksheet1.xlsx"/><Relationship Id="rId3" Type="http://schemas.openxmlformats.org/officeDocument/2006/relationships/notesSlide" Target="../notesSlides/notesSlide2.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package" Target="../embeddings/Microsoft_Excel_Worksheet.xlsx"/><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2.emf"/></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9.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package" Target="../embeddings/Microsoft_Excel_Worksheet3.xlsx"/><Relationship Id="rId5" Type="http://schemas.openxmlformats.org/officeDocument/2006/relationships/image" Target="../media/image8.emf"/><Relationship Id="rId4" Type="http://schemas.openxmlformats.org/officeDocument/2006/relationships/package" Target="../embeddings/Microsoft_Excel_Worksheet2.xlsx"/></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0.emf"/><Relationship Id="rId4" Type="http://schemas.openxmlformats.org/officeDocument/2006/relationships/package" Target="../embeddings/Microsoft_Excel_Worksheet4.xlsx"/></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1F6782A-F7CF-4A5C-9F5E-8B26F42F926E}"/>
              </a:ext>
            </a:extLst>
          </p:cNvPr>
          <p:cNvSpPr>
            <a:spLocks noGrp="1"/>
          </p:cNvSpPr>
          <p:nvPr>
            <p:ph type="ctrTitle"/>
          </p:nvPr>
        </p:nvSpPr>
        <p:spPr>
          <a:xfrm>
            <a:off x="780421" y="1041400"/>
            <a:ext cx="10631155" cy="2387600"/>
          </a:xfrm>
        </p:spPr>
        <p:txBody>
          <a:bodyPr>
            <a:normAutofit/>
          </a:bodyPr>
          <a:lstStyle/>
          <a:p>
            <a:r>
              <a:rPr lang="en-US" altLang="zh-TW" sz="4400" b="1" dirty="0"/>
              <a:t>2025/08/27</a:t>
            </a:r>
            <a:r>
              <a:rPr lang="zh-TW" altLang="en-US" sz="4400" b="1" dirty="0"/>
              <a:t> </a:t>
            </a:r>
            <a:r>
              <a:rPr lang="en-US" altLang="zh-TW" sz="4400" b="1" dirty="0"/>
              <a:t>Meeting Report</a:t>
            </a:r>
            <a:endParaRPr lang="zh-TW" altLang="en-US" sz="4400" dirty="0"/>
          </a:p>
        </p:txBody>
      </p:sp>
    </p:spTree>
    <p:extLst>
      <p:ext uri="{BB962C8B-B14F-4D97-AF65-F5344CB8AC3E}">
        <p14:creationId xmlns:p14="http://schemas.microsoft.com/office/powerpoint/2010/main" val="327590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321577" y="0"/>
            <a:ext cx="11744588" cy="1325563"/>
          </a:xfrm>
        </p:spPr>
        <p:txBody>
          <a:bodyPr>
            <a:normAutofit/>
          </a:bodyPr>
          <a:lstStyle/>
          <a:p>
            <a:r>
              <a:rPr lang="en-US" altLang="zh-TW" sz="3200" b="1" dirty="0">
                <a:solidFill>
                  <a:schemeClr val="accent2"/>
                </a:solidFill>
                <a:latin typeface="Calibri" panose="020F0502020204030204" pitchFamily="34" charset="0"/>
                <a:ea typeface="標楷體" panose="03000509000000000000" pitchFamily="65" charset="-120"/>
                <a:cs typeface="Calibri" panose="020F0502020204030204" pitchFamily="34" charset="0"/>
              </a:rPr>
              <a:t>4o</a:t>
            </a:r>
            <a:r>
              <a:rPr lang="en-US" altLang="zh-TW" sz="3200" dirty="0">
                <a:latin typeface="Calibri" panose="020F0502020204030204" pitchFamily="34" charset="0"/>
                <a:ea typeface="標楷體" panose="03000509000000000000" pitchFamily="65" charset="-120"/>
                <a:cs typeface="Calibri" panose="020F0502020204030204" pitchFamily="34" charset="0"/>
              </a:rPr>
              <a:t> </a:t>
            </a:r>
            <a:r>
              <a:rPr lang="zh-TW" altLang="en-US" sz="3200" dirty="0">
                <a:latin typeface="Calibri" panose="020F0502020204030204" pitchFamily="34" charset="0"/>
                <a:ea typeface="標楷體" panose="03000509000000000000" pitchFamily="65" charset="-120"/>
                <a:cs typeface="Calibri" panose="020F0502020204030204" pitchFamily="34" charset="0"/>
              </a:rPr>
              <a:t>與 </a:t>
            </a:r>
            <a:r>
              <a:rPr lang="en-US" altLang="zh-TW" sz="3200" b="1" dirty="0">
                <a:solidFill>
                  <a:schemeClr val="accent5"/>
                </a:solidFill>
                <a:latin typeface="Calibri" panose="020F0502020204030204" pitchFamily="34" charset="0"/>
                <a:ea typeface="標楷體" panose="03000509000000000000" pitchFamily="65" charset="-120"/>
                <a:cs typeface="Calibri" panose="020F0502020204030204" pitchFamily="34" charset="0"/>
              </a:rPr>
              <a:t>o3</a:t>
            </a:r>
            <a:r>
              <a:rPr lang="en-US" altLang="zh-TW" sz="3200" dirty="0">
                <a:latin typeface="Calibri" panose="020F0502020204030204" pitchFamily="34" charset="0"/>
                <a:ea typeface="標楷體" panose="03000509000000000000" pitchFamily="65" charset="-120"/>
                <a:cs typeface="Calibri" panose="020F0502020204030204" pitchFamily="34" charset="0"/>
              </a:rPr>
              <a:t> </a:t>
            </a:r>
            <a:r>
              <a:rPr lang="zh-TW" altLang="en-US" sz="3200" dirty="0">
                <a:latin typeface="Calibri" panose="020F0502020204030204" pitchFamily="34" charset="0"/>
                <a:ea typeface="標楷體" panose="03000509000000000000" pitchFamily="65" charset="-120"/>
                <a:cs typeface="Calibri" panose="020F0502020204030204" pitchFamily="34" charset="0"/>
              </a:rPr>
              <a:t>的問卷分數憂鬱症檢測比較 </a:t>
            </a:r>
            <a:r>
              <a:rPr lang="en-US" altLang="zh-TW" sz="3200" dirty="0">
                <a:latin typeface="Calibri" panose="020F0502020204030204" pitchFamily="34" charset="0"/>
                <a:ea typeface="標楷體" panose="03000509000000000000" pitchFamily="65" charset="-120"/>
                <a:cs typeface="Calibri" panose="020F0502020204030204" pitchFamily="34" charset="0"/>
              </a:rPr>
              <a:t>(</a:t>
            </a:r>
            <a:r>
              <a:rPr lang="zh-TW" altLang="en-US" sz="3200" dirty="0">
                <a:latin typeface="Calibri" panose="020F0502020204030204" pitchFamily="34" charset="0"/>
                <a:ea typeface="標楷體" panose="03000509000000000000" pitchFamily="65" charset="-120"/>
                <a:cs typeface="Calibri" panose="020F0502020204030204" pitchFamily="34" charset="0"/>
              </a:rPr>
              <a:t>資料集</a:t>
            </a:r>
            <a:r>
              <a:rPr lang="en-US" altLang="zh-TW" sz="3200" dirty="0">
                <a:latin typeface="Calibri" panose="020F0502020204030204" pitchFamily="34" charset="0"/>
                <a:ea typeface="標楷體" panose="03000509000000000000" pitchFamily="65" charset="-120"/>
                <a:cs typeface="Calibri" panose="020F0502020204030204" pitchFamily="34" charset="0"/>
              </a:rPr>
              <a:t>: </a:t>
            </a:r>
            <a:r>
              <a:rPr lang="en-US" altLang="zh-TW" sz="3200" dirty="0" err="1">
                <a:latin typeface="Calibri" panose="020F0502020204030204" pitchFamily="34" charset="0"/>
                <a:ea typeface="標楷體" panose="03000509000000000000" pitchFamily="65" charset="-120"/>
                <a:cs typeface="Calibri" panose="020F0502020204030204" pitchFamily="34" charset="0"/>
              </a:rPr>
              <a:t>dev_split</a:t>
            </a:r>
            <a:r>
              <a:rPr lang="en-US" altLang="zh-TW" sz="3200" dirty="0">
                <a:latin typeface="Calibri" panose="020F0502020204030204" pitchFamily="34" charset="0"/>
                <a:ea typeface="標楷體" panose="03000509000000000000" pitchFamily="65" charset="-120"/>
                <a:cs typeface="Calibri" panose="020F0502020204030204" pitchFamily="34" charset="0"/>
              </a:rPr>
              <a:t>)</a:t>
            </a:r>
            <a:endParaRPr lang="zh-TW" altLang="en-US" sz="3200" dirty="0">
              <a:latin typeface="Calibri" panose="020F0502020204030204" pitchFamily="34" charset="0"/>
              <a:ea typeface="標楷體" panose="03000509000000000000" pitchFamily="65" charset="-120"/>
              <a:cs typeface="Calibri" panose="020F0502020204030204" pitchFamily="34" charset="0"/>
            </a:endParaRPr>
          </a:p>
        </p:txBody>
      </p:sp>
      <p:sp>
        <p:nvSpPr>
          <p:cNvPr id="8" name="內容版面配置區 2">
            <a:extLst>
              <a:ext uri="{FF2B5EF4-FFF2-40B4-BE49-F238E27FC236}">
                <a16:creationId xmlns:a16="http://schemas.microsoft.com/office/drawing/2014/main" id="{C790674B-9EC5-4D00-A32E-9E8F49D8D015}"/>
              </a:ext>
            </a:extLst>
          </p:cNvPr>
          <p:cNvSpPr txBox="1">
            <a:spLocks/>
          </p:cNvSpPr>
          <p:nvPr/>
        </p:nvSpPr>
        <p:spPr>
          <a:xfrm>
            <a:off x="838199" y="145650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nSpc>
                <a:spcPct val="100000"/>
              </a:lnSpc>
              <a:buNone/>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pic>
        <p:nvPicPr>
          <p:cNvPr id="11" name="圖片 10">
            <a:extLst>
              <a:ext uri="{FF2B5EF4-FFF2-40B4-BE49-F238E27FC236}">
                <a16:creationId xmlns:a16="http://schemas.microsoft.com/office/drawing/2014/main" id="{A84B66BB-D7A4-433B-9DD4-876E2E400CB7}"/>
              </a:ext>
            </a:extLst>
          </p:cNvPr>
          <p:cNvPicPr>
            <a:picLocks noChangeAspect="1"/>
          </p:cNvPicPr>
          <p:nvPr/>
        </p:nvPicPr>
        <p:blipFill>
          <a:blip r:embed="rId4"/>
          <a:stretch>
            <a:fillRect/>
          </a:stretch>
        </p:blipFill>
        <p:spPr>
          <a:xfrm>
            <a:off x="6035458" y="2203488"/>
            <a:ext cx="5086350" cy="4467225"/>
          </a:xfrm>
          <a:prstGeom prst="rect">
            <a:avLst/>
          </a:prstGeom>
        </p:spPr>
      </p:pic>
      <p:pic>
        <p:nvPicPr>
          <p:cNvPr id="12" name="圖片 11">
            <a:extLst>
              <a:ext uri="{FF2B5EF4-FFF2-40B4-BE49-F238E27FC236}">
                <a16:creationId xmlns:a16="http://schemas.microsoft.com/office/drawing/2014/main" id="{993D7BE3-1AD3-4091-A8CF-5C5501717CA6}"/>
              </a:ext>
            </a:extLst>
          </p:cNvPr>
          <p:cNvPicPr>
            <a:picLocks noChangeAspect="1"/>
          </p:cNvPicPr>
          <p:nvPr/>
        </p:nvPicPr>
        <p:blipFill>
          <a:blip r:embed="rId5"/>
          <a:stretch>
            <a:fillRect/>
          </a:stretch>
        </p:blipFill>
        <p:spPr>
          <a:xfrm>
            <a:off x="600686" y="2203488"/>
            <a:ext cx="5086350" cy="4467225"/>
          </a:xfrm>
          <a:prstGeom prst="rect">
            <a:avLst/>
          </a:prstGeom>
        </p:spPr>
      </p:pic>
      <p:graphicFrame>
        <p:nvGraphicFramePr>
          <p:cNvPr id="3" name="物件 2">
            <a:extLst>
              <a:ext uri="{FF2B5EF4-FFF2-40B4-BE49-F238E27FC236}">
                <a16:creationId xmlns:a16="http://schemas.microsoft.com/office/drawing/2014/main" id="{A65B17EC-D78F-4046-BD19-C9CC59BC4541}"/>
              </a:ext>
            </a:extLst>
          </p:cNvPr>
          <p:cNvGraphicFramePr>
            <a:graphicFrameLocks noChangeAspect="1"/>
          </p:cNvGraphicFramePr>
          <p:nvPr>
            <p:extLst>
              <p:ext uri="{D42A27DB-BD31-4B8C-83A1-F6EECF244321}">
                <p14:modId xmlns:p14="http://schemas.microsoft.com/office/powerpoint/2010/main" val="549511468"/>
              </p:ext>
            </p:extLst>
          </p:nvPr>
        </p:nvGraphicFramePr>
        <p:xfrm>
          <a:off x="7028270" y="1075396"/>
          <a:ext cx="3100725" cy="915192"/>
        </p:xfrm>
        <a:graphic>
          <a:graphicData uri="http://schemas.openxmlformats.org/presentationml/2006/ole">
            <mc:AlternateContent xmlns:mc="http://schemas.openxmlformats.org/markup-compatibility/2006">
              <mc:Choice xmlns:v="urn:schemas-microsoft-com:vml" Requires="v">
                <p:oleObj spid="_x0000_s13369" name="Worksheet" r:id="rId6" imgW="2162266" imgH="638286" progId="Excel.Sheet.12">
                  <p:embed/>
                </p:oleObj>
              </mc:Choice>
              <mc:Fallback>
                <p:oleObj name="Worksheet" r:id="rId6" imgW="2162266" imgH="638286" progId="Excel.Sheet.12">
                  <p:embed/>
                  <p:pic>
                    <p:nvPicPr>
                      <p:cNvPr id="0" name=""/>
                      <p:cNvPicPr/>
                      <p:nvPr/>
                    </p:nvPicPr>
                    <p:blipFill>
                      <a:blip r:embed="rId7"/>
                      <a:stretch>
                        <a:fillRect/>
                      </a:stretch>
                    </p:blipFill>
                    <p:spPr>
                      <a:xfrm>
                        <a:off x="7028270" y="1075396"/>
                        <a:ext cx="3100725" cy="915192"/>
                      </a:xfrm>
                      <a:prstGeom prst="rect">
                        <a:avLst/>
                      </a:prstGeom>
                    </p:spPr>
                  </p:pic>
                </p:oleObj>
              </mc:Fallback>
            </mc:AlternateContent>
          </a:graphicData>
        </a:graphic>
      </p:graphicFrame>
      <p:graphicFrame>
        <p:nvGraphicFramePr>
          <p:cNvPr id="7" name="物件 6">
            <a:extLst>
              <a:ext uri="{FF2B5EF4-FFF2-40B4-BE49-F238E27FC236}">
                <a16:creationId xmlns:a16="http://schemas.microsoft.com/office/drawing/2014/main" id="{AF648E7C-AA19-4F49-9AA4-294BB4D814C1}"/>
              </a:ext>
            </a:extLst>
          </p:cNvPr>
          <p:cNvGraphicFramePr>
            <a:graphicFrameLocks noChangeAspect="1"/>
          </p:cNvGraphicFramePr>
          <p:nvPr>
            <p:extLst>
              <p:ext uri="{D42A27DB-BD31-4B8C-83A1-F6EECF244321}">
                <p14:modId xmlns:p14="http://schemas.microsoft.com/office/powerpoint/2010/main" val="2656798329"/>
              </p:ext>
            </p:extLst>
          </p:nvPr>
        </p:nvGraphicFramePr>
        <p:xfrm>
          <a:off x="1593498" y="1075396"/>
          <a:ext cx="3100725" cy="915192"/>
        </p:xfrm>
        <a:graphic>
          <a:graphicData uri="http://schemas.openxmlformats.org/presentationml/2006/ole">
            <mc:AlternateContent xmlns:mc="http://schemas.openxmlformats.org/markup-compatibility/2006">
              <mc:Choice xmlns:v="urn:schemas-microsoft-com:vml" Requires="v">
                <p:oleObj spid="_x0000_s13370" name="Worksheet" r:id="rId8" imgW="2162266" imgH="638286" progId="Excel.Sheet.12">
                  <p:embed/>
                </p:oleObj>
              </mc:Choice>
              <mc:Fallback>
                <p:oleObj name="Worksheet" r:id="rId8" imgW="2162266" imgH="638286" progId="Excel.Sheet.12">
                  <p:embed/>
                  <p:pic>
                    <p:nvPicPr>
                      <p:cNvPr id="0" name=""/>
                      <p:cNvPicPr/>
                      <p:nvPr/>
                    </p:nvPicPr>
                    <p:blipFill>
                      <a:blip r:embed="rId9"/>
                      <a:stretch>
                        <a:fillRect/>
                      </a:stretch>
                    </p:blipFill>
                    <p:spPr>
                      <a:xfrm>
                        <a:off x="1593498" y="1075396"/>
                        <a:ext cx="3100725" cy="915192"/>
                      </a:xfrm>
                      <a:prstGeom prst="rect">
                        <a:avLst/>
                      </a:prstGeom>
                    </p:spPr>
                  </p:pic>
                </p:oleObj>
              </mc:Fallback>
            </mc:AlternateContent>
          </a:graphicData>
        </a:graphic>
      </p:graphicFrame>
    </p:spTree>
    <p:extLst>
      <p:ext uri="{BB962C8B-B14F-4D97-AF65-F5344CB8AC3E}">
        <p14:creationId xmlns:p14="http://schemas.microsoft.com/office/powerpoint/2010/main" val="1615204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F8334866-5215-4036-B4BA-99656E9DCAB2}"/>
              </a:ext>
            </a:extLst>
          </p:cNvPr>
          <p:cNvPicPr>
            <a:picLocks noChangeAspect="1"/>
          </p:cNvPicPr>
          <p:nvPr/>
        </p:nvPicPr>
        <p:blipFill>
          <a:blip r:embed="rId2"/>
          <a:stretch>
            <a:fillRect/>
          </a:stretch>
        </p:blipFill>
        <p:spPr>
          <a:xfrm>
            <a:off x="2854485" y="694112"/>
            <a:ext cx="6197236" cy="5701782"/>
          </a:xfrm>
          <a:prstGeom prst="rect">
            <a:avLst/>
          </a:prstGeom>
        </p:spPr>
      </p:pic>
    </p:spTree>
    <p:extLst>
      <p:ext uri="{BB962C8B-B14F-4D97-AF65-F5344CB8AC3E}">
        <p14:creationId xmlns:p14="http://schemas.microsoft.com/office/powerpoint/2010/main" val="1408447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237440" y="68377"/>
            <a:ext cx="11744588" cy="756220"/>
          </a:xfrm>
        </p:spPr>
        <p:txBody>
          <a:bodyPr>
            <a:normAutofit/>
          </a:bodyPr>
          <a:lstStyle/>
          <a:p>
            <a:r>
              <a:rPr lang="en-US" altLang="zh-TW" sz="3200" b="1" dirty="0">
                <a:solidFill>
                  <a:schemeClr val="accent2"/>
                </a:solidFill>
                <a:latin typeface="Calibri" panose="020F0502020204030204" pitchFamily="34" charset="0"/>
                <a:ea typeface="標楷體" panose="03000509000000000000" pitchFamily="65" charset="-120"/>
                <a:cs typeface="Calibri" panose="020F0502020204030204" pitchFamily="34" charset="0"/>
              </a:rPr>
              <a:t>4o</a:t>
            </a:r>
            <a:r>
              <a:rPr lang="en-US" altLang="zh-TW" sz="3200" dirty="0">
                <a:latin typeface="Calibri" panose="020F0502020204030204" pitchFamily="34" charset="0"/>
                <a:ea typeface="標楷體" panose="03000509000000000000" pitchFamily="65" charset="-120"/>
                <a:cs typeface="Calibri" panose="020F0502020204030204" pitchFamily="34" charset="0"/>
              </a:rPr>
              <a:t> </a:t>
            </a:r>
            <a:r>
              <a:rPr lang="zh-TW" altLang="en-US" sz="3200" dirty="0">
                <a:latin typeface="Calibri" panose="020F0502020204030204" pitchFamily="34" charset="0"/>
                <a:ea typeface="標楷體" panose="03000509000000000000" pitchFamily="65" charset="-120"/>
                <a:cs typeface="Calibri" panose="020F0502020204030204" pitchFamily="34" charset="0"/>
              </a:rPr>
              <a:t>與 </a:t>
            </a:r>
            <a:r>
              <a:rPr lang="en-US" altLang="zh-TW" sz="3200" b="1" dirty="0">
                <a:solidFill>
                  <a:schemeClr val="accent5"/>
                </a:solidFill>
                <a:latin typeface="Calibri" panose="020F0502020204030204" pitchFamily="34" charset="0"/>
                <a:ea typeface="標楷體" panose="03000509000000000000" pitchFamily="65" charset="-120"/>
                <a:cs typeface="Calibri" panose="020F0502020204030204" pitchFamily="34" charset="0"/>
              </a:rPr>
              <a:t>o3</a:t>
            </a:r>
            <a:r>
              <a:rPr lang="en-US" altLang="zh-TW" sz="3200" dirty="0">
                <a:latin typeface="Calibri" panose="020F0502020204030204" pitchFamily="34" charset="0"/>
                <a:ea typeface="標楷體" panose="03000509000000000000" pitchFamily="65" charset="-120"/>
                <a:cs typeface="Calibri" panose="020F0502020204030204" pitchFamily="34" charset="0"/>
              </a:rPr>
              <a:t> </a:t>
            </a:r>
            <a:r>
              <a:rPr lang="zh-TW" altLang="en-US" sz="3200" dirty="0">
                <a:latin typeface="Calibri" panose="020F0502020204030204" pitchFamily="34" charset="0"/>
                <a:ea typeface="標楷體" panose="03000509000000000000" pitchFamily="65" charset="-120"/>
                <a:cs typeface="Calibri" panose="020F0502020204030204" pitchFamily="34" charset="0"/>
              </a:rPr>
              <a:t>的問卷分數預測分布 </a:t>
            </a:r>
            <a:r>
              <a:rPr lang="en-US" altLang="zh-TW" sz="3200" dirty="0">
                <a:latin typeface="Calibri" panose="020F0502020204030204" pitchFamily="34" charset="0"/>
                <a:ea typeface="標楷體" panose="03000509000000000000" pitchFamily="65" charset="-120"/>
                <a:cs typeface="Calibri" panose="020F0502020204030204" pitchFamily="34" charset="0"/>
              </a:rPr>
              <a:t>(</a:t>
            </a:r>
            <a:r>
              <a:rPr lang="zh-TW" altLang="en-US" sz="3200" dirty="0">
                <a:latin typeface="Calibri" panose="020F0502020204030204" pitchFamily="34" charset="0"/>
                <a:ea typeface="標楷體" panose="03000509000000000000" pitchFamily="65" charset="-120"/>
                <a:cs typeface="Calibri" panose="020F0502020204030204" pitchFamily="34" charset="0"/>
              </a:rPr>
              <a:t>資料集</a:t>
            </a:r>
            <a:r>
              <a:rPr lang="en-US" altLang="zh-TW" sz="3200" dirty="0">
                <a:latin typeface="Calibri" panose="020F0502020204030204" pitchFamily="34" charset="0"/>
                <a:ea typeface="標楷體" panose="03000509000000000000" pitchFamily="65" charset="-120"/>
                <a:cs typeface="Calibri" panose="020F0502020204030204" pitchFamily="34" charset="0"/>
              </a:rPr>
              <a:t>: </a:t>
            </a:r>
            <a:r>
              <a:rPr lang="en-US" altLang="zh-TW" sz="3200" dirty="0" err="1">
                <a:latin typeface="Calibri" panose="020F0502020204030204" pitchFamily="34" charset="0"/>
                <a:ea typeface="標楷體" panose="03000509000000000000" pitchFamily="65" charset="-120"/>
                <a:cs typeface="Calibri" panose="020F0502020204030204" pitchFamily="34" charset="0"/>
              </a:rPr>
              <a:t>dev_split</a:t>
            </a:r>
            <a:r>
              <a:rPr lang="en-US" altLang="zh-TW" sz="3200" dirty="0">
                <a:latin typeface="Calibri" panose="020F0502020204030204" pitchFamily="34" charset="0"/>
                <a:ea typeface="標楷體" panose="03000509000000000000" pitchFamily="65" charset="-120"/>
                <a:cs typeface="Calibri" panose="020F0502020204030204" pitchFamily="34" charset="0"/>
              </a:rPr>
              <a:t>)</a:t>
            </a:r>
            <a:endParaRPr lang="zh-TW" altLang="en-US" sz="3200" dirty="0">
              <a:latin typeface="Calibri" panose="020F0502020204030204" pitchFamily="34" charset="0"/>
              <a:ea typeface="標楷體" panose="03000509000000000000" pitchFamily="65" charset="-120"/>
              <a:cs typeface="Calibri" panose="020F0502020204030204" pitchFamily="34" charset="0"/>
            </a:endParaRPr>
          </a:p>
        </p:txBody>
      </p:sp>
      <p:pic>
        <p:nvPicPr>
          <p:cNvPr id="11" name="圖片 10">
            <a:extLst>
              <a:ext uri="{FF2B5EF4-FFF2-40B4-BE49-F238E27FC236}">
                <a16:creationId xmlns:a16="http://schemas.microsoft.com/office/drawing/2014/main" id="{4FFE25FB-F6DF-4535-BFDE-BB05F720B5D4}"/>
              </a:ext>
            </a:extLst>
          </p:cNvPr>
          <p:cNvPicPr>
            <a:picLocks noChangeAspect="1"/>
          </p:cNvPicPr>
          <p:nvPr/>
        </p:nvPicPr>
        <p:blipFill>
          <a:blip r:embed="rId3"/>
          <a:stretch>
            <a:fillRect/>
          </a:stretch>
        </p:blipFill>
        <p:spPr>
          <a:xfrm>
            <a:off x="1357299" y="698740"/>
            <a:ext cx="9115482" cy="3070964"/>
          </a:xfrm>
          <a:prstGeom prst="rect">
            <a:avLst/>
          </a:prstGeom>
        </p:spPr>
      </p:pic>
      <p:pic>
        <p:nvPicPr>
          <p:cNvPr id="13" name="圖片 12">
            <a:extLst>
              <a:ext uri="{FF2B5EF4-FFF2-40B4-BE49-F238E27FC236}">
                <a16:creationId xmlns:a16="http://schemas.microsoft.com/office/drawing/2014/main" id="{4EEEF228-A2A9-44CA-BB05-B2143589336D}"/>
              </a:ext>
            </a:extLst>
          </p:cNvPr>
          <p:cNvPicPr>
            <a:picLocks noChangeAspect="1"/>
          </p:cNvPicPr>
          <p:nvPr/>
        </p:nvPicPr>
        <p:blipFill>
          <a:blip r:embed="rId4"/>
          <a:stretch>
            <a:fillRect/>
          </a:stretch>
        </p:blipFill>
        <p:spPr>
          <a:xfrm>
            <a:off x="1357299" y="3769704"/>
            <a:ext cx="9166928" cy="3088296"/>
          </a:xfrm>
          <a:prstGeom prst="rect">
            <a:avLst/>
          </a:prstGeom>
        </p:spPr>
      </p:pic>
    </p:spTree>
    <p:extLst>
      <p:ext uri="{BB962C8B-B14F-4D97-AF65-F5344CB8AC3E}">
        <p14:creationId xmlns:p14="http://schemas.microsoft.com/office/powerpoint/2010/main" val="1940575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1">
            <a:extLst>
              <a:ext uri="{FF2B5EF4-FFF2-40B4-BE49-F238E27FC236}">
                <a16:creationId xmlns:a16="http://schemas.microsoft.com/office/drawing/2014/main" id="{EF954DE8-03B3-4889-BCDA-E99C0CAF3A84}"/>
              </a:ext>
            </a:extLst>
          </p:cNvPr>
          <p:cNvSpPr txBox="1">
            <a:spLocks/>
          </p:cNvSpPr>
          <p:nvPr/>
        </p:nvSpPr>
        <p:spPr>
          <a:xfrm>
            <a:off x="321577" y="0"/>
            <a:ext cx="1174458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b="1" dirty="0">
                <a:solidFill>
                  <a:schemeClr val="accent2"/>
                </a:solidFill>
                <a:latin typeface="Calibri" panose="020F0502020204030204" pitchFamily="34" charset="0"/>
                <a:ea typeface="標楷體" panose="03000509000000000000" pitchFamily="65" charset="-120"/>
                <a:cs typeface="Calibri" panose="020F0502020204030204" pitchFamily="34" charset="0"/>
              </a:rPr>
              <a:t>4o</a:t>
            </a:r>
            <a:r>
              <a:rPr lang="en-US" altLang="zh-TW" sz="3200" dirty="0">
                <a:latin typeface="Calibri" panose="020F0502020204030204" pitchFamily="34" charset="0"/>
                <a:ea typeface="標楷體" panose="03000509000000000000" pitchFamily="65" charset="-120"/>
                <a:cs typeface="Calibri" panose="020F0502020204030204" pitchFamily="34" charset="0"/>
              </a:rPr>
              <a:t> </a:t>
            </a:r>
            <a:r>
              <a:rPr lang="zh-TW" altLang="en-US" sz="3200" dirty="0">
                <a:latin typeface="Calibri" panose="020F0502020204030204" pitchFamily="34" charset="0"/>
                <a:ea typeface="標楷體" panose="03000509000000000000" pitchFamily="65" charset="-120"/>
                <a:cs typeface="Calibri" panose="020F0502020204030204" pitchFamily="34" charset="0"/>
              </a:rPr>
              <a:t>與 </a:t>
            </a:r>
            <a:r>
              <a:rPr lang="en-US" altLang="zh-TW" sz="3200" b="1" dirty="0">
                <a:solidFill>
                  <a:schemeClr val="accent5"/>
                </a:solidFill>
                <a:latin typeface="Calibri" panose="020F0502020204030204" pitchFamily="34" charset="0"/>
                <a:ea typeface="標楷體" panose="03000509000000000000" pitchFamily="65" charset="-120"/>
                <a:cs typeface="Calibri" panose="020F0502020204030204" pitchFamily="34" charset="0"/>
              </a:rPr>
              <a:t>o3</a:t>
            </a:r>
            <a:r>
              <a:rPr lang="en-US" altLang="zh-TW" sz="3200" dirty="0">
                <a:latin typeface="Calibri" panose="020F0502020204030204" pitchFamily="34" charset="0"/>
                <a:ea typeface="標楷體" panose="03000509000000000000" pitchFamily="65" charset="-120"/>
                <a:cs typeface="Calibri" panose="020F0502020204030204" pitchFamily="34" charset="0"/>
              </a:rPr>
              <a:t> </a:t>
            </a:r>
            <a:r>
              <a:rPr lang="zh-TW" altLang="en-US" sz="3200" dirty="0">
                <a:latin typeface="Calibri" panose="020F0502020204030204" pitchFamily="34" charset="0"/>
                <a:ea typeface="標楷體" panose="03000509000000000000" pitchFamily="65" charset="-120"/>
                <a:cs typeface="Calibri" panose="020F0502020204030204" pitchFamily="34" charset="0"/>
              </a:rPr>
              <a:t>的問卷分數 </a:t>
            </a:r>
            <a:r>
              <a:rPr lang="en-US" altLang="zh-TW" sz="3200" dirty="0">
                <a:latin typeface="Calibri" panose="020F0502020204030204" pitchFamily="34" charset="0"/>
                <a:ea typeface="標楷體" panose="03000509000000000000" pitchFamily="65" charset="-120"/>
                <a:cs typeface="Calibri" panose="020F0502020204030204" pitchFamily="34" charset="0"/>
              </a:rPr>
              <a:t>MAE </a:t>
            </a:r>
            <a:r>
              <a:rPr lang="zh-TW" altLang="en-US" sz="3200" dirty="0">
                <a:latin typeface="Calibri" panose="020F0502020204030204" pitchFamily="34" charset="0"/>
                <a:ea typeface="標楷體" panose="03000509000000000000" pitchFamily="65" charset="-120"/>
                <a:cs typeface="Calibri" panose="020F0502020204030204" pitchFamily="34" charset="0"/>
              </a:rPr>
              <a:t>與 </a:t>
            </a:r>
            <a:r>
              <a:rPr lang="en-US" altLang="zh-TW" sz="3200" dirty="0">
                <a:latin typeface="Calibri" panose="020F0502020204030204" pitchFamily="34" charset="0"/>
                <a:ea typeface="標楷體" panose="03000509000000000000" pitchFamily="65" charset="-120"/>
                <a:cs typeface="Calibri" panose="020F0502020204030204" pitchFamily="34" charset="0"/>
              </a:rPr>
              <a:t>RMSE</a:t>
            </a:r>
            <a:r>
              <a:rPr lang="zh-TW" altLang="en-US" sz="3200" dirty="0">
                <a:latin typeface="Calibri" panose="020F0502020204030204" pitchFamily="34" charset="0"/>
                <a:ea typeface="標楷體" panose="03000509000000000000" pitchFamily="65" charset="-120"/>
                <a:cs typeface="Calibri" panose="020F0502020204030204" pitchFamily="34" charset="0"/>
              </a:rPr>
              <a:t> </a:t>
            </a:r>
            <a:r>
              <a:rPr lang="en-US" altLang="zh-TW" sz="3200" dirty="0">
                <a:latin typeface="Calibri" panose="020F0502020204030204" pitchFamily="34" charset="0"/>
                <a:ea typeface="標楷體" panose="03000509000000000000" pitchFamily="65" charset="-120"/>
                <a:cs typeface="Calibri" panose="020F0502020204030204" pitchFamily="34" charset="0"/>
              </a:rPr>
              <a:t>(</a:t>
            </a:r>
            <a:r>
              <a:rPr lang="zh-TW" altLang="en-US" sz="3200" dirty="0">
                <a:latin typeface="Calibri" panose="020F0502020204030204" pitchFamily="34" charset="0"/>
                <a:ea typeface="標楷體" panose="03000509000000000000" pitchFamily="65" charset="-120"/>
                <a:cs typeface="Calibri" panose="020F0502020204030204" pitchFamily="34" charset="0"/>
              </a:rPr>
              <a:t>資料集</a:t>
            </a:r>
            <a:r>
              <a:rPr lang="en-US" altLang="zh-TW" sz="3200" dirty="0">
                <a:latin typeface="Calibri" panose="020F0502020204030204" pitchFamily="34" charset="0"/>
                <a:ea typeface="標楷體" panose="03000509000000000000" pitchFamily="65" charset="-120"/>
                <a:cs typeface="Calibri" panose="020F0502020204030204" pitchFamily="34" charset="0"/>
              </a:rPr>
              <a:t>: </a:t>
            </a:r>
            <a:r>
              <a:rPr lang="en-US" altLang="zh-TW" sz="3200" dirty="0" err="1">
                <a:latin typeface="Calibri" panose="020F0502020204030204" pitchFamily="34" charset="0"/>
                <a:ea typeface="標楷體" panose="03000509000000000000" pitchFamily="65" charset="-120"/>
                <a:cs typeface="Calibri" panose="020F0502020204030204" pitchFamily="34" charset="0"/>
              </a:rPr>
              <a:t>dev_split</a:t>
            </a:r>
            <a:r>
              <a:rPr lang="en-US" altLang="zh-TW" sz="3200" dirty="0">
                <a:latin typeface="Calibri" panose="020F0502020204030204" pitchFamily="34" charset="0"/>
                <a:ea typeface="標楷體" panose="03000509000000000000" pitchFamily="65" charset="-120"/>
                <a:cs typeface="Calibri" panose="020F0502020204030204" pitchFamily="34" charset="0"/>
              </a:rPr>
              <a:t>)</a:t>
            </a:r>
            <a:endParaRPr lang="zh-TW" altLang="en-US" sz="3200" dirty="0">
              <a:latin typeface="Calibri" panose="020F0502020204030204" pitchFamily="34" charset="0"/>
              <a:ea typeface="標楷體" panose="03000509000000000000" pitchFamily="65" charset="-120"/>
              <a:cs typeface="Calibri" panose="020F0502020204030204" pitchFamily="34" charset="0"/>
            </a:endParaRPr>
          </a:p>
        </p:txBody>
      </p:sp>
      <p:graphicFrame>
        <p:nvGraphicFramePr>
          <p:cNvPr id="7" name="物件 6">
            <a:extLst>
              <a:ext uri="{FF2B5EF4-FFF2-40B4-BE49-F238E27FC236}">
                <a16:creationId xmlns:a16="http://schemas.microsoft.com/office/drawing/2014/main" id="{95C195F9-CF40-4025-A2B1-949D8B22F386}"/>
              </a:ext>
            </a:extLst>
          </p:cNvPr>
          <p:cNvGraphicFramePr>
            <a:graphicFrameLocks noChangeAspect="1"/>
          </p:cNvGraphicFramePr>
          <p:nvPr>
            <p:extLst>
              <p:ext uri="{D42A27DB-BD31-4B8C-83A1-F6EECF244321}">
                <p14:modId xmlns:p14="http://schemas.microsoft.com/office/powerpoint/2010/main" val="2874785686"/>
              </p:ext>
            </p:extLst>
          </p:nvPr>
        </p:nvGraphicFramePr>
        <p:xfrm>
          <a:off x="1501143" y="3290558"/>
          <a:ext cx="9189713" cy="3231012"/>
        </p:xfrm>
        <a:graphic>
          <a:graphicData uri="http://schemas.openxmlformats.org/presentationml/2006/ole">
            <mc:AlternateContent xmlns:mc="http://schemas.openxmlformats.org/markup-compatibility/2006">
              <mc:Choice xmlns:v="urn:schemas-microsoft-com:vml" Requires="v">
                <p:oleObj spid="_x0000_s14388" name="Worksheet" r:id="rId4" imgW="5391274" imgH="1895547" progId="Excel.Sheet.12">
                  <p:embed/>
                </p:oleObj>
              </mc:Choice>
              <mc:Fallback>
                <p:oleObj name="Worksheet" r:id="rId4" imgW="5391274" imgH="1895547" progId="Excel.Sheet.12">
                  <p:embed/>
                  <p:pic>
                    <p:nvPicPr>
                      <p:cNvPr id="0" name=""/>
                      <p:cNvPicPr/>
                      <p:nvPr/>
                    </p:nvPicPr>
                    <p:blipFill>
                      <a:blip r:embed="rId5"/>
                      <a:stretch>
                        <a:fillRect/>
                      </a:stretch>
                    </p:blipFill>
                    <p:spPr>
                      <a:xfrm>
                        <a:off x="1501143" y="3290558"/>
                        <a:ext cx="9189713" cy="3231012"/>
                      </a:xfrm>
                      <a:prstGeom prst="rect">
                        <a:avLst/>
                      </a:prstGeom>
                    </p:spPr>
                  </p:pic>
                </p:oleObj>
              </mc:Fallback>
            </mc:AlternateContent>
          </a:graphicData>
        </a:graphic>
      </p:graphicFrame>
      <p:graphicFrame>
        <p:nvGraphicFramePr>
          <p:cNvPr id="9" name="物件 8">
            <a:extLst>
              <a:ext uri="{FF2B5EF4-FFF2-40B4-BE49-F238E27FC236}">
                <a16:creationId xmlns:a16="http://schemas.microsoft.com/office/drawing/2014/main" id="{695BF17D-D823-4681-A03C-1EA3CC2C1394}"/>
              </a:ext>
            </a:extLst>
          </p:cNvPr>
          <p:cNvGraphicFramePr>
            <a:graphicFrameLocks noChangeAspect="1"/>
          </p:cNvGraphicFramePr>
          <p:nvPr>
            <p:extLst>
              <p:ext uri="{D42A27DB-BD31-4B8C-83A1-F6EECF244321}">
                <p14:modId xmlns:p14="http://schemas.microsoft.com/office/powerpoint/2010/main" val="1758763248"/>
              </p:ext>
            </p:extLst>
          </p:nvPr>
        </p:nvGraphicFramePr>
        <p:xfrm>
          <a:off x="1501143" y="1325563"/>
          <a:ext cx="9186172" cy="1618949"/>
        </p:xfrm>
        <a:graphic>
          <a:graphicData uri="http://schemas.openxmlformats.org/presentationml/2006/ole">
            <mc:AlternateContent xmlns:mc="http://schemas.openxmlformats.org/markup-compatibility/2006">
              <mc:Choice xmlns:v="urn:schemas-microsoft-com:vml" Requires="v">
                <p:oleObj spid="_x0000_s14389" name="Worksheet" r:id="rId6" imgW="4809990" imgH="847888" progId="Excel.Sheet.12">
                  <p:embed/>
                </p:oleObj>
              </mc:Choice>
              <mc:Fallback>
                <p:oleObj name="Worksheet" r:id="rId6" imgW="4809990" imgH="847888" progId="Excel.Sheet.12">
                  <p:embed/>
                  <p:pic>
                    <p:nvPicPr>
                      <p:cNvPr id="0" name=""/>
                      <p:cNvPicPr/>
                      <p:nvPr/>
                    </p:nvPicPr>
                    <p:blipFill>
                      <a:blip r:embed="rId7"/>
                      <a:stretch>
                        <a:fillRect/>
                      </a:stretch>
                    </p:blipFill>
                    <p:spPr>
                      <a:xfrm>
                        <a:off x="1501143" y="1325563"/>
                        <a:ext cx="9186172" cy="1618949"/>
                      </a:xfrm>
                      <a:prstGeom prst="rect">
                        <a:avLst/>
                      </a:prstGeom>
                    </p:spPr>
                  </p:pic>
                </p:oleObj>
              </mc:Fallback>
            </mc:AlternateContent>
          </a:graphicData>
        </a:graphic>
      </p:graphicFrame>
    </p:spTree>
    <p:extLst>
      <p:ext uri="{BB962C8B-B14F-4D97-AF65-F5344CB8AC3E}">
        <p14:creationId xmlns:p14="http://schemas.microsoft.com/office/powerpoint/2010/main" val="3413215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321577" y="0"/>
            <a:ext cx="11744588" cy="1325563"/>
          </a:xfrm>
        </p:spPr>
        <p:txBody>
          <a:bodyPr>
            <a:normAutofit/>
          </a:bodyPr>
          <a:lstStyle/>
          <a:p>
            <a:r>
              <a:rPr lang="zh-TW" altLang="en-US" sz="3200" dirty="0">
                <a:latin typeface="Calibri" panose="020F0502020204030204" pitchFamily="34" charset="0"/>
                <a:ea typeface="標楷體" panose="03000509000000000000" pitchFamily="65" charset="-120"/>
                <a:cs typeface="Calibri" panose="020F0502020204030204" pitchFamily="34" charset="0"/>
              </a:rPr>
              <a:t>觀察</a:t>
            </a:r>
          </a:p>
        </p:txBody>
      </p:sp>
      <p:sp>
        <p:nvSpPr>
          <p:cNvPr id="8" name="內容版面配置區 2">
            <a:extLst>
              <a:ext uri="{FF2B5EF4-FFF2-40B4-BE49-F238E27FC236}">
                <a16:creationId xmlns:a16="http://schemas.microsoft.com/office/drawing/2014/main" id="{C790674B-9EC5-4D00-A32E-9E8F49D8D015}"/>
              </a:ext>
            </a:extLst>
          </p:cNvPr>
          <p:cNvSpPr txBox="1">
            <a:spLocks/>
          </p:cNvSpPr>
          <p:nvPr/>
        </p:nvSpPr>
        <p:spPr>
          <a:xfrm>
            <a:off x="838199" y="145650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nSpc>
                <a:spcPct val="100000"/>
              </a:lnSpc>
              <a:buNone/>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sp>
        <p:nvSpPr>
          <p:cNvPr id="6" name="內容版面配置區 2">
            <a:extLst>
              <a:ext uri="{FF2B5EF4-FFF2-40B4-BE49-F238E27FC236}">
                <a16:creationId xmlns:a16="http://schemas.microsoft.com/office/drawing/2014/main" id="{32562B24-0CD0-40F3-AA22-8769F801AEE1}"/>
              </a:ext>
            </a:extLst>
          </p:cNvPr>
          <p:cNvSpPr txBox="1">
            <a:spLocks/>
          </p:cNvSpPr>
          <p:nvPr/>
        </p:nvSpPr>
        <p:spPr>
          <a:xfrm>
            <a:off x="321577" y="1143227"/>
            <a:ext cx="11870423" cy="5714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zh-TW" dirty="0">
                <a:ea typeface="標楷體" panose="03000509000000000000" pitchFamily="65" charset="-120"/>
              </a:rPr>
              <a:t>4o </a:t>
            </a:r>
            <a:r>
              <a:rPr lang="zh-TW" altLang="en-US" dirty="0">
                <a:ea typeface="標楷體" panose="03000509000000000000" pitchFamily="65" charset="-120"/>
              </a:rPr>
              <a:t>大部分題目的預測誤差實際比 </a:t>
            </a:r>
            <a:r>
              <a:rPr lang="en-US" altLang="zh-TW" dirty="0">
                <a:ea typeface="標楷體" panose="03000509000000000000" pitchFamily="65" charset="-120"/>
              </a:rPr>
              <a:t>o3 </a:t>
            </a:r>
            <a:r>
              <a:rPr lang="zh-TW" altLang="en-US" dirty="0">
                <a:ea typeface="標楷體" panose="03000509000000000000" pitchFamily="65" charset="-120"/>
              </a:rPr>
              <a:t>大，但因加總造成的正負抵消導致</a:t>
            </a:r>
            <a:r>
              <a:rPr lang="en-US" altLang="zh-TW" dirty="0">
                <a:ea typeface="標楷體" panose="03000509000000000000" pitchFamily="65" charset="-120"/>
              </a:rPr>
              <a:t> 4o </a:t>
            </a:r>
            <a:r>
              <a:rPr lang="zh-TW" altLang="en-US" dirty="0">
                <a:ea typeface="標楷體" panose="03000509000000000000" pitchFamily="65" charset="-120"/>
              </a:rPr>
              <a:t>的總分預測比 </a:t>
            </a:r>
            <a:r>
              <a:rPr lang="en-US" altLang="zh-TW" dirty="0">
                <a:ea typeface="標楷體" panose="03000509000000000000" pitchFamily="65" charset="-120"/>
              </a:rPr>
              <a:t>o3 </a:t>
            </a:r>
            <a:r>
              <a:rPr lang="zh-TW" altLang="en-US" dirty="0">
                <a:ea typeface="標楷體" panose="03000509000000000000" pitchFamily="65" charset="-120"/>
              </a:rPr>
              <a:t>好。</a:t>
            </a:r>
            <a:endParaRPr lang="en-US" altLang="zh-TW" dirty="0">
              <a:ea typeface="標楷體" panose="03000509000000000000" pitchFamily="65" charset="-120"/>
            </a:endParaRPr>
          </a:p>
          <a:p>
            <a:pPr>
              <a:lnSpc>
                <a:spcPct val="120000"/>
              </a:lnSpc>
            </a:pPr>
            <a:r>
              <a:rPr lang="en-US" altLang="zh-TW" dirty="0">
                <a:ea typeface="標楷體" panose="03000509000000000000" pitchFamily="65" charset="-120"/>
              </a:rPr>
              <a:t>4o</a:t>
            </a:r>
            <a:r>
              <a:rPr lang="zh-TW" altLang="en-US" dirty="0">
                <a:ea typeface="標楷體" panose="03000509000000000000" pitchFamily="65" charset="-120"/>
              </a:rPr>
              <a:t> 與 </a:t>
            </a:r>
            <a:r>
              <a:rPr lang="en-US" altLang="zh-TW" dirty="0">
                <a:ea typeface="標楷體" panose="03000509000000000000" pitchFamily="65" charset="-120"/>
              </a:rPr>
              <a:t>o3</a:t>
            </a:r>
            <a:r>
              <a:rPr lang="zh-TW" altLang="en-US" dirty="0">
                <a:ea typeface="標楷體" panose="03000509000000000000" pitchFamily="65" charset="-120"/>
              </a:rPr>
              <a:t> 食慾相關症狀的預測結果很差是因為訪談內容並沒有詢問食慾變化相關的問題，只有少數受訪者會在其他問題的回答中提到。</a:t>
            </a:r>
            <a:endParaRPr lang="en-US" altLang="zh-TW" dirty="0">
              <a:ea typeface="標楷體" panose="03000509000000000000" pitchFamily="65" charset="-120"/>
            </a:endParaRPr>
          </a:p>
          <a:p>
            <a:pPr>
              <a:lnSpc>
                <a:spcPct val="120000"/>
              </a:lnSpc>
            </a:pPr>
            <a:r>
              <a:rPr lang="zh-TW" altLang="en-US" dirty="0">
                <a:ea typeface="標楷體" panose="03000509000000000000" pitchFamily="65" charset="-120"/>
              </a:rPr>
              <a:t>顯現出這種問卷分數預測方法會因為訪談內容的完整性而有波動。</a:t>
            </a:r>
            <a:endParaRPr lang="en-US" altLang="zh-TW" dirty="0">
              <a:ea typeface="標楷體" panose="03000509000000000000" pitchFamily="65" charset="-120"/>
            </a:endParaRPr>
          </a:p>
        </p:txBody>
      </p:sp>
    </p:spTree>
    <p:extLst>
      <p:ext uri="{BB962C8B-B14F-4D97-AF65-F5344CB8AC3E}">
        <p14:creationId xmlns:p14="http://schemas.microsoft.com/office/powerpoint/2010/main" val="1498415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321577" y="0"/>
            <a:ext cx="11744588" cy="1325563"/>
          </a:xfrm>
        </p:spPr>
        <p:txBody>
          <a:bodyPr>
            <a:normAutofit/>
          </a:bodyPr>
          <a:lstStyle/>
          <a:p>
            <a:r>
              <a:rPr lang="en-US" altLang="zh-TW" sz="3200" b="1" dirty="0">
                <a:solidFill>
                  <a:schemeClr val="accent2"/>
                </a:solidFill>
                <a:latin typeface="Calibri" panose="020F0502020204030204" pitchFamily="34" charset="0"/>
                <a:ea typeface="標楷體" panose="03000509000000000000" pitchFamily="65" charset="-120"/>
                <a:cs typeface="Calibri" panose="020F0502020204030204" pitchFamily="34" charset="0"/>
              </a:rPr>
              <a:t>4o</a:t>
            </a:r>
            <a:r>
              <a:rPr lang="zh-TW" altLang="en-US" sz="3200" b="1" dirty="0">
                <a:solidFill>
                  <a:schemeClr val="accent2"/>
                </a:solidFill>
                <a:latin typeface="Calibri" panose="020F0502020204030204" pitchFamily="34" charset="0"/>
                <a:ea typeface="標楷體" panose="03000509000000000000" pitchFamily="65" charset="-120"/>
                <a:cs typeface="Calibri" panose="020F0502020204030204" pitchFamily="34" charset="0"/>
              </a:rPr>
              <a:t> </a:t>
            </a:r>
            <a:r>
              <a:rPr lang="zh-TW" altLang="en-US" sz="3200" dirty="0">
                <a:latin typeface="Calibri" panose="020F0502020204030204" pitchFamily="34" charset="0"/>
                <a:ea typeface="標楷體" panose="03000509000000000000" pitchFamily="65" charset="-120"/>
                <a:cs typeface="Calibri" panose="020F0502020204030204" pitchFamily="34" charset="0"/>
              </a:rPr>
              <a:t>模型問卷預測分數與其他論文比較</a:t>
            </a:r>
          </a:p>
        </p:txBody>
      </p:sp>
      <p:sp>
        <p:nvSpPr>
          <p:cNvPr id="8" name="內容版面配置區 2">
            <a:extLst>
              <a:ext uri="{FF2B5EF4-FFF2-40B4-BE49-F238E27FC236}">
                <a16:creationId xmlns:a16="http://schemas.microsoft.com/office/drawing/2014/main" id="{C790674B-9EC5-4D00-A32E-9E8F49D8D015}"/>
              </a:ext>
            </a:extLst>
          </p:cNvPr>
          <p:cNvSpPr txBox="1">
            <a:spLocks/>
          </p:cNvSpPr>
          <p:nvPr/>
        </p:nvSpPr>
        <p:spPr>
          <a:xfrm>
            <a:off x="838199" y="145650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nSpc>
                <a:spcPct val="100000"/>
              </a:lnSpc>
              <a:buNone/>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graphicFrame>
        <p:nvGraphicFramePr>
          <p:cNvPr id="14" name="物件 13">
            <a:extLst>
              <a:ext uri="{FF2B5EF4-FFF2-40B4-BE49-F238E27FC236}">
                <a16:creationId xmlns:a16="http://schemas.microsoft.com/office/drawing/2014/main" id="{FD3F334F-525D-4EDD-9D8E-7E1EE5C2B9D4}"/>
              </a:ext>
            </a:extLst>
          </p:cNvPr>
          <p:cNvGraphicFramePr>
            <a:graphicFrameLocks noChangeAspect="1"/>
          </p:cNvGraphicFramePr>
          <p:nvPr>
            <p:extLst>
              <p:ext uri="{D42A27DB-BD31-4B8C-83A1-F6EECF244321}">
                <p14:modId xmlns:p14="http://schemas.microsoft.com/office/powerpoint/2010/main" val="1660046350"/>
              </p:ext>
            </p:extLst>
          </p:nvPr>
        </p:nvGraphicFramePr>
        <p:xfrm>
          <a:off x="0" y="1573664"/>
          <a:ext cx="12211025" cy="2444662"/>
        </p:xfrm>
        <a:graphic>
          <a:graphicData uri="http://schemas.openxmlformats.org/presentationml/2006/ole">
            <mc:AlternateContent xmlns:mc="http://schemas.openxmlformats.org/markup-compatibility/2006">
              <mc:Choice xmlns:v="urn:schemas-microsoft-com:vml" Requires="v">
                <p:oleObj spid="_x0000_s15382" name="Worksheet" r:id="rId4" imgW="9467989" imgH="1895547" progId="Excel.Sheet.12">
                  <p:embed/>
                </p:oleObj>
              </mc:Choice>
              <mc:Fallback>
                <p:oleObj name="Worksheet" r:id="rId4" imgW="9467989" imgH="1895547" progId="Excel.Sheet.12">
                  <p:embed/>
                  <p:pic>
                    <p:nvPicPr>
                      <p:cNvPr id="0" name=""/>
                      <p:cNvPicPr/>
                      <p:nvPr/>
                    </p:nvPicPr>
                    <p:blipFill>
                      <a:blip r:embed="rId5"/>
                      <a:stretch>
                        <a:fillRect/>
                      </a:stretch>
                    </p:blipFill>
                    <p:spPr>
                      <a:xfrm>
                        <a:off x="0" y="1573664"/>
                        <a:ext cx="12211025" cy="2444662"/>
                      </a:xfrm>
                      <a:prstGeom prst="rect">
                        <a:avLst/>
                      </a:prstGeom>
                    </p:spPr>
                  </p:pic>
                </p:oleObj>
              </mc:Fallback>
            </mc:AlternateContent>
          </a:graphicData>
        </a:graphic>
      </p:graphicFrame>
    </p:spTree>
    <p:extLst>
      <p:ext uri="{BB962C8B-B14F-4D97-AF65-F5344CB8AC3E}">
        <p14:creationId xmlns:p14="http://schemas.microsoft.com/office/powerpoint/2010/main" val="286994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321577" y="0"/>
            <a:ext cx="11744588" cy="1325563"/>
          </a:xfrm>
        </p:spPr>
        <p:txBody>
          <a:bodyPr>
            <a:normAutofit/>
          </a:bodyPr>
          <a:lstStyle/>
          <a:p>
            <a:r>
              <a:rPr lang="en-US" altLang="zh-TW" sz="3200" b="1" dirty="0">
                <a:latin typeface="Calibri" panose="020F0502020204030204" pitchFamily="34" charset="0"/>
                <a:ea typeface="標楷體" panose="03000509000000000000" pitchFamily="65" charset="-120"/>
                <a:cs typeface="Calibri" panose="020F0502020204030204" pitchFamily="34" charset="0"/>
              </a:rPr>
              <a:t>2023 - Exploring the Capabilities of a Language Model-Only Approach for Depression Detection in Text Data</a:t>
            </a:r>
            <a:endParaRPr lang="zh-TW" altLang="en-US" sz="3200" dirty="0">
              <a:latin typeface="Calibri" panose="020F0502020204030204" pitchFamily="34" charset="0"/>
              <a:ea typeface="標楷體" panose="03000509000000000000" pitchFamily="65" charset="-120"/>
              <a:cs typeface="Calibri" panose="020F0502020204030204" pitchFamily="34" charset="0"/>
            </a:endParaRPr>
          </a:p>
        </p:txBody>
      </p:sp>
      <p:sp>
        <p:nvSpPr>
          <p:cNvPr id="8" name="內容版面配置區 2">
            <a:extLst>
              <a:ext uri="{FF2B5EF4-FFF2-40B4-BE49-F238E27FC236}">
                <a16:creationId xmlns:a16="http://schemas.microsoft.com/office/drawing/2014/main" id="{C790674B-9EC5-4D00-A32E-9E8F49D8D015}"/>
              </a:ext>
            </a:extLst>
          </p:cNvPr>
          <p:cNvSpPr txBox="1">
            <a:spLocks/>
          </p:cNvSpPr>
          <p:nvPr/>
        </p:nvSpPr>
        <p:spPr>
          <a:xfrm>
            <a:off x="838199" y="145650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nSpc>
                <a:spcPct val="100000"/>
              </a:lnSpc>
              <a:buNone/>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pic>
        <p:nvPicPr>
          <p:cNvPr id="4" name="圖片 3">
            <a:extLst>
              <a:ext uri="{FF2B5EF4-FFF2-40B4-BE49-F238E27FC236}">
                <a16:creationId xmlns:a16="http://schemas.microsoft.com/office/drawing/2014/main" id="{A9AD07F3-DFF7-4ED0-ACA3-E9045B65A324}"/>
              </a:ext>
            </a:extLst>
          </p:cNvPr>
          <p:cNvPicPr>
            <a:picLocks noChangeAspect="1"/>
          </p:cNvPicPr>
          <p:nvPr/>
        </p:nvPicPr>
        <p:blipFill>
          <a:blip r:embed="rId3"/>
          <a:stretch>
            <a:fillRect/>
          </a:stretch>
        </p:blipFill>
        <p:spPr>
          <a:xfrm>
            <a:off x="0" y="1647288"/>
            <a:ext cx="12192000" cy="3563424"/>
          </a:xfrm>
          <a:prstGeom prst="rect">
            <a:avLst/>
          </a:prstGeom>
        </p:spPr>
      </p:pic>
    </p:spTree>
    <p:extLst>
      <p:ext uri="{BB962C8B-B14F-4D97-AF65-F5344CB8AC3E}">
        <p14:creationId xmlns:p14="http://schemas.microsoft.com/office/powerpoint/2010/main" val="3033831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321577" y="0"/>
            <a:ext cx="11744588" cy="1325563"/>
          </a:xfrm>
        </p:spPr>
        <p:txBody>
          <a:bodyPr>
            <a:normAutofit/>
          </a:bodyPr>
          <a:lstStyle/>
          <a:p>
            <a:r>
              <a:rPr lang="en-US" altLang="zh-TW" sz="3200" b="1" dirty="0">
                <a:latin typeface="Calibri" panose="020F0502020204030204" pitchFamily="34" charset="0"/>
                <a:ea typeface="標楷體" panose="03000509000000000000" pitchFamily="65" charset="-120"/>
                <a:cs typeface="Calibri" panose="020F0502020204030204" pitchFamily="34" charset="0"/>
              </a:rPr>
              <a:t>2024 - Depression Detection in Clinical Interviews with LLM-Empowered Structural Element Graph</a:t>
            </a:r>
            <a:endParaRPr lang="zh-TW" altLang="en-US" sz="3200" dirty="0">
              <a:latin typeface="Calibri" panose="020F0502020204030204" pitchFamily="34" charset="0"/>
              <a:ea typeface="標楷體" panose="03000509000000000000" pitchFamily="65" charset="-120"/>
              <a:cs typeface="Calibri" panose="020F0502020204030204" pitchFamily="34" charset="0"/>
            </a:endParaRPr>
          </a:p>
        </p:txBody>
      </p:sp>
      <p:sp>
        <p:nvSpPr>
          <p:cNvPr id="8" name="內容版面配置區 2">
            <a:extLst>
              <a:ext uri="{FF2B5EF4-FFF2-40B4-BE49-F238E27FC236}">
                <a16:creationId xmlns:a16="http://schemas.microsoft.com/office/drawing/2014/main" id="{C790674B-9EC5-4D00-A32E-9E8F49D8D015}"/>
              </a:ext>
            </a:extLst>
          </p:cNvPr>
          <p:cNvSpPr txBox="1">
            <a:spLocks/>
          </p:cNvSpPr>
          <p:nvPr/>
        </p:nvSpPr>
        <p:spPr>
          <a:xfrm>
            <a:off x="838199" y="145650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nSpc>
                <a:spcPct val="100000"/>
              </a:lnSpc>
              <a:buNone/>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pic>
        <p:nvPicPr>
          <p:cNvPr id="3" name="圖片 2">
            <a:extLst>
              <a:ext uri="{FF2B5EF4-FFF2-40B4-BE49-F238E27FC236}">
                <a16:creationId xmlns:a16="http://schemas.microsoft.com/office/drawing/2014/main" id="{B4B2DF6B-3808-4B26-BF22-0105CC0A14C7}"/>
              </a:ext>
            </a:extLst>
          </p:cNvPr>
          <p:cNvPicPr>
            <a:picLocks noChangeAspect="1"/>
          </p:cNvPicPr>
          <p:nvPr/>
        </p:nvPicPr>
        <p:blipFill>
          <a:blip r:embed="rId3"/>
          <a:stretch>
            <a:fillRect/>
          </a:stretch>
        </p:blipFill>
        <p:spPr>
          <a:xfrm>
            <a:off x="0" y="1765020"/>
            <a:ext cx="12192000" cy="4133304"/>
          </a:xfrm>
          <a:prstGeom prst="rect">
            <a:avLst/>
          </a:prstGeom>
        </p:spPr>
      </p:pic>
    </p:spTree>
    <p:extLst>
      <p:ext uri="{BB962C8B-B14F-4D97-AF65-F5344CB8AC3E}">
        <p14:creationId xmlns:p14="http://schemas.microsoft.com/office/powerpoint/2010/main" val="3762499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321577" y="0"/>
            <a:ext cx="11744588" cy="1325563"/>
          </a:xfrm>
        </p:spPr>
        <p:txBody>
          <a:bodyPr>
            <a:normAutofit/>
          </a:bodyPr>
          <a:lstStyle/>
          <a:p>
            <a:r>
              <a:rPr lang="en-US" altLang="zh-TW" sz="3200" b="1" dirty="0">
                <a:latin typeface="Calibri" panose="020F0502020204030204" pitchFamily="34" charset="0"/>
                <a:ea typeface="標楷體" panose="03000509000000000000" pitchFamily="65" charset="-120"/>
                <a:cs typeface="Calibri" panose="020F0502020204030204" pitchFamily="34" charset="0"/>
              </a:rPr>
              <a:t>2025 - Predicting Depression in Screening Interviews from Interactive Multi-Theme Collaboration</a:t>
            </a:r>
            <a:endParaRPr lang="zh-TW" altLang="en-US" sz="3200" dirty="0">
              <a:latin typeface="Calibri" panose="020F0502020204030204" pitchFamily="34" charset="0"/>
              <a:ea typeface="標楷體" panose="03000509000000000000" pitchFamily="65" charset="-120"/>
              <a:cs typeface="Calibri" panose="020F0502020204030204" pitchFamily="34" charset="0"/>
            </a:endParaRPr>
          </a:p>
        </p:txBody>
      </p:sp>
      <p:pic>
        <p:nvPicPr>
          <p:cNvPr id="10" name="圖片 9">
            <a:extLst>
              <a:ext uri="{FF2B5EF4-FFF2-40B4-BE49-F238E27FC236}">
                <a16:creationId xmlns:a16="http://schemas.microsoft.com/office/drawing/2014/main" id="{B2306DD9-C1E6-4564-A924-018E91A86595}"/>
              </a:ext>
            </a:extLst>
          </p:cNvPr>
          <p:cNvPicPr>
            <a:picLocks noChangeAspect="1"/>
          </p:cNvPicPr>
          <p:nvPr/>
        </p:nvPicPr>
        <p:blipFill>
          <a:blip r:embed="rId3"/>
          <a:stretch>
            <a:fillRect/>
          </a:stretch>
        </p:blipFill>
        <p:spPr>
          <a:xfrm>
            <a:off x="420847" y="1213655"/>
            <a:ext cx="11350305" cy="5528562"/>
          </a:xfrm>
          <a:prstGeom prst="rect">
            <a:avLst/>
          </a:prstGeom>
        </p:spPr>
      </p:pic>
    </p:spTree>
    <p:extLst>
      <p:ext uri="{BB962C8B-B14F-4D97-AF65-F5344CB8AC3E}">
        <p14:creationId xmlns:p14="http://schemas.microsoft.com/office/powerpoint/2010/main" val="874575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321577" y="0"/>
            <a:ext cx="11744588" cy="1325563"/>
          </a:xfrm>
        </p:spPr>
        <p:txBody>
          <a:bodyPr>
            <a:normAutofit/>
          </a:bodyPr>
          <a:lstStyle/>
          <a:p>
            <a:r>
              <a:rPr lang="en-US" altLang="zh-TW" sz="3200" b="1" dirty="0">
                <a:latin typeface="Calibri" panose="020F0502020204030204" pitchFamily="34" charset="0"/>
                <a:ea typeface="標楷體" panose="03000509000000000000" pitchFamily="65" charset="-120"/>
                <a:cs typeface="Calibri" panose="020F0502020204030204" pitchFamily="34" charset="0"/>
              </a:rPr>
              <a:t>2025 - Predicting Depression in Screening Interviews from Interactive Multi-Theme Collaboration</a:t>
            </a:r>
            <a:endParaRPr lang="zh-TW" altLang="en-US" sz="3200" dirty="0">
              <a:latin typeface="Calibri" panose="020F0502020204030204" pitchFamily="34" charset="0"/>
              <a:ea typeface="標楷體" panose="03000509000000000000" pitchFamily="65" charset="-120"/>
              <a:cs typeface="Calibri" panose="020F0502020204030204" pitchFamily="34" charset="0"/>
            </a:endParaRPr>
          </a:p>
        </p:txBody>
      </p:sp>
      <p:pic>
        <p:nvPicPr>
          <p:cNvPr id="3" name="圖片 2">
            <a:extLst>
              <a:ext uri="{FF2B5EF4-FFF2-40B4-BE49-F238E27FC236}">
                <a16:creationId xmlns:a16="http://schemas.microsoft.com/office/drawing/2014/main" id="{F413E45D-DB94-423C-B710-E9FF71E0A1BE}"/>
              </a:ext>
            </a:extLst>
          </p:cNvPr>
          <p:cNvPicPr>
            <a:picLocks noChangeAspect="1"/>
          </p:cNvPicPr>
          <p:nvPr/>
        </p:nvPicPr>
        <p:blipFill>
          <a:blip r:embed="rId3"/>
          <a:stretch>
            <a:fillRect/>
          </a:stretch>
        </p:blipFill>
        <p:spPr>
          <a:xfrm>
            <a:off x="410068" y="1115737"/>
            <a:ext cx="4923487" cy="5624818"/>
          </a:xfrm>
          <a:prstGeom prst="rect">
            <a:avLst/>
          </a:prstGeom>
        </p:spPr>
      </p:pic>
      <p:pic>
        <p:nvPicPr>
          <p:cNvPr id="8" name="圖片 7">
            <a:extLst>
              <a:ext uri="{FF2B5EF4-FFF2-40B4-BE49-F238E27FC236}">
                <a16:creationId xmlns:a16="http://schemas.microsoft.com/office/drawing/2014/main" id="{D4E1693A-08AE-4273-A033-DE8A5B8BC7C2}"/>
              </a:ext>
            </a:extLst>
          </p:cNvPr>
          <p:cNvPicPr>
            <a:picLocks noChangeAspect="1"/>
          </p:cNvPicPr>
          <p:nvPr/>
        </p:nvPicPr>
        <p:blipFill>
          <a:blip r:embed="rId4"/>
          <a:stretch>
            <a:fillRect/>
          </a:stretch>
        </p:blipFill>
        <p:spPr>
          <a:xfrm>
            <a:off x="5398665" y="1325563"/>
            <a:ext cx="6667500" cy="5267325"/>
          </a:xfrm>
          <a:prstGeom prst="rect">
            <a:avLst/>
          </a:prstGeom>
        </p:spPr>
      </p:pic>
    </p:spTree>
    <p:extLst>
      <p:ext uri="{BB962C8B-B14F-4D97-AF65-F5344CB8AC3E}">
        <p14:creationId xmlns:p14="http://schemas.microsoft.com/office/powerpoint/2010/main" val="2065379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321577" y="0"/>
            <a:ext cx="11744588" cy="1325563"/>
          </a:xfrm>
        </p:spPr>
        <p:txBody>
          <a:bodyPr>
            <a:normAutofit/>
          </a:bodyPr>
          <a:lstStyle/>
          <a:p>
            <a:r>
              <a:rPr lang="en-US" altLang="zh-TW" sz="3200" b="1" dirty="0">
                <a:latin typeface="Calibri" panose="020F0502020204030204" pitchFamily="34" charset="0"/>
                <a:ea typeface="標楷體" panose="03000509000000000000" pitchFamily="65" charset="-120"/>
                <a:cs typeface="Calibri" panose="020F0502020204030204" pitchFamily="34" charset="0"/>
              </a:rPr>
              <a:t>2025 - Towards Explainable Multimodal Depression Recognition for Clinical Interviews</a:t>
            </a:r>
            <a:endParaRPr lang="zh-TW" altLang="en-US" sz="3200" dirty="0">
              <a:latin typeface="Calibri" panose="020F0502020204030204" pitchFamily="34" charset="0"/>
              <a:ea typeface="標楷體" panose="03000509000000000000" pitchFamily="65" charset="-120"/>
              <a:cs typeface="Calibri" panose="020F0502020204030204" pitchFamily="34" charset="0"/>
            </a:endParaRPr>
          </a:p>
        </p:txBody>
      </p:sp>
      <p:pic>
        <p:nvPicPr>
          <p:cNvPr id="3" name="圖片 2">
            <a:extLst>
              <a:ext uri="{FF2B5EF4-FFF2-40B4-BE49-F238E27FC236}">
                <a16:creationId xmlns:a16="http://schemas.microsoft.com/office/drawing/2014/main" id="{A24DAF43-3F96-46EF-86CB-E781BCC94F84}"/>
              </a:ext>
            </a:extLst>
          </p:cNvPr>
          <p:cNvPicPr>
            <a:picLocks noChangeAspect="1"/>
          </p:cNvPicPr>
          <p:nvPr/>
        </p:nvPicPr>
        <p:blipFill>
          <a:blip r:embed="rId3"/>
          <a:stretch>
            <a:fillRect/>
          </a:stretch>
        </p:blipFill>
        <p:spPr>
          <a:xfrm>
            <a:off x="-1" y="1325563"/>
            <a:ext cx="12192000" cy="5235032"/>
          </a:xfrm>
          <a:prstGeom prst="rect">
            <a:avLst/>
          </a:prstGeom>
        </p:spPr>
      </p:pic>
    </p:spTree>
    <p:extLst>
      <p:ext uri="{BB962C8B-B14F-4D97-AF65-F5344CB8AC3E}">
        <p14:creationId xmlns:p14="http://schemas.microsoft.com/office/powerpoint/2010/main" val="1458075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321577" y="0"/>
            <a:ext cx="11744588" cy="1325563"/>
          </a:xfrm>
        </p:spPr>
        <p:txBody>
          <a:bodyPr>
            <a:normAutofit/>
          </a:bodyPr>
          <a:lstStyle/>
          <a:p>
            <a:r>
              <a:rPr lang="zh-TW" altLang="en-US" sz="3200" dirty="0">
                <a:latin typeface="Calibri" panose="020F0502020204030204" pitchFamily="34" charset="0"/>
                <a:ea typeface="標楷體" panose="03000509000000000000" pitchFamily="65" charset="-120"/>
                <a:cs typeface="Calibri" panose="020F0502020204030204" pitchFamily="34" charset="0"/>
              </a:rPr>
              <a:t>後續</a:t>
            </a:r>
          </a:p>
        </p:txBody>
      </p:sp>
      <p:sp>
        <p:nvSpPr>
          <p:cNvPr id="8" name="內容版面配置區 2">
            <a:extLst>
              <a:ext uri="{FF2B5EF4-FFF2-40B4-BE49-F238E27FC236}">
                <a16:creationId xmlns:a16="http://schemas.microsoft.com/office/drawing/2014/main" id="{C790674B-9EC5-4D00-A32E-9E8F49D8D015}"/>
              </a:ext>
            </a:extLst>
          </p:cNvPr>
          <p:cNvSpPr txBox="1">
            <a:spLocks/>
          </p:cNvSpPr>
          <p:nvPr/>
        </p:nvSpPr>
        <p:spPr>
          <a:xfrm>
            <a:off x="838199" y="145650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nSpc>
                <a:spcPct val="100000"/>
              </a:lnSpc>
              <a:buNone/>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sp>
        <p:nvSpPr>
          <p:cNvPr id="6" name="內容版面配置區 2">
            <a:extLst>
              <a:ext uri="{FF2B5EF4-FFF2-40B4-BE49-F238E27FC236}">
                <a16:creationId xmlns:a16="http://schemas.microsoft.com/office/drawing/2014/main" id="{32562B24-0CD0-40F3-AA22-8769F801AEE1}"/>
              </a:ext>
            </a:extLst>
          </p:cNvPr>
          <p:cNvSpPr txBox="1">
            <a:spLocks/>
          </p:cNvSpPr>
          <p:nvPr/>
        </p:nvSpPr>
        <p:spPr>
          <a:xfrm>
            <a:off x="321577" y="1255824"/>
            <a:ext cx="11870423" cy="5714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TW" altLang="en-US" dirty="0">
                <a:ea typeface="標楷體" panose="03000509000000000000" pitchFamily="65" charset="-120"/>
              </a:rPr>
              <a:t>補充 </a:t>
            </a:r>
            <a:r>
              <a:rPr lang="en-US" altLang="zh-TW" dirty="0">
                <a:ea typeface="標楷體" panose="03000509000000000000" pitchFamily="65" charset="-120"/>
              </a:rPr>
              <a:t>o3 </a:t>
            </a:r>
            <a:r>
              <a:rPr lang="zh-TW" altLang="en-US" dirty="0">
                <a:ea typeface="標楷體" panose="03000509000000000000" pitchFamily="65" charset="-120"/>
              </a:rPr>
              <a:t>模型在 </a:t>
            </a:r>
            <a:r>
              <a:rPr lang="en-US" altLang="zh-TW" dirty="0">
                <a:ea typeface="標楷體" panose="03000509000000000000" pitchFamily="65" charset="-120"/>
              </a:rPr>
              <a:t>test split </a:t>
            </a:r>
            <a:r>
              <a:rPr lang="zh-TW" altLang="en-US" dirty="0">
                <a:ea typeface="標楷體" panose="03000509000000000000" pitchFamily="65" charset="-120"/>
              </a:rPr>
              <a:t>的實驗</a:t>
            </a:r>
            <a:endParaRPr lang="en-US" altLang="zh-TW" dirty="0">
              <a:ea typeface="標楷體" panose="03000509000000000000" pitchFamily="65" charset="-120"/>
            </a:endParaRPr>
          </a:p>
          <a:p>
            <a:pPr>
              <a:lnSpc>
                <a:spcPct val="120000"/>
              </a:lnSpc>
            </a:pPr>
            <a:r>
              <a:rPr lang="zh-TW" altLang="en-US" dirty="0">
                <a:ea typeface="標楷體" panose="03000509000000000000" pitchFamily="65" charset="-120"/>
              </a:rPr>
              <a:t>使用問卷分數進行二元分類的 </a:t>
            </a:r>
            <a:r>
              <a:rPr lang="en-US" altLang="zh-TW" dirty="0">
                <a:ea typeface="標楷體" panose="03000509000000000000" pitchFamily="65" charset="-120"/>
              </a:rPr>
              <a:t>ROC curve</a:t>
            </a:r>
          </a:p>
          <a:p>
            <a:pPr>
              <a:lnSpc>
                <a:spcPct val="120000"/>
              </a:lnSpc>
            </a:pPr>
            <a:r>
              <a:rPr lang="en-US" altLang="zh-TW" dirty="0">
                <a:ea typeface="標楷體" panose="03000509000000000000" pitchFamily="65" charset="-120"/>
              </a:rPr>
              <a:t>PHQ8</a:t>
            </a:r>
            <a:r>
              <a:rPr lang="zh-TW" altLang="en-US" dirty="0">
                <a:ea typeface="標楷體" panose="03000509000000000000" pitchFamily="65" charset="-120"/>
              </a:rPr>
              <a:t> 分數的每題 </a:t>
            </a:r>
            <a:r>
              <a:rPr lang="en-US" altLang="zh-TW" dirty="0">
                <a:ea typeface="標楷體" panose="03000509000000000000" pitchFamily="65" charset="-120"/>
              </a:rPr>
              <a:t>roc</a:t>
            </a:r>
          </a:p>
          <a:p>
            <a:pPr>
              <a:lnSpc>
                <a:spcPct val="120000"/>
              </a:lnSpc>
            </a:pPr>
            <a:r>
              <a:rPr lang="zh-TW" altLang="en-US" dirty="0">
                <a:ea typeface="標楷體" panose="03000509000000000000" pitchFamily="65" charset="-120"/>
              </a:rPr>
              <a:t>查看</a:t>
            </a:r>
            <a:r>
              <a:rPr lang="en-US" altLang="zh-TW" dirty="0">
                <a:ea typeface="標楷體" panose="03000509000000000000" pitchFamily="65" charset="-120"/>
              </a:rPr>
              <a:t>PHQ8</a:t>
            </a:r>
            <a:r>
              <a:rPr lang="zh-TW" altLang="en-US" dirty="0">
                <a:ea typeface="標楷體" panose="03000509000000000000" pitchFamily="65" charset="-120"/>
              </a:rPr>
              <a:t> 每題 </a:t>
            </a:r>
            <a:r>
              <a:rPr lang="en-US" altLang="zh-TW" dirty="0">
                <a:ea typeface="標楷體" panose="03000509000000000000" pitchFamily="65" charset="-120"/>
              </a:rPr>
              <a:t>Confusion matrix</a:t>
            </a:r>
          </a:p>
          <a:p>
            <a:pPr>
              <a:lnSpc>
                <a:spcPct val="120000"/>
              </a:lnSpc>
            </a:pPr>
            <a:r>
              <a:rPr lang="zh-TW" altLang="en-US" dirty="0">
                <a:ea typeface="標楷體" panose="03000509000000000000" pitchFamily="65" charset="-120"/>
              </a:rPr>
              <a:t>找找看對 </a:t>
            </a:r>
            <a:r>
              <a:rPr lang="en-US" altLang="zh-TW" dirty="0" err="1">
                <a:ea typeface="標楷體" panose="03000509000000000000" pitchFamily="65" charset="-120"/>
              </a:rPr>
              <a:t>chatGPT</a:t>
            </a:r>
            <a:r>
              <a:rPr lang="en-US" altLang="zh-TW" dirty="0">
                <a:ea typeface="標楷體" panose="03000509000000000000" pitchFamily="65" charset="-120"/>
              </a:rPr>
              <a:t> </a:t>
            </a:r>
            <a:r>
              <a:rPr lang="zh-TW" altLang="en-US" dirty="0">
                <a:ea typeface="標楷體" panose="03000509000000000000" pitchFamily="65" charset="-120"/>
              </a:rPr>
              <a:t>做 </a:t>
            </a:r>
            <a:r>
              <a:rPr lang="en-US" altLang="zh-TW" dirty="0">
                <a:ea typeface="標楷體" panose="03000509000000000000" pitchFamily="65" charset="-120"/>
              </a:rPr>
              <a:t>few-shot learning </a:t>
            </a:r>
            <a:r>
              <a:rPr lang="zh-TW" altLang="en-US" dirty="0">
                <a:ea typeface="標楷體" panose="03000509000000000000" pitchFamily="65" charset="-120"/>
              </a:rPr>
              <a:t>的方法</a:t>
            </a:r>
            <a:endParaRPr lang="en-US" altLang="zh-TW" dirty="0">
              <a:ea typeface="標楷體" panose="03000509000000000000" pitchFamily="65" charset="-120"/>
            </a:endParaRPr>
          </a:p>
          <a:p>
            <a:pPr>
              <a:lnSpc>
                <a:spcPct val="120000"/>
              </a:lnSpc>
            </a:pPr>
            <a:r>
              <a:rPr lang="zh-TW" altLang="en-US" dirty="0">
                <a:ea typeface="標楷體" panose="03000509000000000000" pitchFamily="65" charset="-120"/>
              </a:rPr>
              <a:t>統計做二元分類的論文數據以及使用 </a:t>
            </a:r>
            <a:r>
              <a:rPr lang="en-US" altLang="zh-TW" dirty="0">
                <a:ea typeface="標楷體" panose="03000509000000000000" pitchFamily="65" charset="-120"/>
              </a:rPr>
              <a:t>LLM </a:t>
            </a:r>
            <a:r>
              <a:rPr lang="zh-TW" altLang="en-US" dirty="0">
                <a:ea typeface="標楷體" panose="03000509000000000000" pitchFamily="65" charset="-120"/>
              </a:rPr>
              <a:t>做憂鬱症檢測的論文數據  </a:t>
            </a:r>
            <a:endParaRPr lang="en-US" altLang="zh-TW" dirty="0">
              <a:ea typeface="標楷體" panose="03000509000000000000" pitchFamily="65" charset="-120"/>
            </a:endParaRPr>
          </a:p>
        </p:txBody>
      </p:sp>
    </p:spTree>
    <p:extLst>
      <p:ext uri="{BB962C8B-B14F-4D97-AF65-F5344CB8AC3E}">
        <p14:creationId xmlns:p14="http://schemas.microsoft.com/office/powerpoint/2010/main" val="27386813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4095</TotalTime>
  <Words>651</Words>
  <Application>Microsoft Office PowerPoint</Application>
  <PresentationFormat>寬螢幕</PresentationFormat>
  <Paragraphs>90</Paragraphs>
  <Slides>13</Slides>
  <Notes>12</Notes>
  <HiddenSlides>0</HiddenSlides>
  <MMClips>0</MMClips>
  <ScaleCrop>false</ScaleCrop>
  <HeadingPairs>
    <vt:vector size="8" baseType="variant">
      <vt:variant>
        <vt:lpstr>使用字型</vt:lpstr>
      </vt:variant>
      <vt:variant>
        <vt:i4>4</vt:i4>
      </vt:variant>
      <vt:variant>
        <vt:lpstr>佈景主題</vt:lpstr>
      </vt:variant>
      <vt:variant>
        <vt:i4>1</vt:i4>
      </vt:variant>
      <vt:variant>
        <vt:lpstr>內嵌 OLE 伺服程式</vt:lpstr>
      </vt:variant>
      <vt:variant>
        <vt:i4>2</vt:i4>
      </vt:variant>
      <vt:variant>
        <vt:lpstr>投影片標題</vt:lpstr>
      </vt:variant>
      <vt:variant>
        <vt:i4>13</vt:i4>
      </vt:variant>
    </vt:vector>
  </HeadingPairs>
  <TitlesOfParts>
    <vt:vector size="20" baseType="lpstr">
      <vt:lpstr>-apple-system</vt:lpstr>
      <vt:lpstr>Arial</vt:lpstr>
      <vt:lpstr>Calibri</vt:lpstr>
      <vt:lpstr>Calibri Light</vt:lpstr>
      <vt:lpstr>Office 佈景主題</vt:lpstr>
      <vt:lpstr>Worksheet</vt:lpstr>
      <vt:lpstr>Microsoft Excel 工作表</vt:lpstr>
      <vt:lpstr>2025/08/27 Meeting Report</vt:lpstr>
      <vt:lpstr>4o 與 o3 的問卷分數憂鬱症檢測比較 (資料集: dev_split)</vt:lpstr>
      <vt:lpstr>PowerPoint 簡報</vt:lpstr>
      <vt:lpstr>4o 與 o3 的問卷分數預測分布 (資料集: dev_split)</vt:lpstr>
      <vt:lpstr>PowerPoint 簡報</vt:lpstr>
      <vt:lpstr>觀察</vt:lpstr>
      <vt:lpstr>4o 模型問卷預測分數與其他論文比較</vt:lpstr>
      <vt:lpstr>2023 - Exploring the Capabilities of a Language Model-Only Approach for Depression Detection in Text Data</vt:lpstr>
      <vt:lpstr>2024 - Depression Detection in Clinical Interviews with LLM-Empowered Structural Element Graph</vt:lpstr>
      <vt:lpstr>2025 - Predicting Depression in Screening Interviews from Interactive Multi-Theme Collaboration</vt:lpstr>
      <vt:lpstr>2025 - Predicting Depression in Screening Interviews from Interactive Multi-Theme Collaboration</vt:lpstr>
      <vt:lpstr>2025 - Towards Explainable Multimodal Depression Recognition for Clinical Interviews</vt:lpstr>
      <vt:lpstr>後續</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2025/08/05 Meeting Report</dc:title>
  <dc:creator>嘉均 簡</dc:creator>
  <cp:lastModifiedBy>嘉均 簡</cp:lastModifiedBy>
  <cp:revision>48</cp:revision>
  <dcterms:created xsi:type="dcterms:W3CDTF">2025-08-05T01:53:06Z</dcterms:created>
  <dcterms:modified xsi:type="dcterms:W3CDTF">2025-09-18T17:29:35Z</dcterms:modified>
</cp:coreProperties>
</file>