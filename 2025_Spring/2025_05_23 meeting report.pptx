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7" r:id="rId2"/>
    <p:sldId id="318" r:id="rId3"/>
    <p:sldId id="329" r:id="rId4"/>
    <p:sldId id="326" r:id="rId5"/>
    <p:sldId id="327" r:id="rId6"/>
    <p:sldId id="328" r:id="rId7"/>
    <p:sldId id="325" r:id="rId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898D86-35FF-464B-AC5C-0F9C48D31A33}" type="datetimeFigureOut">
              <a:rPr lang="zh-TW" altLang="en-US" smtClean="0"/>
              <a:t>2025/5/23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7548D5-B13F-4393-8625-D40F8EEA0751}" type="slidenum">
              <a:rPr lang="zh-TW" altLang="en-US" smtClean="0"/>
              <a:t>‹#›</a:t>
            </a:fld>
            <a:endParaRPr lang="zh-TW" altLang="en-US"/>
          </a:p>
        </p:txBody>
      </p:sp>
    </p:spTree>
    <p:extLst>
      <p:ext uri="{BB962C8B-B14F-4D97-AF65-F5344CB8AC3E}">
        <p14:creationId xmlns:p14="http://schemas.microsoft.com/office/powerpoint/2010/main" val="3776400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F9AA43A8-D8AF-4A57-B3C3-ACEB87B86596}" type="slidenum">
              <a:rPr lang="zh-TW" altLang="en-US" smtClean="0"/>
              <a:t>1</a:t>
            </a:fld>
            <a:endParaRPr lang="zh-TW" altLang="en-US"/>
          </a:p>
        </p:txBody>
      </p:sp>
    </p:spTree>
    <p:extLst>
      <p:ext uri="{BB962C8B-B14F-4D97-AF65-F5344CB8AC3E}">
        <p14:creationId xmlns:p14="http://schemas.microsoft.com/office/powerpoint/2010/main" val="2804003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4A4A4A"/>
                </a:solidFill>
                <a:effectLst/>
                <a:latin typeface="-apple-system"/>
              </a:rPr>
              <a:t>一般 </a:t>
            </a:r>
            <a:r>
              <a:rPr lang="en-US" altLang="zh-TW" b="0" i="0" dirty="0">
                <a:solidFill>
                  <a:srgbClr val="4A4A4A"/>
                </a:solidFill>
                <a:effectLst/>
                <a:latin typeface="-apple-system"/>
              </a:rPr>
              <a:t>learning rate </a:t>
            </a:r>
            <a:r>
              <a:rPr lang="zh-TW" altLang="en-US" b="0" i="0" dirty="0">
                <a:solidFill>
                  <a:srgbClr val="4A4A4A"/>
                </a:solidFill>
                <a:effectLst/>
                <a:latin typeface="-apple-system"/>
              </a:rPr>
              <a:t>都會根據 </a:t>
            </a:r>
            <a:r>
              <a:rPr lang="en-US" altLang="zh-TW" b="0" i="0" dirty="0">
                <a:solidFill>
                  <a:srgbClr val="4A4A4A"/>
                </a:solidFill>
                <a:effectLst/>
                <a:latin typeface="-apple-system"/>
              </a:rPr>
              <a:t>batch size </a:t>
            </a:r>
            <a:r>
              <a:rPr lang="zh-TW" altLang="en-US" b="0" i="0" dirty="0">
                <a:solidFill>
                  <a:srgbClr val="4A4A4A"/>
                </a:solidFill>
                <a:effectLst/>
                <a:latin typeface="-apple-system"/>
              </a:rPr>
              <a:t>做一些 </a:t>
            </a:r>
            <a:r>
              <a:rPr lang="en-US" altLang="zh-TW" b="0" i="0" dirty="0">
                <a:solidFill>
                  <a:srgbClr val="4A4A4A"/>
                </a:solidFill>
                <a:effectLst/>
                <a:latin typeface="-apple-system"/>
              </a:rPr>
              <a:t>scale </a:t>
            </a:r>
            <a:r>
              <a:rPr lang="zh-TW" altLang="en-US" b="0" i="0" dirty="0">
                <a:solidFill>
                  <a:srgbClr val="4A4A4A"/>
                </a:solidFill>
                <a:effectLst/>
                <a:latin typeface="-apple-system"/>
              </a:rPr>
              <a:t>的操作。這裏用的是</a:t>
            </a:r>
            <a:r>
              <a:rPr lang="en-US" altLang="zh-TW" b="1" i="0" dirty="0" err="1">
                <a:solidFill>
                  <a:srgbClr val="4A4A4A"/>
                </a:solidFill>
                <a:effectLst/>
                <a:latin typeface="-apple-system"/>
              </a:rPr>
              <a:t>lr</a:t>
            </a:r>
            <a:r>
              <a:rPr lang="en-US" altLang="zh-TW" b="1" i="0" dirty="0">
                <a:solidFill>
                  <a:srgbClr val="4A4A4A"/>
                </a:solidFill>
                <a:effectLst/>
                <a:latin typeface="-apple-system"/>
              </a:rPr>
              <a:t> x </a:t>
            </a:r>
            <a:r>
              <a:rPr lang="en-US" altLang="zh-TW" b="1" i="0" dirty="0" err="1">
                <a:solidFill>
                  <a:srgbClr val="4A4A4A"/>
                </a:solidFill>
                <a:effectLst/>
                <a:latin typeface="-apple-system"/>
              </a:rPr>
              <a:t>batch_size</a:t>
            </a:r>
            <a:r>
              <a:rPr lang="en-US" altLang="zh-TW" b="1" i="0" dirty="0">
                <a:solidFill>
                  <a:srgbClr val="4A4A4A"/>
                </a:solidFill>
                <a:effectLst/>
                <a:latin typeface="-apple-system"/>
              </a:rPr>
              <a:t> / 256</a:t>
            </a:r>
            <a:r>
              <a:rPr lang="zh-TW" altLang="en-US" b="1" i="0" dirty="0">
                <a:solidFill>
                  <a:srgbClr val="4A4A4A"/>
                </a:solidFill>
                <a:effectLst/>
                <a:latin typeface="-apple-system"/>
              </a:rPr>
              <a:t>」</a:t>
            </a:r>
            <a:r>
              <a:rPr lang="zh-TW" altLang="en-US" b="0" i="0" dirty="0">
                <a:solidFill>
                  <a:srgbClr val="4A4A4A"/>
                </a:solidFill>
                <a:effectLst/>
                <a:latin typeface="-apple-system"/>
              </a:rPr>
              <a:t>。</a:t>
            </a:r>
            <a:endParaRPr lang="en-US" altLang="zh-TW" b="0" i="0" dirty="0">
              <a:solidFill>
                <a:srgbClr val="4A4A4A"/>
              </a:solidFill>
              <a:effectLst/>
              <a:latin typeface="-apple-system"/>
            </a:endParaRP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小 </a:t>
            </a:r>
            <a:r>
              <a:rPr lang="en-US" altLang="zh-TW" b="0" i="0" dirty="0">
                <a:solidFill>
                  <a:srgbClr val="4A4A4A"/>
                </a:solidFill>
                <a:effectLst/>
                <a:latin typeface="-apple-system"/>
              </a:rPr>
              <a:t>under-fitting</a:t>
            </a: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大 </a:t>
            </a:r>
            <a:r>
              <a:rPr lang="en-US" altLang="zh-TW" b="0" i="0" dirty="0">
                <a:solidFill>
                  <a:srgbClr val="4A4A4A"/>
                </a:solidFill>
                <a:effectLst/>
                <a:latin typeface="-apple-system"/>
              </a:rPr>
              <a:t>unstable</a:t>
            </a:r>
            <a:endParaRPr lang="zh-TW" altLang="en-US" dirty="0"/>
          </a:p>
        </p:txBody>
      </p:sp>
      <p:sp>
        <p:nvSpPr>
          <p:cNvPr id="4" name="投影片編號版面配置區 3"/>
          <p:cNvSpPr>
            <a:spLocks noGrp="1"/>
          </p:cNvSpPr>
          <p:nvPr>
            <p:ph type="sldNum" sz="quarter" idx="5"/>
          </p:nvPr>
        </p:nvSpPr>
        <p:spPr/>
        <p:txBody>
          <a:bodyPr/>
          <a:lstStyle/>
          <a:p>
            <a:fld id="{84F9977A-F9B1-4E82-8DFA-4B4DCD30651E}" type="slidenum">
              <a:rPr lang="zh-TW" altLang="en-US" smtClean="0"/>
              <a:t>2</a:t>
            </a:fld>
            <a:endParaRPr lang="zh-TW" altLang="en-US"/>
          </a:p>
        </p:txBody>
      </p:sp>
    </p:spTree>
    <p:extLst>
      <p:ext uri="{BB962C8B-B14F-4D97-AF65-F5344CB8AC3E}">
        <p14:creationId xmlns:p14="http://schemas.microsoft.com/office/powerpoint/2010/main" val="2368710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4A4A4A"/>
                </a:solidFill>
                <a:effectLst/>
                <a:latin typeface="-apple-system"/>
              </a:rPr>
              <a:t>一般 </a:t>
            </a:r>
            <a:r>
              <a:rPr lang="en-US" altLang="zh-TW" b="0" i="0" dirty="0">
                <a:solidFill>
                  <a:srgbClr val="4A4A4A"/>
                </a:solidFill>
                <a:effectLst/>
                <a:latin typeface="-apple-system"/>
              </a:rPr>
              <a:t>learning rate </a:t>
            </a:r>
            <a:r>
              <a:rPr lang="zh-TW" altLang="en-US" b="0" i="0" dirty="0">
                <a:solidFill>
                  <a:srgbClr val="4A4A4A"/>
                </a:solidFill>
                <a:effectLst/>
                <a:latin typeface="-apple-system"/>
              </a:rPr>
              <a:t>都會根據 </a:t>
            </a:r>
            <a:r>
              <a:rPr lang="en-US" altLang="zh-TW" b="0" i="0" dirty="0">
                <a:solidFill>
                  <a:srgbClr val="4A4A4A"/>
                </a:solidFill>
                <a:effectLst/>
                <a:latin typeface="-apple-system"/>
              </a:rPr>
              <a:t>batch size </a:t>
            </a:r>
            <a:r>
              <a:rPr lang="zh-TW" altLang="en-US" b="0" i="0" dirty="0">
                <a:solidFill>
                  <a:srgbClr val="4A4A4A"/>
                </a:solidFill>
                <a:effectLst/>
                <a:latin typeface="-apple-system"/>
              </a:rPr>
              <a:t>做一些 </a:t>
            </a:r>
            <a:r>
              <a:rPr lang="en-US" altLang="zh-TW" b="0" i="0" dirty="0">
                <a:solidFill>
                  <a:srgbClr val="4A4A4A"/>
                </a:solidFill>
                <a:effectLst/>
                <a:latin typeface="-apple-system"/>
              </a:rPr>
              <a:t>scale </a:t>
            </a:r>
            <a:r>
              <a:rPr lang="zh-TW" altLang="en-US" b="0" i="0" dirty="0">
                <a:solidFill>
                  <a:srgbClr val="4A4A4A"/>
                </a:solidFill>
                <a:effectLst/>
                <a:latin typeface="-apple-system"/>
              </a:rPr>
              <a:t>的操作。這裏用的是</a:t>
            </a:r>
            <a:r>
              <a:rPr lang="en-US" altLang="zh-TW" b="1" i="0" dirty="0" err="1">
                <a:solidFill>
                  <a:srgbClr val="4A4A4A"/>
                </a:solidFill>
                <a:effectLst/>
                <a:latin typeface="-apple-system"/>
              </a:rPr>
              <a:t>lr</a:t>
            </a:r>
            <a:r>
              <a:rPr lang="en-US" altLang="zh-TW" b="1" i="0" dirty="0">
                <a:solidFill>
                  <a:srgbClr val="4A4A4A"/>
                </a:solidFill>
                <a:effectLst/>
                <a:latin typeface="-apple-system"/>
              </a:rPr>
              <a:t> x </a:t>
            </a:r>
            <a:r>
              <a:rPr lang="en-US" altLang="zh-TW" b="1" i="0" dirty="0" err="1">
                <a:solidFill>
                  <a:srgbClr val="4A4A4A"/>
                </a:solidFill>
                <a:effectLst/>
                <a:latin typeface="-apple-system"/>
              </a:rPr>
              <a:t>batch_size</a:t>
            </a:r>
            <a:r>
              <a:rPr lang="en-US" altLang="zh-TW" b="1" i="0" dirty="0">
                <a:solidFill>
                  <a:srgbClr val="4A4A4A"/>
                </a:solidFill>
                <a:effectLst/>
                <a:latin typeface="-apple-system"/>
              </a:rPr>
              <a:t> / 256</a:t>
            </a:r>
            <a:r>
              <a:rPr lang="zh-TW" altLang="en-US" b="1" i="0" dirty="0">
                <a:solidFill>
                  <a:srgbClr val="4A4A4A"/>
                </a:solidFill>
                <a:effectLst/>
                <a:latin typeface="-apple-system"/>
              </a:rPr>
              <a:t>」</a:t>
            </a:r>
            <a:r>
              <a:rPr lang="zh-TW" altLang="en-US" b="0" i="0" dirty="0">
                <a:solidFill>
                  <a:srgbClr val="4A4A4A"/>
                </a:solidFill>
                <a:effectLst/>
                <a:latin typeface="-apple-system"/>
              </a:rPr>
              <a:t>。</a:t>
            </a:r>
            <a:endParaRPr lang="en-US" altLang="zh-TW" b="0" i="0" dirty="0">
              <a:solidFill>
                <a:srgbClr val="4A4A4A"/>
              </a:solidFill>
              <a:effectLst/>
              <a:latin typeface="-apple-system"/>
            </a:endParaRP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小 </a:t>
            </a:r>
            <a:r>
              <a:rPr lang="en-US" altLang="zh-TW" b="0" i="0" dirty="0">
                <a:solidFill>
                  <a:srgbClr val="4A4A4A"/>
                </a:solidFill>
                <a:effectLst/>
                <a:latin typeface="-apple-system"/>
              </a:rPr>
              <a:t>under-fitting</a:t>
            </a: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大 </a:t>
            </a:r>
            <a:r>
              <a:rPr lang="en-US" altLang="zh-TW" b="0" i="0" dirty="0">
                <a:solidFill>
                  <a:srgbClr val="4A4A4A"/>
                </a:solidFill>
                <a:effectLst/>
                <a:latin typeface="-apple-system"/>
              </a:rPr>
              <a:t>unstable</a:t>
            </a:r>
            <a:endParaRPr lang="zh-TW" altLang="en-US" dirty="0"/>
          </a:p>
        </p:txBody>
      </p:sp>
      <p:sp>
        <p:nvSpPr>
          <p:cNvPr id="4" name="投影片編號版面配置區 3"/>
          <p:cNvSpPr>
            <a:spLocks noGrp="1"/>
          </p:cNvSpPr>
          <p:nvPr>
            <p:ph type="sldNum" sz="quarter" idx="5"/>
          </p:nvPr>
        </p:nvSpPr>
        <p:spPr/>
        <p:txBody>
          <a:bodyPr/>
          <a:lstStyle/>
          <a:p>
            <a:fld id="{84F9977A-F9B1-4E82-8DFA-4B4DCD30651E}" type="slidenum">
              <a:rPr lang="zh-TW" altLang="en-US" smtClean="0"/>
              <a:t>3</a:t>
            </a:fld>
            <a:endParaRPr lang="zh-TW" altLang="en-US"/>
          </a:p>
        </p:txBody>
      </p:sp>
    </p:spTree>
    <p:extLst>
      <p:ext uri="{BB962C8B-B14F-4D97-AF65-F5344CB8AC3E}">
        <p14:creationId xmlns:p14="http://schemas.microsoft.com/office/powerpoint/2010/main" val="30827407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4A4A4A"/>
                </a:solidFill>
                <a:effectLst/>
                <a:latin typeface="-apple-system"/>
              </a:rPr>
              <a:t>一般 </a:t>
            </a:r>
            <a:r>
              <a:rPr lang="en-US" altLang="zh-TW" b="0" i="0" dirty="0">
                <a:solidFill>
                  <a:srgbClr val="4A4A4A"/>
                </a:solidFill>
                <a:effectLst/>
                <a:latin typeface="-apple-system"/>
              </a:rPr>
              <a:t>learning rate </a:t>
            </a:r>
            <a:r>
              <a:rPr lang="zh-TW" altLang="en-US" b="0" i="0" dirty="0">
                <a:solidFill>
                  <a:srgbClr val="4A4A4A"/>
                </a:solidFill>
                <a:effectLst/>
                <a:latin typeface="-apple-system"/>
              </a:rPr>
              <a:t>都會根據 </a:t>
            </a:r>
            <a:r>
              <a:rPr lang="en-US" altLang="zh-TW" b="0" i="0" dirty="0">
                <a:solidFill>
                  <a:srgbClr val="4A4A4A"/>
                </a:solidFill>
                <a:effectLst/>
                <a:latin typeface="-apple-system"/>
              </a:rPr>
              <a:t>batch size </a:t>
            </a:r>
            <a:r>
              <a:rPr lang="zh-TW" altLang="en-US" b="0" i="0" dirty="0">
                <a:solidFill>
                  <a:srgbClr val="4A4A4A"/>
                </a:solidFill>
                <a:effectLst/>
                <a:latin typeface="-apple-system"/>
              </a:rPr>
              <a:t>做一些 </a:t>
            </a:r>
            <a:r>
              <a:rPr lang="en-US" altLang="zh-TW" b="0" i="0" dirty="0">
                <a:solidFill>
                  <a:srgbClr val="4A4A4A"/>
                </a:solidFill>
                <a:effectLst/>
                <a:latin typeface="-apple-system"/>
              </a:rPr>
              <a:t>scale </a:t>
            </a:r>
            <a:r>
              <a:rPr lang="zh-TW" altLang="en-US" b="0" i="0" dirty="0">
                <a:solidFill>
                  <a:srgbClr val="4A4A4A"/>
                </a:solidFill>
                <a:effectLst/>
                <a:latin typeface="-apple-system"/>
              </a:rPr>
              <a:t>的操作。這裏用的是</a:t>
            </a:r>
            <a:r>
              <a:rPr lang="en-US" altLang="zh-TW" b="1" i="0" dirty="0" err="1">
                <a:solidFill>
                  <a:srgbClr val="4A4A4A"/>
                </a:solidFill>
                <a:effectLst/>
                <a:latin typeface="-apple-system"/>
              </a:rPr>
              <a:t>lr</a:t>
            </a:r>
            <a:r>
              <a:rPr lang="en-US" altLang="zh-TW" b="1" i="0" dirty="0">
                <a:solidFill>
                  <a:srgbClr val="4A4A4A"/>
                </a:solidFill>
                <a:effectLst/>
                <a:latin typeface="-apple-system"/>
              </a:rPr>
              <a:t> x </a:t>
            </a:r>
            <a:r>
              <a:rPr lang="en-US" altLang="zh-TW" b="1" i="0" dirty="0" err="1">
                <a:solidFill>
                  <a:srgbClr val="4A4A4A"/>
                </a:solidFill>
                <a:effectLst/>
                <a:latin typeface="-apple-system"/>
              </a:rPr>
              <a:t>batch_size</a:t>
            </a:r>
            <a:r>
              <a:rPr lang="en-US" altLang="zh-TW" b="1" i="0" dirty="0">
                <a:solidFill>
                  <a:srgbClr val="4A4A4A"/>
                </a:solidFill>
                <a:effectLst/>
                <a:latin typeface="-apple-system"/>
              </a:rPr>
              <a:t> / 256</a:t>
            </a:r>
            <a:r>
              <a:rPr lang="zh-TW" altLang="en-US" b="1" i="0" dirty="0">
                <a:solidFill>
                  <a:srgbClr val="4A4A4A"/>
                </a:solidFill>
                <a:effectLst/>
                <a:latin typeface="-apple-system"/>
              </a:rPr>
              <a:t>」</a:t>
            </a:r>
            <a:r>
              <a:rPr lang="zh-TW" altLang="en-US" b="0" i="0" dirty="0">
                <a:solidFill>
                  <a:srgbClr val="4A4A4A"/>
                </a:solidFill>
                <a:effectLst/>
                <a:latin typeface="-apple-system"/>
              </a:rPr>
              <a:t>。</a:t>
            </a:r>
            <a:endParaRPr lang="en-US" altLang="zh-TW" b="0" i="0" dirty="0">
              <a:solidFill>
                <a:srgbClr val="4A4A4A"/>
              </a:solidFill>
              <a:effectLst/>
              <a:latin typeface="-apple-system"/>
            </a:endParaRP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小 </a:t>
            </a:r>
            <a:r>
              <a:rPr lang="en-US" altLang="zh-TW" b="0" i="0" dirty="0">
                <a:solidFill>
                  <a:srgbClr val="4A4A4A"/>
                </a:solidFill>
                <a:effectLst/>
                <a:latin typeface="-apple-system"/>
              </a:rPr>
              <a:t>under-fitting</a:t>
            </a: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大 </a:t>
            </a:r>
            <a:r>
              <a:rPr lang="en-US" altLang="zh-TW" b="0" i="0" dirty="0">
                <a:solidFill>
                  <a:srgbClr val="4A4A4A"/>
                </a:solidFill>
                <a:effectLst/>
                <a:latin typeface="-apple-system"/>
              </a:rPr>
              <a:t>unstable</a:t>
            </a:r>
            <a:endParaRPr lang="zh-TW" altLang="en-US" dirty="0"/>
          </a:p>
        </p:txBody>
      </p:sp>
      <p:sp>
        <p:nvSpPr>
          <p:cNvPr id="4" name="投影片編號版面配置區 3"/>
          <p:cNvSpPr>
            <a:spLocks noGrp="1"/>
          </p:cNvSpPr>
          <p:nvPr>
            <p:ph type="sldNum" sz="quarter" idx="5"/>
          </p:nvPr>
        </p:nvSpPr>
        <p:spPr/>
        <p:txBody>
          <a:bodyPr/>
          <a:lstStyle/>
          <a:p>
            <a:fld id="{84F9977A-F9B1-4E82-8DFA-4B4DCD30651E}" type="slidenum">
              <a:rPr lang="zh-TW" altLang="en-US" smtClean="0"/>
              <a:t>4</a:t>
            </a:fld>
            <a:endParaRPr lang="zh-TW" altLang="en-US"/>
          </a:p>
        </p:txBody>
      </p:sp>
    </p:spTree>
    <p:extLst>
      <p:ext uri="{BB962C8B-B14F-4D97-AF65-F5344CB8AC3E}">
        <p14:creationId xmlns:p14="http://schemas.microsoft.com/office/powerpoint/2010/main" val="2777112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4A4A4A"/>
                </a:solidFill>
                <a:effectLst/>
                <a:latin typeface="-apple-system"/>
              </a:rPr>
              <a:t>一般 </a:t>
            </a:r>
            <a:r>
              <a:rPr lang="en-US" altLang="zh-TW" b="0" i="0" dirty="0">
                <a:solidFill>
                  <a:srgbClr val="4A4A4A"/>
                </a:solidFill>
                <a:effectLst/>
                <a:latin typeface="-apple-system"/>
              </a:rPr>
              <a:t>learning rate </a:t>
            </a:r>
            <a:r>
              <a:rPr lang="zh-TW" altLang="en-US" b="0" i="0" dirty="0">
                <a:solidFill>
                  <a:srgbClr val="4A4A4A"/>
                </a:solidFill>
                <a:effectLst/>
                <a:latin typeface="-apple-system"/>
              </a:rPr>
              <a:t>都會根據 </a:t>
            </a:r>
            <a:r>
              <a:rPr lang="en-US" altLang="zh-TW" b="0" i="0" dirty="0">
                <a:solidFill>
                  <a:srgbClr val="4A4A4A"/>
                </a:solidFill>
                <a:effectLst/>
                <a:latin typeface="-apple-system"/>
              </a:rPr>
              <a:t>batch size </a:t>
            </a:r>
            <a:r>
              <a:rPr lang="zh-TW" altLang="en-US" b="0" i="0" dirty="0">
                <a:solidFill>
                  <a:srgbClr val="4A4A4A"/>
                </a:solidFill>
                <a:effectLst/>
                <a:latin typeface="-apple-system"/>
              </a:rPr>
              <a:t>做一些 </a:t>
            </a:r>
            <a:r>
              <a:rPr lang="en-US" altLang="zh-TW" b="0" i="0" dirty="0">
                <a:solidFill>
                  <a:srgbClr val="4A4A4A"/>
                </a:solidFill>
                <a:effectLst/>
                <a:latin typeface="-apple-system"/>
              </a:rPr>
              <a:t>scale </a:t>
            </a:r>
            <a:r>
              <a:rPr lang="zh-TW" altLang="en-US" b="0" i="0" dirty="0">
                <a:solidFill>
                  <a:srgbClr val="4A4A4A"/>
                </a:solidFill>
                <a:effectLst/>
                <a:latin typeface="-apple-system"/>
              </a:rPr>
              <a:t>的操作。這裏用的是</a:t>
            </a:r>
            <a:r>
              <a:rPr lang="en-US" altLang="zh-TW" b="1" i="0" dirty="0" err="1">
                <a:solidFill>
                  <a:srgbClr val="4A4A4A"/>
                </a:solidFill>
                <a:effectLst/>
                <a:latin typeface="-apple-system"/>
              </a:rPr>
              <a:t>lr</a:t>
            </a:r>
            <a:r>
              <a:rPr lang="en-US" altLang="zh-TW" b="1" i="0" dirty="0">
                <a:solidFill>
                  <a:srgbClr val="4A4A4A"/>
                </a:solidFill>
                <a:effectLst/>
                <a:latin typeface="-apple-system"/>
              </a:rPr>
              <a:t> x </a:t>
            </a:r>
            <a:r>
              <a:rPr lang="en-US" altLang="zh-TW" b="1" i="0" dirty="0" err="1">
                <a:solidFill>
                  <a:srgbClr val="4A4A4A"/>
                </a:solidFill>
                <a:effectLst/>
                <a:latin typeface="-apple-system"/>
              </a:rPr>
              <a:t>batch_size</a:t>
            </a:r>
            <a:r>
              <a:rPr lang="en-US" altLang="zh-TW" b="1" i="0" dirty="0">
                <a:solidFill>
                  <a:srgbClr val="4A4A4A"/>
                </a:solidFill>
                <a:effectLst/>
                <a:latin typeface="-apple-system"/>
              </a:rPr>
              <a:t> / 256</a:t>
            </a:r>
            <a:r>
              <a:rPr lang="zh-TW" altLang="en-US" b="1" i="0" dirty="0">
                <a:solidFill>
                  <a:srgbClr val="4A4A4A"/>
                </a:solidFill>
                <a:effectLst/>
                <a:latin typeface="-apple-system"/>
              </a:rPr>
              <a:t>」</a:t>
            </a:r>
            <a:r>
              <a:rPr lang="zh-TW" altLang="en-US" b="0" i="0" dirty="0">
                <a:solidFill>
                  <a:srgbClr val="4A4A4A"/>
                </a:solidFill>
                <a:effectLst/>
                <a:latin typeface="-apple-system"/>
              </a:rPr>
              <a:t>。</a:t>
            </a:r>
            <a:endParaRPr lang="en-US" altLang="zh-TW" b="0" i="0" dirty="0">
              <a:solidFill>
                <a:srgbClr val="4A4A4A"/>
              </a:solidFill>
              <a:effectLst/>
              <a:latin typeface="-apple-system"/>
            </a:endParaRP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小 </a:t>
            </a:r>
            <a:r>
              <a:rPr lang="en-US" altLang="zh-TW" b="0" i="0" dirty="0">
                <a:solidFill>
                  <a:srgbClr val="4A4A4A"/>
                </a:solidFill>
                <a:effectLst/>
                <a:latin typeface="-apple-system"/>
              </a:rPr>
              <a:t>under-fitting</a:t>
            </a: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大 </a:t>
            </a:r>
            <a:r>
              <a:rPr lang="en-US" altLang="zh-TW" b="0" i="0" dirty="0">
                <a:solidFill>
                  <a:srgbClr val="4A4A4A"/>
                </a:solidFill>
                <a:effectLst/>
                <a:latin typeface="-apple-system"/>
              </a:rPr>
              <a:t>unstable</a:t>
            </a:r>
            <a:endParaRPr lang="zh-TW" altLang="en-US" dirty="0"/>
          </a:p>
        </p:txBody>
      </p:sp>
      <p:sp>
        <p:nvSpPr>
          <p:cNvPr id="4" name="投影片編號版面配置區 3"/>
          <p:cNvSpPr>
            <a:spLocks noGrp="1"/>
          </p:cNvSpPr>
          <p:nvPr>
            <p:ph type="sldNum" sz="quarter" idx="5"/>
          </p:nvPr>
        </p:nvSpPr>
        <p:spPr/>
        <p:txBody>
          <a:bodyPr/>
          <a:lstStyle/>
          <a:p>
            <a:fld id="{84F9977A-F9B1-4E82-8DFA-4B4DCD30651E}" type="slidenum">
              <a:rPr lang="zh-TW" altLang="en-US" smtClean="0"/>
              <a:t>5</a:t>
            </a:fld>
            <a:endParaRPr lang="zh-TW" altLang="en-US"/>
          </a:p>
        </p:txBody>
      </p:sp>
    </p:spTree>
    <p:extLst>
      <p:ext uri="{BB962C8B-B14F-4D97-AF65-F5344CB8AC3E}">
        <p14:creationId xmlns:p14="http://schemas.microsoft.com/office/powerpoint/2010/main" val="4267557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4A4A4A"/>
                </a:solidFill>
                <a:effectLst/>
                <a:latin typeface="-apple-system"/>
              </a:rPr>
              <a:t>一般 </a:t>
            </a:r>
            <a:r>
              <a:rPr lang="en-US" altLang="zh-TW" b="0" i="0" dirty="0">
                <a:solidFill>
                  <a:srgbClr val="4A4A4A"/>
                </a:solidFill>
                <a:effectLst/>
                <a:latin typeface="-apple-system"/>
              </a:rPr>
              <a:t>learning rate </a:t>
            </a:r>
            <a:r>
              <a:rPr lang="zh-TW" altLang="en-US" b="0" i="0" dirty="0">
                <a:solidFill>
                  <a:srgbClr val="4A4A4A"/>
                </a:solidFill>
                <a:effectLst/>
                <a:latin typeface="-apple-system"/>
              </a:rPr>
              <a:t>都會根據 </a:t>
            </a:r>
            <a:r>
              <a:rPr lang="en-US" altLang="zh-TW" b="0" i="0" dirty="0">
                <a:solidFill>
                  <a:srgbClr val="4A4A4A"/>
                </a:solidFill>
                <a:effectLst/>
                <a:latin typeface="-apple-system"/>
              </a:rPr>
              <a:t>batch size </a:t>
            </a:r>
            <a:r>
              <a:rPr lang="zh-TW" altLang="en-US" b="0" i="0" dirty="0">
                <a:solidFill>
                  <a:srgbClr val="4A4A4A"/>
                </a:solidFill>
                <a:effectLst/>
                <a:latin typeface="-apple-system"/>
              </a:rPr>
              <a:t>做一些 </a:t>
            </a:r>
            <a:r>
              <a:rPr lang="en-US" altLang="zh-TW" b="0" i="0" dirty="0">
                <a:solidFill>
                  <a:srgbClr val="4A4A4A"/>
                </a:solidFill>
                <a:effectLst/>
                <a:latin typeface="-apple-system"/>
              </a:rPr>
              <a:t>scale </a:t>
            </a:r>
            <a:r>
              <a:rPr lang="zh-TW" altLang="en-US" b="0" i="0" dirty="0">
                <a:solidFill>
                  <a:srgbClr val="4A4A4A"/>
                </a:solidFill>
                <a:effectLst/>
                <a:latin typeface="-apple-system"/>
              </a:rPr>
              <a:t>的操作。這裏用的是</a:t>
            </a:r>
            <a:r>
              <a:rPr lang="en-US" altLang="zh-TW" b="1" i="0" dirty="0" err="1">
                <a:solidFill>
                  <a:srgbClr val="4A4A4A"/>
                </a:solidFill>
                <a:effectLst/>
                <a:latin typeface="-apple-system"/>
              </a:rPr>
              <a:t>lr</a:t>
            </a:r>
            <a:r>
              <a:rPr lang="en-US" altLang="zh-TW" b="1" i="0" dirty="0">
                <a:solidFill>
                  <a:srgbClr val="4A4A4A"/>
                </a:solidFill>
                <a:effectLst/>
                <a:latin typeface="-apple-system"/>
              </a:rPr>
              <a:t> x </a:t>
            </a:r>
            <a:r>
              <a:rPr lang="en-US" altLang="zh-TW" b="1" i="0" dirty="0" err="1">
                <a:solidFill>
                  <a:srgbClr val="4A4A4A"/>
                </a:solidFill>
                <a:effectLst/>
                <a:latin typeface="-apple-system"/>
              </a:rPr>
              <a:t>batch_size</a:t>
            </a:r>
            <a:r>
              <a:rPr lang="en-US" altLang="zh-TW" b="1" i="0" dirty="0">
                <a:solidFill>
                  <a:srgbClr val="4A4A4A"/>
                </a:solidFill>
                <a:effectLst/>
                <a:latin typeface="-apple-system"/>
              </a:rPr>
              <a:t> / 256</a:t>
            </a:r>
            <a:r>
              <a:rPr lang="zh-TW" altLang="en-US" b="1" i="0" dirty="0">
                <a:solidFill>
                  <a:srgbClr val="4A4A4A"/>
                </a:solidFill>
                <a:effectLst/>
                <a:latin typeface="-apple-system"/>
              </a:rPr>
              <a:t>」</a:t>
            </a:r>
            <a:r>
              <a:rPr lang="zh-TW" altLang="en-US" b="0" i="0" dirty="0">
                <a:solidFill>
                  <a:srgbClr val="4A4A4A"/>
                </a:solidFill>
                <a:effectLst/>
                <a:latin typeface="-apple-system"/>
              </a:rPr>
              <a:t>。</a:t>
            </a:r>
            <a:endParaRPr lang="en-US" altLang="zh-TW" b="0" i="0" dirty="0">
              <a:solidFill>
                <a:srgbClr val="4A4A4A"/>
              </a:solidFill>
              <a:effectLst/>
              <a:latin typeface="-apple-system"/>
            </a:endParaRP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小 </a:t>
            </a:r>
            <a:r>
              <a:rPr lang="en-US" altLang="zh-TW" b="0" i="0" dirty="0">
                <a:solidFill>
                  <a:srgbClr val="4A4A4A"/>
                </a:solidFill>
                <a:effectLst/>
                <a:latin typeface="-apple-system"/>
              </a:rPr>
              <a:t>under-fitting</a:t>
            </a: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大 </a:t>
            </a:r>
            <a:r>
              <a:rPr lang="en-US" altLang="zh-TW" b="0" i="0" dirty="0">
                <a:solidFill>
                  <a:srgbClr val="4A4A4A"/>
                </a:solidFill>
                <a:effectLst/>
                <a:latin typeface="-apple-system"/>
              </a:rPr>
              <a:t>unstable</a:t>
            </a:r>
            <a:endParaRPr lang="zh-TW" altLang="en-US" dirty="0"/>
          </a:p>
        </p:txBody>
      </p:sp>
      <p:sp>
        <p:nvSpPr>
          <p:cNvPr id="4" name="投影片編號版面配置區 3"/>
          <p:cNvSpPr>
            <a:spLocks noGrp="1"/>
          </p:cNvSpPr>
          <p:nvPr>
            <p:ph type="sldNum" sz="quarter" idx="5"/>
          </p:nvPr>
        </p:nvSpPr>
        <p:spPr/>
        <p:txBody>
          <a:bodyPr/>
          <a:lstStyle/>
          <a:p>
            <a:fld id="{84F9977A-F9B1-4E82-8DFA-4B4DCD30651E}" type="slidenum">
              <a:rPr lang="zh-TW" altLang="en-US" smtClean="0"/>
              <a:t>6</a:t>
            </a:fld>
            <a:endParaRPr lang="zh-TW" altLang="en-US"/>
          </a:p>
        </p:txBody>
      </p:sp>
    </p:spTree>
    <p:extLst>
      <p:ext uri="{BB962C8B-B14F-4D97-AF65-F5344CB8AC3E}">
        <p14:creationId xmlns:p14="http://schemas.microsoft.com/office/powerpoint/2010/main" val="3078079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4A4A4A"/>
                </a:solidFill>
                <a:effectLst/>
                <a:latin typeface="-apple-system"/>
              </a:rPr>
              <a:t>一般 </a:t>
            </a:r>
            <a:r>
              <a:rPr lang="en-US" altLang="zh-TW" b="0" i="0" dirty="0">
                <a:solidFill>
                  <a:srgbClr val="4A4A4A"/>
                </a:solidFill>
                <a:effectLst/>
                <a:latin typeface="-apple-system"/>
              </a:rPr>
              <a:t>learning rate </a:t>
            </a:r>
            <a:r>
              <a:rPr lang="zh-TW" altLang="en-US" b="0" i="0" dirty="0">
                <a:solidFill>
                  <a:srgbClr val="4A4A4A"/>
                </a:solidFill>
                <a:effectLst/>
                <a:latin typeface="-apple-system"/>
              </a:rPr>
              <a:t>都會根據 </a:t>
            </a:r>
            <a:r>
              <a:rPr lang="en-US" altLang="zh-TW" b="0" i="0" dirty="0">
                <a:solidFill>
                  <a:srgbClr val="4A4A4A"/>
                </a:solidFill>
                <a:effectLst/>
                <a:latin typeface="-apple-system"/>
              </a:rPr>
              <a:t>batch size </a:t>
            </a:r>
            <a:r>
              <a:rPr lang="zh-TW" altLang="en-US" b="0" i="0" dirty="0">
                <a:solidFill>
                  <a:srgbClr val="4A4A4A"/>
                </a:solidFill>
                <a:effectLst/>
                <a:latin typeface="-apple-system"/>
              </a:rPr>
              <a:t>做一些 </a:t>
            </a:r>
            <a:r>
              <a:rPr lang="en-US" altLang="zh-TW" b="0" i="0" dirty="0">
                <a:solidFill>
                  <a:srgbClr val="4A4A4A"/>
                </a:solidFill>
                <a:effectLst/>
                <a:latin typeface="-apple-system"/>
              </a:rPr>
              <a:t>scale </a:t>
            </a:r>
            <a:r>
              <a:rPr lang="zh-TW" altLang="en-US" b="0" i="0" dirty="0">
                <a:solidFill>
                  <a:srgbClr val="4A4A4A"/>
                </a:solidFill>
                <a:effectLst/>
                <a:latin typeface="-apple-system"/>
              </a:rPr>
              <a:t>的操作。這裏用的是</a:t>
            </a:r>
            <a:r>
              <a:rPr lang="en-US" altLang="zh-TW" b="1" i="0" dirty="0" err="1">
                <a:solidFill>
                  <a:srgbClr val="4A4A4A"/>
                </a:solidFill>
                <a:effectLst/>
                <a:latin typeface="-apple-system"/>
              </a:rPr>
              <a:t>lr</a:t>
            </a:r>
            <a:r>
              <a:rPr lang="en-US" altLang="zh-TW" b="1" i="0" dirty="0">
                <a:solidFill>
                  <a:srgbClr val="4A4A4A"/>
                </a:solidFill>
                <a:effectLst/>
                <a:latin typeface="-apple-system"/>
              </a:rPr>
              <a:t> x </a:t>
            </a:r>
            <a:r>
              <a:rPr lang="en-US" altLang="zh-TW" b="1" i="0" dirty="0" err="1">
                <a:solidFill>
                  <a:srgbClr val="4A4A4A"/>
                </a:solidFill>
                <a:effectLst/>
                <a:latin typeface="-apple-system"/>
              </a:rPr>
              <a:t>batch_size</a:t>
            </a:r>
            <a:r>
              <a:rPr lang="en-US" altLang="zh-TW" b="1" i="0" dirty="0">
                <a:solidFill>
                  <a:srgbClr val="4A4A4A"/>
                </a:solidFill>
                <a:effectLst/>
                <a:latin typeface="-apple-system"/>
              </a:rPr>
              <a:t> / 256</a:t>
            </a:r>
            <a:r>
              <a:rPr lang="zh-TW" altLang="en-US" b="1" i="0" dirty="0">
                <a:solidFill>
                  <a:srgbClr val="4A4A4A"/>
                </a:solidFill>
                <a:effectLst/>
                <a:latin typeface="-apple-system"/>
              </a:rPr>
              <a:t>」</a:t>
            </a:r>
            <a:r>
              <a:rPr lang="zh-TW" altLang="en-US" b="0" i="0" dirty="0">
                <a:solidFill>
                  <a:srgbClr val="4A4A4A"/>
                </a:solidFill>
                <a:effectLst/>
                <a:latin typeface="-apple-system"/>
              </a:rPr>
              <a:t>。</a:t>
            </a:r>
            <a:endParaRPr lang="en-US" altLang="zh-TW" b="0" i="0" dirty="0">
              <a:solidFill>
                <a:srgbClr val="4A4A4A"/>
              </a:solidFill>
              <a:effectLst/>
              <a:latin typeface="-apple-system"/>
            </a:endParaRP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小 </a:t>
            </a:r>
            <a:r>
              <a:rPr lang="en-US" altLang="zh-TW" b="0" i="0" dirty="0">
                <a:solidFill>
                  <a:srgbClr val="4A4A4A"/>
                </a:solidFill>
                <a:effectLst/>
                <a:latin typeface="-apple-system"/>
              </a:rPr>
              <a:t>under-fitting</a:t>
            </a:r>
          </a:p>
          <a:p>
            <a:r>
              <a:rPr lang="en-US" altLang="zh-TW" b="0" i="0" dirty="0">
                <a:solidFill>
                  <a:srgbClr val="4A4A4A"/>
                </a:solidFill>
                <a:effectLst/>
                <a:latin typeface="-apple-system"/>
              </a:rPr>
              <a:t>Learning rate </a:t>
            </a:r>
            <a:r>
              <a:rPr lang="zh-TW" altLang="en-US" b="0" i="0" dirty="0">
                <a:solidFill>
                  <a:srgbClr val="4A4A4A"/>
                </a:solidFill>
                <a:effectLst/>
                <a:latin typeface="-apple-system"/>
              </a:rPr>
              <a:t>大 </a:t>
            </a:r>
            <a:r>
              <a:rPr lang="en-US" altLang="zh-TW" b="0" i="0" dirty="0">
                <a:solidFill>
                  <a:srgbClr val="4A4A4A"/>
                </a:solidFill>
                <a:effectLst/>
                <a:latin typeface="-apple-system"/>
              </a:rPr>
              <a:t>unstable</a:t>
            </a:r>
            <a:endParaRPr lang="zh-TW" altLang="en-US" dirty="0"/>
          </a:p>
        </p:txBody>
      </p:sp>
      <p:sp>
        <p:nvSpPr>
          <p:cNvPr id="4" name="投影片編號版面配置區 3"/>
          <p:cNvSpPr>
            <a:spLocks noGrp="1"/>
          </p:cNvSpPr>
          <p:nvPr>
            <p:ph type="sldNum" sz="quarter" idx="5"/>
          </p:nvPr>
        </p:nvSpPr>
        <p:spPr/>
        <p:txBody>
          <a:bodyPr/>
          <a:lstStyle/>
          <a:p>
            <a:fld id="{84F9977A-F9B1-4E82-8DFA-4B4DCD30651E}" type="slidenum">
              <a:rPr lang="zh-TW" altLang="en-US" smtClean="0"/>
              <a:t>7</a:t>
            </a:fld>
            <a:endParaRPr lang="zh-TW" altLang="en-US"/>
          </a:p>
        </p:txBody>
      </p:sp>
    </p:spTree>
    <p:extLst>
      <p:ext uri="{BB962C8B-B14F-4D97-AF65-F5344CB8AC3E}">
        <p14:creationId xmlns:p14="http://schemas.microsoft.com/office/powerpoint/2010/main" val="691049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42F662-7FAF-4F67-9DDB-4BC0D765151B}"/>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DA0C418-D836-4B50-96D2-D4283C207E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2F9035AC-8595-47ED-B2BE-9B2E49D98113}"/>
              </a:ext>
            </a:extLst>
          </p:cNvPr>
          <p:cNvSpPr>
            <a:spLocks noGrp="1"/>
          </p:cNvSpPr>
          <p:nvPr>
            <p:ph type="dt" sz="half" idx="10"/>
          </p:nvPr>
        </p:nvSpPr>
        <p:spPr/>
        <p:txBody>
          <a:bodyPr/>
          <a:lstStyle/>
          <a:p>
            <a:fld id="{C82558C6-0365-4CD3-897F-D9D1292AB17F}" type="datetimeFigureOut">
              <a:rPr lang="zh-TW" altLang="en-US" smtClean="0"/>
              <a:t>2025/5/23</a:t>
            </a:fld>
            <a:endParaRPr lang="zh-TW" altLang="en-US"/>
          </a:p>
        </p:txBody>
      </p:sp>
      <p:sp>
        <p:nvSpPr>
          <p:cNvPr id="5" name="頁尾版面配置區 4">
            <a:extLst>
              <a:ext uri="{FF2B5EF4-FFF2-40B4-BE49-F238E27FC236}">
                <a16:creationId xmlns:a16="http://schemas.microsoft.com/office/drawing/2014/main" id="{4406265D-C728-4478-A153-93058682650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FE9274F-DE70-4762-ADFE-706AC6520003}"/>
              </a:ext>
            </a:extLst>
          </p:cNvPr>
          <p:cNvSpPr>
            <a:spLocks noGrp="1"/>
          </p:cNvSpPr>
          <p:nvPr>
            <p:ph type="sldNum" sz="quarter" idx="12"/>
          </p:nvPr>
        </p:nvSpPr>
        <p:spPr/>
        <p:txBody>
          <a:bodyPr/>
          <a:lstStyle/>
          <a:p>
            <a:fld id="{C8C991A8-B001-4A41-8F87-1BE2A7D67E71}" type="slidenum">
              <a:rPr lang="zh-TW" altLang="en-US" smtClean="0"/>
              <a:t>‹#›</a:t>
            </a:fld>
            <a:endParaRPr lang="zh-TW" altLang="en-US"/>
          </a:p>
        </p:txBody>
      </p:sp>
    </p:spTree>
    <p:extLst>
      <p:ext uri="{BB962C8B-B14F-4D97-AF65-F5344CB8AC3E}">
        <p14:creationId xmlns:p14="http://schemas.microsoft.com/office/powerpoint/2010/main" val="1166924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6BA4C2-2B18-4743-8464-A6D4A9F3A45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64F73AB-0B9A-49FA-8503-389ABE431EE2}"/>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1564C26-22AC-45CF-BC1E-61D0A4BF33CC}"/>
              </a:ext>
            </a:extLst>
          </p:cNvPr>
          <p:cNvSpPr>
            <a:spLocks noGrp="1"/>
          </p:cNvSpPr>
          <p:nvPr>
            <p:ph type="dt" sz="half" idx="10"/>
          </p:nvPr>
        </p:nvSpPr>
        <p:spPr/>
        <p:txBody>
          <a:bodyPr/>
          <a:lstStyle/>
          <a:p>
            <a:fld id="{C82558C6-0365-4CD3-897F-D9D1292AB17F}" type="datetimeFigureOut">
              <a:rPr lang="zh-TW" altLang="en-US" smtClean="0"/>
              <a:t>2025/5/23</a:t>
            </a:fld>
            <a:endParaRPr lang="zh-TW" altLang="en-US"/>
          </a:p>
        </p:txBody>
      </p:sp>
      <p:sp>
        <p:nvSpPr>
          <p:cNvPr id="5" name="頁尾版面配置區 4">
            <a:extLst>
              <a:ext uri="{FF2B5EF4-FFF2-40B4-BE49-F238E27FC236}">
                <a16:creationId xmlns:a16="http://schemas.microsoft.com/office/drawing/2014/main" id="{9A4569B7-0C69-423F-A33D-B83DA612F6A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986E0AC-D461-495F-AE0B-A79885123C95}"/>
              </a:ext>
            </a:extLst>
          </p:cNvPr>
          <p:cNvSpPr>
            <a:spLocks noGrp="1"/>
          </p:cNvSpPr>
          <p:nvPr>
            <p:ph type="sldNum" sz="quarter" idx="12"/>
          </p:nvPr>
        </p:nvSpPr>
        <p:spPr/>
        <p:txBody>
          <a:bodyPr/>
          <a:lstStyle/>
          <a:p>
            <a:fld id="{C8C991A8-B001-4A41-8F87-1BE2A7D67E71}" type="slidenum">
              <a:rPr lang="zh-TW" altLang="en-US" smtClean="0"/>
              <a:t>‹#›</a:t>
            </a:fld>
            <a:endParaRPr lang="zh-TW" altLang="en-US"/>
          </a:p>
        </p:txBody>
      </p:sp>
    </p:spTree>
    <p:extLst>
      <p:ext uri="{BB962C8B-B14F-4D97-AF65-F5344CB8AC3E}">
        <p14:creationId xmlns:p14="http://schemas.microsoft.com/office/powerpoint/2010/main" val="1763444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6C204A-5240-4D95-9841-D249EDD2821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EA278C1A-36E7-4CF7-B4D8-1A52F5C546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43A95DF1-87FF-4F0A-AA1B-280ADBDAB3AE}"/>
              </a:ext>
            </a:extLst>
          </p:cNvPr>
          <p:cNvSpPr>
            <a:spLocks noGrp="1"/>
          </p:cNvSpPr>
          <p:nvPr>
            <p:ph type="dt" sz="half" idx="10"/>
          </p:nvPr>
        </p:nvSpPr>
        <p:spPr/>
        <p:txBody>
          <a:bodyPr/>
          <a:lstStyle/>
          <a:p>
            <a:fld id="{C82558C6-0365-4CD3-897F-D9D1292AB17F}" type="datetimeFigureOut">
              <a:rPr lang="zh-TW" altLang="en-US" smtClean="0"/>
              <a:t>2025/5/23</a:t>
            </a:fld>
            <a:endParaRPr lang="zh-TW" altLang="en-US"/>
          </a:p>
        </p:txBody>
      </p:sp>
      <p:sp>
        <p:nvSpPr>
          <p:cNvPr id="5" name="頁尾版面配置區 4">
            <a:extLst>
              <a:ext uri="{FF2B5EF4-FFF2-40B4-BE49-F238E27FC236}">
                <a16:creationId xmlns:a16="http://schemas.microsoft.com/office/drawing/2014/main" id="{6484F1B8-4BE9-482D-BE56-DB702C05C5C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0DAB2B5-9939-4A74-963A-589A0D7B8F37}"/>
              </a:ext>
            </a:extLst>
          </p:cNvPr>
          <p:cNvSpPr>
            <a:spLocks noGrp="1"/>
          </p:cNvSpPr>
          <p:nvPr>
            <p:ph type="sldNum" sz="quarter" idx="12"/>
          </p:nvPr>
        </p:nvSpPr>
        <p:spPr/>
        <p:txBody>
          <a:bodyPr/>
          <a:lstStyle/>
          <a:p>
            <a:fld id="{C8C991A8-B001-4A41-8F87-1BE2A7D67E71}" type="slidenum">
              <a:rPr lang="zh-TW" altLang="en-US" smtClean="0"/>
              <a:t>‹#›</a:t>
            </a:fld>
            <a:endParaRPr lang="zh-TW" altLang="en-US"/>
          </a:p>
        </p:txBody>
      </p:sp>
    </p:spTree>
    <p:extLst>
      <p:ext uri="{BB962C8B-B14F-4D97-AF65-F5344CB8AC3E}">
        <p14:creationId xmlns:p14="http://schemas.microsoft.com/office/powerpoint/2010/main" val="570107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9D912E-82DC-4AD3-BF8E-BD1B8EED60D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76CB662-73C8-457B-8E2F-7797747C5188}"/>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1B654CA-BBBE-4F3E-B481-66ECD06606BF}"/>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99930A80-CBED-409A-972B-7777B803F1EA}"/>
              </a:ext>
            </a:extLst>
          </p:cNvPr>
          <p:cNvSpPr>
            <a:spLocks noGrp="1"/>
          </p:cNvSpPr>
          <p:nvPr>
            <p:ph type="dt" sz="half" idx="10"/>
          </p:nvPr>
        </p:nvSpPr>
        <p:spPr/>
        <p:txBody>
          <a:bodyPr/>
          <a:lstStyle/>
          <a:p>
            <a:fld id="{C82558C6-0365-4CD3-897F-D9D1292AB17F}" type="datetimeFigureOut">
              <a:rPr lang="zh-TW" altLang="en-US" smtClean="0"/>
              <a:t>2025/5/23</a:t>
            </a:fld>
            <a:endParaRPr lang="zh-TW" altLang="en-US"/>
          </a:p>
        </p:txBody>
      </p:sp>
      <p:sp>
        <p:nvSpPr>
          <p:cNvPr id="6" name="頁尾版面配置區 5">
            <a:extLst>
              <a:ext uri="{FF2B5EF4-FFF2-40B4-BE49-F238E27FC236}">
                <a16:creationId xmlns:a16="http://schemas.microsoft.com/office/drawing/2014/main" id="{EB2FB27D-8EF6-442E-8F3F-D99276FED9C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DFD760C-0D86-4E79-ADB8-F4BFC7CFB925}"/>
              </a:ext>
            </a:extLst>
          </p:cNvPr>
          <p:cNvSpPr>
            <a:spLocks noGrp="1"/>
          </p:cNvSpPr>
          <p:nvPr>
            <p:ph type="sldNum" sz="quarter" idx="12"/>
          </p:nvPr>
        </p:nvSpPr>
        <p:spPr/>
        <p:txBody>
          <a:bodyPr/>
          <a:lstStyle/>
          <a:p>
            <a:fld id="{C8C991A8-B001-4A41-8F87-1BE2A7D67E71}" type="slidenum">
              <a:rPr lang="zh-TW" altLang="en-US" smtClean="0"/>
              <a:t>‹#›</a:t>
            </a:fld>
            <a:endParaRPr lang="zh-TW" altLang="en-US"/>
          </a:p>
        </p:txBody>
      </p:sp>
    </p:spTree>
    <p:extLst>
      <p:ext uri="{BB962C8B-B14F-4D97-AF65-F5344CB8AC3E}">
        <p14:creationId xmlns:p14="http://schemas.microsoft.com/office/powerpoint/2010/main" val="2533641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1ED89C-49B7-49A5-8935-B7DAC9632A45}"/>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24317DB-4057-4CBA-9055-89B63FE6B1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EDE2B698-D483-446F-8082-4E6AF9FF5613}"/>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C6E372D1-97C4-4ECD-813F-C7D3435A09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FC0AA514-78DB-4DF4-8AB8-62E8D56F8CCA}"/>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37CBDF13-7D65-497F-B175-EC7B929092AF}"/>
              </a:ext>
            </a:extLst>
          </p:cNvPr>
          <p:cNvSpPr>
            <a:spLocks noGrp="1"/>
          </p:cNvSpPr>
          <p:nvPr>
            <p:ph type="dt" sz="half" idx="10"/>
          </p:nvPr>
        </p:nvSpPr>
        <p:spPr/>
        <p:txBody>
          <a:bodyPr/>
          <a:lstStyle/>
          <a:p>
            <a:fld id="{C82558C6-0365-4CD3-897F-D9D1292AB17F}" type="datetimeFigureOut">
              <a:rPr lang="zh-TW" altLang="en-US" smtClean="0"/>
              <a:t>2025/5/23</a:t>
            </a:fld>
            <a:endParaRPr lang="zh-TW" altLang="en-US"/>
          </a:p>
        </p:txBody>
      </p:sp>
      <p:sp>
        <p:nvSpPr>
          <p:cNvPr id="8" name="頁尾版面配置區 7">
            <a:extLst>
              <a:ext uri="{FF2B5EF4-FFF2-40B4-BE49-F238E27FC236}">
                <a16:creationId xmlns:a16="http://schemas.microsoft.com/office/drawing/2014/main" id="{6A75A8D8-1080-4A3C-8406-A844B5D40F63}"/>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6F6572ED-A949-4494-88FA-84FDF6D26DE5}"/>
              </a:ext>
            </a:extLst>
          </p:cNvPr>
          <p:cNvSpPr>
            <a:spLocks noGrp="1"/>
          </p:cNvSpPr>
          <p:nvPr>
            <p:ph type="sldNum" sz="quarter" idx="12"/>
          </p:nvPr>
        </p:nvSpPr>
        <p:spPr/>
        <p:txBody>
          <a:bodyPr/>
          <a:lstStyle/>
          <a:p>
            <a:fld id="{C8C991A8-B001-4A41-8F87-1BE2A7D67E71}" type="slidenum">
              <a:rPr lang="zh-TW" altLang="en-US" smtClean="0"/>
              <a:t>‹#›</a:t>
            </a:fld>
            <a:endParaRPr lang="zh-TW" altLang="en-US"/>
          </a:p>
        </p:txBody>
      </p:sp>
    </p:spTree>
    <p:extLst>
      <p:ext uri="{BB962C8B-B14F-4D97-AF65-F5344CB8AC3E}">
        <p14:creationId xmlns:p14="http://schemas.microsoft.com/office/powerpoint/2010/main" val="3381413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229277C-6583-4932-970A-38D4F3ECBEA3}"/>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19D2B3A-AB22-453C-891B-548E58FA7F66}"/>
              </a:ext>
            </a:extLst>
          </p:cNvPr>
          <p:cNvSpPr>
            <a:spLocks noGrp="1"/>
          </p:cNvSpPr>
          <p:nvPr>
            <p:ph type="dt" sz="half" idx="10"/>
          </p:nvPr>
        </p:nvSpPr>
        <p:spPr/>
        <p:txBody>
          <a:bodyPr/>
          <a:lstStyle/>
          <a:p>
            <a:fld id="{C82558C6-0365-4CD3-897F-D9D1292AB17F}" type="datetimeFigureOut">
              <a:rPr lang="zh-TW" altLang="en-US" smtClean="0"/>
              <a:t>2025/5/23</a:t>
            </a:fld>
            <a:endParaRPr lang="zh-TW" altLang="en-US"/>
          </a:p>
        </p:txBody>
      </p:sp>
      <p:sp>
        <p:nvSpPr>
          <p:cNvPr id="4" name="頁尾版面配置區 3">
            <a:extLst>
              <a:ext uri="{FF2B5EF4-FFF2-40B4-BE49-F238E27FC236}">
                <a16:creationId xmlns:a16="http://schemas.microsoft.com/office/drawing/2014/main" id="{E84AF9BA-ECC0-4FB9-BB5F-3005668025FB}"/>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2B3DB565-CCD5-49B4-816C-20BF7D5B0E27}"/>
              </a:ext>
            </a:extLst>
          </p:cNvPr>
          <p:cNvSpPr>
            <a:spLocks noGrp="1"/>
          </p:cNvSpPr>
          <p:nvPr>
            <p:ph type="sldNum" sz="quarter" idx="12"/>
          </p:nvPr>
        </p:nvSpPr>
        <p:spPr/>
        <p:txBody>
          <a:bodyPr/>
          <a:lstStyle/>
          <a:p>
            <a:fld id="{C8C991A8-B001-4A41-8F87-1BE2A7D67E71}" type="slidenum">
              <a:rPr lang="zh-TW" altLang="en-US" smtClean="0"/>
              <a:t>‹#›</a:t>
            </a:fld>
            <a:endParaRPr lang="zh-TW" altLang="en-US"/>
          </a:p>
        </p:txBody>
      </p:sp>
    </p:spTree>
    <p:extLst>
      <p:ext uri="{BB962C8B-B14F-4D97-AF65-F5344CB8AC3E}">
        <p14:creationId xmlns:p14="http://schemas.microsoft.com/office/powerpoint/2010/main" val="4149715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05F4EEA-C383-426E-A5B6-6F8DB0CED242}"/>
              </a:ext>
            </a:extLst>
          </p:cNvPr>
          <p:cNvSpPr>
            <a:spLocks noGrp="1"/>
          </p:cNvSpPr>
          <p:nvPr>
            <p:ph type="dt" sz="half" idx="10"/>
          </p:nvPr>
        </p:nvSpPr>
        <p:spPr/>
        <p:txBody>
          <a:bodyPr/>
          <a:lstStyle/>
          <a:p>
            <a:fld id="{C82558C6-0365-4CD3-897F-D9D1292AB17F}" type="datetimeFigureOut">
              <a:rPr lang="zh-TW" altLang="en-US" smtClean="0"/>
              <a:t>2025/5/23</a:t>
            </a:fld>
            <a:endParaRPr lang="zh-TW" altLang="en-US"/>
          </a:p>
        </p:txBody>
      </p:sp>
      <p:sp>
        <p:nvSpPr>
          <p:cNvPr id="3" name="頁尾版面配置區 2">
            <a:extLst>
              <a:ext uri="{FF2B5EF4-FFF2-40B4-BE49-F238E27FC236}">
                <a16:creationId xmlns:a16="http://schemas.microsoft.com/office/drawing/2014/main" id="{1F50223D-1F1F-4344-AEE9-69C62ACDABBD}"/>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D84396E3-4A32-4FBB-B477-F4944742CDB0}"/>
              </a:ext>
            </a:extLst>
          </p:cNvPr>
          <p:cNvSpPr>
            <a:spLocks noGrp="1"/>
          </p:cNvSpPr>
          <p:nvPr>
            <p:ph type="sldNum" sz="quarter" idx="12"/>
          </p:nvPr>
        </p:nvSpPr>
        <p:spPr/>
        <p:txBody>
          <a:bodyPr/>
          <a:lstStyle/>
          <a:p>
            <a:fld id="{C8C991A8-B001-4A41-8F87-1BE2A7D67E71}" type="slidenum">
              <a:rPr lang="zh-TW" altLang="en-US" smtClean="0"/>
              <a:t>‹#›</a:t>
            </a:fld>
            <a:endParaRPr lang="zh-TW" altLang="en-US"/>
          </a:p>
        </p:txBody>
      </p:sp>
    </p:spTree>
    <p:extLst>
      <p:ext uri="{BB962C8B-B14F-4D97-AF65-F5344CB8AC3E}">
        <p14:creationId xmlns:p14="http://schemas.microsoft.com/office/powerpoint/2010/main" val="1561305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A45FB0-7A5F-47CA-84F9-41345FEB6C6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46EEDB21-4A6E-48CE-B0F8-D705E688AA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670A9D69-9DB8-4E0F-BF2E-75EED1A1B0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9D52267A-077F-41AE-AEBF-16D86CA325C8}"/>
              </a:ext>
            </a:extLst>
          </p:cNvPr>
          <p:cNvSpPr>
            <a:spLocks noGrp="1"/>
          </p:cNvSpPr>
          <p:nvPr>
            <p:ph type="dt" sz="half" idx="10"/>
          </p:nvPr>
        </p:nvSpPr>
        <p:spPr/>
        <p:txBody>
          <a:bodyPr/>
          <a:lstStyle/>
          <a:p>
            <a:fld id="{C82558C6-0365-4CD3-897F-D9D1292AB17F}" type="datetimeFigureOut">
              <a:rPr lang="zh-TW" altLang="en-US" smtClean="0"/>
              <a:t>2025/5/23</a:t>
            </a:fld>
            <a:endParaRPr lang="zh-TW" altLang="en-US"/>
          </a:p>
        </p:txBody>
      </p:sp>
      <p:sp>
        <p:nvSpPr>
          <p:cNvPr id="6" name="頁尾版面配置區 5">
            <a:extLst>
              <a:ext uri="{FF2B5EF4-FFF2-40B4-BE49-F238E27FC236}">
                <a16:creationId xmlns:a16="http://schemas.microsoft.com/office/drawing/2014/main" id="{9559B22C-CC64-458D-85C9-6E6A630CBE8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2D5DA022-29EC-4188-9566-E559468E2180}"/>
              </a:ext>
            </a:extLst>
          </p:cNvPr>
          <p:cNvSpPr>
            <a:spLocks noGrp="1"/>
          </p:cNvSpPr>
          <p:nvPr>
            <p:ph type="sldNum" sz="quarter" idx="12"/>
          </p:nvPr>
        </p:nvSpPr>
        <p:spPr/>
        <p:txBody>
          <a:bodyPr/>
          <a:lstStyle/>
          <a:p>
            <a:fld id="{C8C991A8-B001-4A41-8F87-1BE2A7D67E71}" type="slidenum">
              <a:rPr lang="zh-TW" altLang="en-US" smtClean="0"/>
              <a:t>‹#›</a:t>
            </a:fld>
            <a:endParaRPr lang="zh-TW" altLang="en-US"/>
          </a:p>
        </p:txBody>
      </p:sp>
    </p:spTree>
    <p:extLst>
      <p:ext uri="{BB962C8B-B14F-4D97-AF65-F5344CB8AC3E}">
        <p14:creationId xmlns:p14="http://schemas.microsoft.com/office/powerpoint/2010/main" val="3371232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9F34FB3-C332-47EC-B6E2-D87DC68A615E}"/>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07C1733-2985-4EE2-BC31-1AB0DC3333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74F9132B-6342-464C-A6FE-44F86CAC9A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B7D581A-9532-4EA8-A8CF-589B772921A0}"/>
              </a:ext>
            </a:extLst>
          </p:cNvPr>
          <p:cNvSpPr>
            <a:spLocks noGrp="1"/>
          </p:cNvSpPr>
          <p:nvPr>
            <p:ph type="dt" sz="half" idx="10"/>
          </p:nvPr>
        </p:nvSpPr>
        <p:spPr/>
        <p:txBody>
          <a:bodyPr/>
          <a:lstStyle/>
          <a:p>
            <a:fld id="{C82558C6-0365-4CD3-897F-D9D1292AB17F}" type="datetimeFigureOut">
              <a:rPr lang="zh-TW" altLang="en-US" smtClean="0"/>
              <a:t>2025/5/23</a:t>
            </a:fld>
            <a:endParaRPr lang="zh-TW" altLang="en-US"/>
          </a:p>
        </p:txBody>
      </p:sp>
      <p:sp>
        <p:nvSpPr>
          <p:cNvPr id="6" name="頁尾版面配置區 5">
            <a:extLst>
              <a:ext uri="{FF2B5EF4-FFF2-40B4-BE49-F238E27FC236}">
                <a16:creationId xmlns:a16="http://schemas.microsoft.com/office/drawing/2014/main" id="{B3FC74B2-92BC-4EE5-A93C-F5208DF2D49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BE7E4B0-26CC-4BE5-9333-195CA3A6B572}"/>
              </a:ext>
            </a:extLst>
          </p:cNvPr>
          <p:cNvSpPr>
            <a:spLocks noGrp="1"/>
          </p:cNvSpPr>
          <p:nvPr>
            <p:ph type="sldNum" sz="quarter" idx="12"/>
          </p:nvPr>
        </p:nvSpPr>
        <p:spPr/>
        <p:txBody>
          <a:bodyPr/>
          <a:lstStyle/>
          <a:p>
            <a:fld id="{C8C991A8-B001-4A41-8F87-1BE2A7D67E71}" type="slidenum">
              <a:rPr lang="zh-TW" altLang="en-US" smtClean="0"/>
              <a:t>‹#›</a:t>
            </a:fld>
            <a:endParaRPr lang="zh-TW" altLang="en-US"/>
          </a:p>
        </p:txBody>
      </p:sp>
    </p:spTree>
    <p:extLst>
      <p:ext uri="{BB962C8B-B14F-4D97-AF65-F5344CB8AC3E}">
        <p14:creationId xmlns:p14="http://schemas.microsoft.com/office/powerpoint/2010/main" val="2160838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B31BDC-65B0-43C9-9DC9-549C25EA563E}"/>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B3D8F7EA-1AF6-4682-8FD4-7C78AB1E7E4A}"/>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53EAC032-5EAE-4B93-94D6-F39115688200}"/>
              </a:ext>
            </a:extLst>
          </p:cNvPr>
          <p:cNvSpPr>
            <a:spLocks noGrp="1"/>
          </p:cNvSpPr>
          <p:nvPr>
            <p:ph type="dt" sz="half" idx="10"/>
          </p:nvPr>
        </p:nvSpPr>
        <p:spPr/>
        <p:txBody>
          <a:bodyPr/>
          <a:lstStyle/>
          <a:p>
            <a:fld id="{C82558C6-0365-4CD3-897F-D9D1292AB17F}" type="datetimeFigureOut">
              <a:rPr lang="zh-TW" altLang="en-US" smtClean="0"/>
              <a:t>2025/5/23</a:t>
            </a:fld>
            <a:endParaRPr lang="zh-TW" altLang="en-US"/>
          </a:p>
        </p:txBody>
      </p:sp>
      <p:sp>
        <p:nvSpPr>
          <p:cNvPr id="5" name="頁尾版面配置區 4">
            <a:extLst>
              <a:ext uri="{FF2B5EF4-FFF2-40B4-BE49-F238E27FC236}">
                <a16:creationId xmlns:a16="http://schemas.microsoft.com/office/drawing/2014/main" id="{0A6F23B9-25A2-4DD1-B67B-4FD07EA2163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1D363E9-15CA-4B6C-92BB-EA449FAAB529}"/>
              </a:ext>
            </a:extLst>
          </p:cNvPr>
          <p:cNvSpPr>
            <a:spLocks noGrp="1"/>
          </p:cNvSpPr>
          <p:nvPr>
            <p:ph type="sldNum" sz="quarter" idx="12"/>
          </p:nvPr>
        </p:nvSpPr>
        <p:spPr/>
        <p:txBody>
          <a:bodyPr/>
          <a:lstStyle/>
          <a:p>
            <a:fld id="{C8C991A8-B001-4A41-8F87-1BE2A7D67E71}" type="slidenum">
              <a:rPr lang="zh-TW" altLang="en-US" smtClean="0"/>
              <a:t>‹#›</a:t>
            </a:fld>
            <a:endParaRPr lang="zh-TW" altLang="en-US"/>
          </a:p>
        </p:txBody>
      </p:sp>
    </p:spTree>
    <p:extLst>
      <p:ext uri="{BB962C8B-B14F-4D97-AF65-F5344CB8AC3E}">
        <p14:creationId xmlns:p14="http://schemas.microsoft.com/office/powerpoint/2010/main" val="3639500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335FF0E-1199-4F11-BA47-C27A538B9EF4}"/>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A534B4EE-0D05-4266-99A0-BE73C4CCF143}"/>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CB8AC70-FBF7-45E9-A949-46D4A534D0AE}"/>
              </a:ext>
            </a:extLst>
          </p:cNvPr>
          <p:cNvSpPr>
            <a:spLocks noGrp="1"/>
          </p:cNvSpPr>
          <p:nvPr>
            <p:ph type="dt" sz="half" idx="10"/>
          </p:nvPr>
        </p:nvSpPr>
        <p:spPr/>
        <p:txBody>
          <a:bodyPr/>
          <a:lstStyle/>
          <a:p>
            <a:fld id="{C82558C6-0365-4CD3-897F-D9D1292AB17F}" type="datetimeFigureOut">
              <a:rPr lang="zh-TW" altLang="en-US" smtClean="0"/>
              <a:t>2025/5/23</a:t>
            </a:fld>
            <a:endParaRPr lang="zh-TW" altLang="en-US"/>
          </a:p>
        </p:txBody>
      </p:sp>
      <p:sp>
        <p:nvSpPr>
          <p:cNvPr id="5" name="頁尾版面配置區 4">
            <a:extLst>
              <a:ext uri="{FF2B5EF4-FFF2-40B4-BE49-F238E27FC236}">
                <a16:creationId xmlns:a16="http://schemas.microsoft.com/office/drawing/2014/main" id="{BC5B795C-69C1-4230-A473-BE1382B5D52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9FBDD8B-61AC-4729-B741-4F0F62F714A6}"/>
              </a:ext>
            </a:extLst>
          </p:cNvPr>
          <p:cNvSpPr>
            <a:spLocks noGrp="1"/>
          </p:cNvSpPr>
          <p:nvPr>
            <p:ph type="sldNum" sz="quarter" idx="12"/>
          </p:nvPr>
        </p:nvSpPr>
        <p:spPr/>
        <p:txBody>
          <a:bodyPr/>
          <a:lstStyle/>
          <a:p>
            <a:fld id="{C8C991A8-B001-4A41-8F87-1BE2A7D67E71}" type="slidenum">
              <a:rPr lang="zh-TW" altLang="en-US" smtClean="0"/>
              <a:t>‹#›</a:t>
            </a:fld>
            <a:endParaRPr lang="zh-TW" altLang="en-US"/>
          </a:p>
        </p:txBody>
      </p:sp>
    </p:spTree>
    <p:extLst>
      <p:ext uri="{BB962C8B-B14F-4D97-AF65-F5344CB8AC3E}">
        <p14:creationId xmlns:p14="http://schemas.microsoft.com/office/powerpoint/2010/main" val="3574155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759509F-E024-4EFF-B447-B00922B6DA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76F2C4D7-54D0-4598-8D0F-242FF0500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9258BC0-C5DD-4A79-AA63-52E0EBA439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2558C6-0365-4CD3-897F-D9D1292AB17F}" type="datetimeFigureOut">
              <a:rPr lang="zh-TW" altLang="en-US" smtClean="0"/>
              <a:t>2025/5/23</a:t>
            </a:fld>
            <a:endParaRPr lang="zh-TW" altLang="en-US"/>
          </a:p>
        </p:txBody>
      </p:sp>
      <p:sp>
        <p:nvSpPr>
          <p:cNvPr id="5" name="頁尾版面配置區 4">
            <a:extLst>
              <a:ext uri="{FF2B5EF4-FFF2-40B4-BE49-F238E27FC236}">
                <a16:creationId xmlns:a16="http://schemas.microsoft.com/office/drawing/2014/main" id="{D2D37587-747E-48D7-90AC-E3DE9DFEB1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58293475-DF23-413C-A0F9-36EAF2E067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C991A8-B001-4A41-8F87-1BE2A7D67E71}" type="slidenum">
              <a:rPr lang="zh-TW" altLang="en-US" smtClean="0"/>
              <a:t>‹#›</a:t>
            </a:fld>
            <a:endParaRPr lang="zh-TW" altLang="en-US"/>
          </a:p>
        </p:txBody>
      </p:sp>
    </p:spTree>
    <p:extLst>
      <p:ext uri="{BB962C8B-B14F-4D97-AF65-F5344CB8AC3E}">
        <p14:creationId xmlns:p14="http://schemas.microsoft.com/office/powerpoint/2010/main" val="2268093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package" Target="../embeddings/Microsoft_Excel_Worksheet1.xlsx"/><Relationship Id="rId5" Type="http://schemas.openxmlformats.org/officeDocument/2006/relationships/image" Target="../media/image1.emf"/><Relationship Id="rId4" Type="http://schemas.openxmlformats.org/officeDocument/2006/relationships/package" Target="../embeddings/Microsoft_Excel_Worksheet.xlsx"/></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1F6782A-F7CF-4A5C-9F5E-8B26F42F926E}"/>
              </a:ext>
            </a:extLst>
          </p:cNvPr>
          <p:cNvSpPr>
            <a:spLocks noGrp="1"/>
          </p:cNvSpPr>
          <p:nvPr>
            <p:ph type="ctrTitle"/>
          </p:nvPr>
        </p:nvSpPr>
        <p:spPr>
          <a:xfrm>
            <a:off x="780421" y="1041400"/>
            <a:ext cx="10631155" cy="2387600"/>
          </a:xfrm>
        </p:spPr>
        <p:txBody>
          <a:bodyPr>
            <a:normAutofit/>
          </a:bodyPr>
          <a:lstStyle/>
          <a:p>
            <a:r>
              <a:rPr lang="en-US" altLang="zh-TW" sz="4400" b="1" dirty="0"/>
              <a:t>2025/05/13</a:t>
            </a:r>
            <a:r>
              <a:rPr lang="zh-TW" altLang="en-US" sz="4400" b="1" dirty="0"/>
              <a:t> </a:t>
            </a:r>
            <a:r>
              <a:rPr lang="en-US" altLang="zh-TW" sz="4400" b="1" dirty="0"/>
              <a:t>Meeting Report</a:t>
            </a:r>
            <a:endParaRPr lang="zh-TW" altLang="en-US" sz="4400" dirty="0"/>
          </a:p>
        </p:txBody>
      </p:sp>
    </p:spTree>
    <p:extLst>
      <p:ext uri="{BB962C8B-B14F-4D97-AF65-F5344CB8AC3E}">
        <p14:creationId xmlns:p14="http://schemas.microsoft.com/office/powerpoint/2010/main" val="327590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52C9CFC8-97B7-40C2-88BC-4B89FD014CD9}"/>
              </a:ext>
            </a:extLst>
          </p:cNvPr>
          <p:cNvSpPr>
            <a:spLocks noGrp="1"/>
          </p:cNvSpPr>
          <p:nvPr>
            <p:ph type="title"/>
          </p:nvPr>
        </p:nvSpPr>
        <p:spPr>
          <a:xfrm>
            <a:off x="321577" y="18255"/>
            <a:ext cx="11744588" cy="1325563"/>
          </a:xfrm>
        </p:spPr>
        <p:txBody>
          <a:bodyPr>
            <a:normAutofit/>
          </a:bodyPr>
          <a:lstStyle/>
          <a:p>
            <a:r>
              <a:rPr lang="zh-TW" altLang="en-US" sz="3200" dirty="0">
                <a:latin typeface="Calibri" panose="020F0502020204030204" pitchFamily="34" charset="0"/>
                <a:ea typeface="標楷體" panose="03000509000000000000" pitchFamily="65" charset="-120"/>
                <a:cs typeface="Calibri" panose="020F0502020204030204" pitchFamily="34" charset="0"/>
              </a:rPr>
              <a:t>實驗目的</a:t>
            </a:r>
          </a:p>
        </p:txBody>
      </p:sp>
      <p:sp>
        <p:nvSpPr>
          <p:cNvPr id="8" name="內容版面配置區 2">
            <a:extLst>
              <a:ext uri="{FF2B5EF4-FFF2-40B4-BE49-F238E27FC236}">
                <a16:creationId xmlns:a16="http://schemas.microsoft.com/office/drawing/2014/main" id="{C790674B-9EC5-4D00-A32E-9E8F49D8D015}"/>
              </a:ext>
            </a:extLst>
          </p:cNvPr>
          <p:cNvSpPr txBox="1">
            <a:spLocks/>
          </p:cNvSpPr>
          <p:nvPr/>
        </p:nvSpPr>
        <p:spPr>
          <a:xfrm>
            <a:off x="838199" y="1456508"/>
            <a:ext cx="10515600" cy="5313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lnSpc>
                <a:spcPct val="100000"/>
              </a:lnSpc>
              <a:buNone/>
            </a:pPr>
            <a:endParaRPr lang="en-US" altLang="zh-TW"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marL="0" indent="0">
              <a:lnSpc>
                <a:spcPct val="100000"/>
              </a:lnSpc>
              <a:buNone/>
            </a:pPr>
            <a:endParaRPr lang="en-US" altLang="zh-TW" sz="2400" dirty="0">
              <a:ea typeface="標楷體" panose="03000509000000000000" pitchFamily="65" charset="-120"/>
            </a:endParaRPr>
          </a:p>
        </p:txBody>
      </p:sp>
      <p:sp>
        <p:nvSpPr>
          <p:cNvPr id="9" name="內容版面配置區 2">
            <a:extLst>
              <a:ext uri="{FF2B5EF4-FFF2-40B4-BE49-F238E27FC236}">
                <a16:creationId xmlns:a16="http://schemas.microsoft.com/office/drawing/2014/main" id="{89D7743D-A038-42D5-A08A-57BCFCBC10B9}"/>
              </a:ext>
            </a:extLst>
          </p:cNvPr>
          <p:cNvSpPr txBox="1">
            <a:spLocks/>
          </p:cNvSpPr>
          <p:nvPr/>
        </p:nvSpPr>
        <p:spPr>
          <a:xfrm>
            <a:off x="838199" y="1343818"/>
            <a:ext cx="10515600" cy="5313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ltLang="zh-TW"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marL="0" indent="0">
              <a:lnSpc>
                <a:spcPct val="100000"/>
              </a:lnSpc>
              <a:buNone/>
            </a:pPr>
            <a:endParaRPr lang="en-US" altLang="zh-TW" sz="2400" dirty="0">
              <a:ea typeface="標楷體" panose="03000509000000000000" pitchFamily="65" charset="-120"/>
            </a:endParaRPr>
          </a:p>
        </p:txBody>
      </p:sp>
      <p:sp>
        <p:nvSpPr>
          <p:cNvPr id="6" name="內容版面配置區 2">
            <a:extLst>
              <a:ext uri="{FF2B5EF4-FFF2-40B4-BE49-F238E27FC236}">
                <a16:creationId xmlns:a16="http://schemas.microsoft.com/office/drawing/2014/main" id="{32562B24-0CD0-40F3-AA22-8769F801AEE1}"/>
              </a:ext>
            </a:extLst>
          </p:cNvPr>
          <p:cNvSpPr txBox="1">
            <a:spLocks/>
          </p:cNvSpPr>
          <p:nvPr/>
        </p:nvSpPr>
        <p:spPr>
          <a:xfrm>
            <a:off x="321577" y="1033733"/>
            <a:ext cx="11870423" cy="53754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TW" altLang="en-US" sz="2400" dirty="0">
                <a:ea typeface="標楷體" panose="03000509000000000000" pitchFamily="65" charset="-120"/>
              </a:rPr>
              <a:t>訪談文本包含很多 </a:t>
            </a:r>
            <a:r>
              <a:rPr lang="en-US" altLang="zh-TW" sz="2400" dirty="0">
                <a:ea typeface="標楷體" panose="03000509000000000000" pitchFamily="65" charset="-120"/>
              </a:rPr>
              <a:t>non speech markers</a:t>
            </a:r>
            <a:endParaRPr lang="zh-TW" altLang="en-US" sz="2400" dirty="0">
              <a:ea typeface="標楷體" panose="03000509000000000000" pitchFamily="65" charset="-120"/>
            </a:endParaRPr>
          </a:p>
          <a:p>
            <a:pPr lvl="1">
              <a:lnSpc>
                <a:spcPct val="120000"/>
              </a:lnSpc>
            </a:pPr>
            <a:r>
              <a:rPr lang="en-US" altLang="zh-TW" dirty="0">
                <a:ea typeface="標楷體" panose="03000509000000000000" pitchFamily="65" charset="-120"/>
              </a:rPr>
              <a:t>&lt;crying&gt;, &lt;clears throat&gt;, &lt;cough&gt;, &lt;deep breath&gt;, &lt;drops microphone&gt;</a:t>
            </a:r>
          </a:p>
          <a:p>
            <a:pPr lvl="1">
              <a:lnSpc>
                <a:spcPct val="120000"/>
              </a:lnSpc>
            </a:pPr>
            <a:r>
              <a:rPr lang="en-US" altLang="zh-TW" sz="2400" dirty="0">
                <a:ea typeface="標楷體" panose="03000509000000000000" pitchFamily="65" charset="-120"/>
              </a:rPr>
              <a:t>&lt;exhale&gt;, &lt;fidgeting with mic&gt;, &lt;gasp&gt;, &lt;grunt&gt;, &lt;grumble&gt;, &lt;gibberish&gt;</a:t>
            </a:r>
          </a:p>
          <a:p>
            <a:pPr lvl="1">
              <a:lnSpc>
                <a:spcPct val="120000"/>
              </a:lnSpc>
            </a:pPr>
            <a:r>
              <a:rPr lang="en-US" altLang="zh-TW" sz="2400" dirty="0">
                <a:ea typeface="標楷體" panose="03000509000000000000" pitchFamily="65" charset="-120"/>
              </a:rPr>
              <a:t>&lt;lip smacking&gt;, &lt;laughter&gt;, &lt;mutters&gt;, &lt;mumbles&gt;, &lt;makes sound with mouth&gt;</a:t>
            </a:r>
          </a:p>
          <a:p>
            <a:pPr lvl="1">
              <a:lnSpc>
                <a:spcPct val="120000"/>
              </a:lnSpc>
            </a:pPr>
            <a:r>
              <a:rPr lang="en-US" altLang="zh-TW" sz="2400" dirty="0">
                <a:ea typeface="標楷體" panose="03000509000000000000" pitchFamily="65" charset="-120"/>
              </a:rPr>
              <a:t>&lt;scoff&gt;, &lt;sigh&gt;, &lt;snort&gt;, &lt;sniff&gt;, &lt;sobbing&gt;, &lt;sneeze&gt;</a:t>
            </a:r>
          </a:p>
          <a:p>
            <a:pPr>
              <a:lnSpc>
                <a:spcPct val="120000"/>
              </a:lnSpc>
            </a:pPr>
            <a:r>
              <a:rPr lang="zh-TW" altLang="en-US" sz="2400" dirty="0">
                <a:ea typeface="標楷體" panose="03000509000000000000" pitchFamily="65" charset="-120"/>
              </a:rPr>
              <a:t>語音辨識模型不會輸出這些 </a:t>
            </a:r>
            <a:r>
              <a:rPr lang="en-US" altLang="zh-TW" sz="2400" dirty="0">
                <a:ea typeface="標楷體" panose="03000509000000000000" pitchFamily="65" charset="-120"/>
              </a:rPr>
              <a:t>markers</a:t>
            </a:r>
          </a:p>
          <a:p>
            <a:pPr>
              <a:lnSpc>
                <a:spcPct val="120000"/>
              </a:lnSpc>
            </a:pPr>
            <a:r>
              <a:rPr lang="zh-TW" altLang="en-US" sz="2400" dirty="0">
                <a:ea typeface="標楷體" panose="03000509000000000000" pitchFamily="65" charset="-120"/>
              </a:rPr>
              <a:t>為了正確比較語音辨識的文字辨識錯誤對文字憂鬱症檢測帶來的影響，所以實驗使用去除 </a:t>
            </a:r>
            <a:r>
              <a:rPr lang="en-US" altLang="zh-TW" sz="2400" dirty="0">
                <a:ea typeface="標楷體" panose="03000509000000000000" pitchFamily="65" charset="-120"/>
              </a:rPr>
              <a:t>non speech markers</a:t>
            </a:r>
            <a:r>
              <a:rPr lang="zh-TW" altLang="en-US" sz="2400" dirty="0">
                <a:ea typeface="標楷體" panose="03000509000000000000" pitchFamily="65" charset="-120"/>
              </a:rPr>
              <a:t> 的文本去訓練憂鬱症檢測模型</a:t>
            </a:r>
            <a:endParaRPr lang="en-US" altLang="zh-TW" sz="2000" dirty="0">
              <a:ea typeface="標楷體" panose="03000509000000000000" pitchFamily="65" charset="-120"/>
            </a:endParaRPr>
          </a:p>
          <a:p>
            <a:pPr>
              <a:lnSpc>
                <a:spcPct val="100000"/>
              </a:lnSpc>
            </a:pPr>
            <a:endParaRPr lang="en-US" altLang="zh-TW" sz="2000" dirty="0">
              <a:ea typeface="標楷體" panose="03000509000000000000" pitchFamily="65" charset="-120"/>
            </a:endParaRPr>
          </a:p>
          <a:p>
            <a:pPr>
              <a:lnSpc>
                <a:spcPct val="100000"/>
              </a:lnSpc>
            </a:pPr>
            <a:endParaRPr lang="en-US" altLang="zh-TW" sz="2000" dirty="0">
              <a:ea typeface="標楷體" panose="03000509000000000000" pitchFamily="65" charset="-120"/>
            </a:endParaRPr>
          </a:p>
          <a:p>
            <a:pPr>
              <a:lnSpc>
                <a:spcPct val="100000"/>
              </a:lnSpc>
            </a:pPr>
            <a:endParaRPr lang="en-US" altLang="zh-TW" sz="2000" dirty="0">
              <a:ea typeface="標楷體" panose="03000509000000000000" pitchFamily="65" charset="-120"/>
            </a:endParaRPr>
          </a:p>
          <a:p>
            <a:pPr>
              <a:lnSpc>
                <a:spcPct val="100000"/>
              </a:lnSpc>
            </a:pPr>
            <a:endParaRPr lang="en-US" altLang="zh-TW" sz="2000" dirty="0">
              <a:ea typeface="標楷體" panose="03000509000000000000" pitchFamily="65" charset="-120"/>
            </a:endParaRPr>
          </a:p>
        </p:txBody>
      </p:sp>
    </p:spTree>
    <p:extLst>
      <p:ext uri="{BB962C8B-B14F-4D97-AF65-F5344CB8AC3E}">
        <p14:creationId xmlns:p14="http://schemas.microsoft.com/office/powerpoint/2010/main" val="735516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52C9CFC8-97B7-40C2-88BC-4B89FD014CD9}"/>
              </a:ext>
            </a:extLst>
          </p:cNvPr>
          <p:cNvSpPr>
            <a:spLocks noGrp="1"/>
          </p:cNvSpPr>
          <p:nvPr>
            <p:ph type="title"/>
          </p:nvPr>
        </p:nvSpPr>
        <p:spPr>
          <a:xfrm>
            <a:off x="321577" y="18255"/>
            <a:ext cx="11744588" cy="1325563"/>
          </a:xfrm>
        </p:spPr>
        <p:txBody>
          <a:bodyPr>
            <a:normAutofit/>
          </a:bodyPr>
          <a:lstStyle/>
          <a:p>
            <a:r>
              <a:rPr lang="zh-TW" altLang="en-US" sz="3200" dirty="0">
                <a:latin typeface="Calibri" panose="020F0502020204030204" pitchFamily="34" charset="0"/>
                <a:ea typeface="標楷體" panose="03000509000000000000" pitchFamily="65" charset="-120"/>
                <a:cs typeface="Calibri" panose="020F0502020204030204" pitchFamily="34" charset="0"/>
              </a:rPr>
              <a:t>實驗內容</a:t>
            </a:r>
          </a:p>
        </p:txBody>
      </p:sp>
      <p:sp>
        <p:nvSpPr>
          <p:cNvPr id="8" name="內容版面配置區 2">
            <a:extLst>
              <a:ext uri="{FF2B5EF4-FFF2-40B4-BE49-F238E27FC236}">
                <a16:creationId xmlns:a16="http://schemas.microsoft.com/office/drawing/2014/main" id="{C790674B-9EC5-4D00-A32E-9E8F49D8D015}"/>
              </a:ext>
            </a:extLst>
          </p:cNvPr>
          <p:cNvSpPr txBox="1">
            <a:spLocks/>
          </p:cNvSpPr>
          <p:nvPr/>
        </p:nvSpPr>
        <p:spPr>
          <a:xfrm>
            <a:off x="838199" y="1456508"/>
            <a:ext cx="10515600" cy="5313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lnSpc>
                <a:spcPct val="100000"/>
              </a:lnSpc>
              <a:buNone/>
            </a:pPr>
            <a:endParaRPr lang="en-US" altLang="zh-TW"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marL="0" indent="0">
              <a:lnSpc>
                <a:spcPct val="100000"/>
              </a:lnSpc>
              <a:buNone/>
            </a:pPr>
            <a:endParaRPr lang="en-US" altLang="zh-TW" sz="2400" dirty="0">
              <a:ea typeface="標楷體" panose="03000509000000000000" pitchFamily="65" charset="-120"/>
            </a:endParaRPr>
          </a:p>
        </p:txBody>
      </p:sp>
      <p:sp>
        <p:nvSpPr>
          <p:cNvPr id="9" name="內容版面配置區 2">
            <a:extLst>
              <a:ext uri="{FF2B5EF4-FFF2-40B4-BE49-F238E27FC236}">
                <a16:creationId xmlns:a16="http://schemas.microsoft.com/office/drawing/2014/main" id="{89D7743D-A038-42D5-A08A-57BCFCBC10B9}"/>
              </a:ext>
            </a:extLst>
          </p:cNvPr>
          <p:cNvSpPr txBox="1">
            <a:spLocks/>
          </p:cNvSpPr>
          <p:nvPr/>
        </p:nvSpPr>
        <p:spPr>
          <a:xfrm>
            <a:off x="838199" y="1343818"/>
            <a:ext cx="10515600" cy="5313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ltLang="zh-TW"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marL="0" indent="0">
              <a:lnSpc>
                <a:spcPct val="100000"/>
              </a:lnSpc>
              <a:buNone/>
            </a:pPr>
            <a:endParaRPr lang="en-US" altLang="zh-TW" sz="2400" dirty="0">
              <a:ea typeface="標楷體" panose="03000509000000000000" pitchFamily="65" charset="-120"/>
            </a:endParaRPr>
          </a:p>
        </p:txBody>
      </p:sp>
      <p:sp>
        <p:nvSpPr>
          <p:cNvPr id="6" name="內容版面配置區 2">
            <a:extLst>
              <a:ext uri="{FF2B5EF4-FFF2-40B4-BE49-F238E27FC236}">
                <a16:creationId xmlns:a16="http://schemas.microsoft.com/office/drawing/2014/main" id="{32562B24-0CD0-40F3-AA22-8769F801AEE1}"/>
              </a:ext>
            </a:extLst>
          </p:cNvPr>
          <p:cNvSpPr txBox="1">
            <a:spLocks/>
          </p:cNvSpPr>
          <p:nvPr/>
        </p:nvSpPr>
        <p:spPr>
          <a:xfrm>
            <a:off x="321577" y="1033733"/>
            <a:ext cx="11870423" cy="53754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TW" altLang="en-US" sz="2400" dirty="0">
                <a:ea typeface="標楷體" panose="03000509000000000000" pitchFamily="65" charset="-120"/>
              </a:rPr>
              <a:t>包含 </a:t>
            </a:r>
            <a:r>
              <a:rPr lang="en-US" altLang="zh-TW" sz="2400" dirty="0">
                <a:ea typeface="標楷體" panose="03000509000000000000" pitchFamily="65" charset="-120"/>
              </a:rPr>
              <a:t>non speech markers</a:t>
            </a:r>
            <a:r>
              <a:rPr lang="zh-TW" altLang="en-US" sz="2400" dirty="0">
                <a:ea typeface="標楷體" panose="03000509000000000000" pitchFamily="65" charset="-120"/>
              </a:rPr>
              <a:t> 的訪談文本</a:t>
            </a:r>
          </a:p>
          <a:p>
            <a:pPr>
              <a:lnSpc>
                <a:spcPct val="120000"/>
              </a:lnSpc>
            </a:pPr>
            <a:r>
              <a:rPr lang="zh-TW" altLang="en-US" sz="2400" dirty="0">
                <a:ea typeface="標楷體" panose="03000509000000000000" pitchFamily="65" charset="-120"/>
              </a:rPr>
              <a:t>不包含 </a:t>
            </a:r>
            <a:r>
              <a:rPr lang="en-US" altLang="zh-TW" sz="2400" dirty="0">
                <a:ea typeface="標楷體" panose="03000509000000000000" pitchFamily="65" charset="-120"/>
              </a:rPr>
              <a:t>non speech markers </a:t>
            </a:r>
            <a:r>
              <a:rPr lang="zh-TW" altLang="en-US" sz="2400" dirty="0">
                <a:ea typeface="標楷體" panose="03000509000000000000" pitchFamily="65" charset="-120"/>
              </a:rPr>
              <a:t>的訪談文本</a:t>
            </a:r>
          </a:p>
          <a:p>
            <a:pPr>
              <a:lnSpc>
                <a:spcPct val="120000"/>
              </a:lnSpc>
            </a:pPr>
            <a:r>
              <a:rPr lang="zh-TW" altLang="en-US" sz="2400" dirty="0">
                <a:ea typeface="標楷體" panose="03000509000000000000" pitchFamily="65" charset="-120"/>
              </a:rPr>
              <a:t>語音辨識的文本</a:t>
            </a:r>
            <a:endParaRPr lang="en-US" altLang="zh-TW" sz="2000" dirty="0">
              <a:ea typeface="標楷體" panose="03000509000000000000" pitchFamily="65" charset="-120"/>
            </a:endParaRPr>
          </a:p>
          <a:p>
            <a:pPr>
              <a:lnSpc>
                <a:spcPct val="100000"/>
              </a:lnSpc>
            </a:pPr>
            <a:endParaRPr lang="en-US" altLang="zh-TW" sz="2000" dirty="0">
              <a:ea typeface="標楷體" panose="03000509000000000000" pitchFamily="65" charset="-120"/>
            </a:endParaRPr>
          </a:p>
          <a:p>
            <a:pPr>
              <a:lnSpc>
                <a:spcPct val="100000"/>
              </a:lnSpc>
            </a:pPr>
            <a:endParaRPr lang="en-US" altLang="zh-TW" sz="2000" dirty="0">
              <a:ea typeface="標楷體" panose="03000509000000000000" pitchFamily="65" charset="-120"/>
            </a:endParaRPr>
          </a:p>
        </p:txBody>
      </p:sp>
      <p:sp>
        <p:nvSpPr>
          <p:cNvPr id="2" name="文字方塊 1">
            <a:extLst>
              <a:ext uri="{FF2B5EF4-FFF2-40B4-BE49-F238E27FC236}">
                <a16:creationId xmlns:a16="http://schemas.microsoft.com/office/drawing/2014/main" id="{CCD35EB8-F439-4821-AE95-285AF665891B}"/>
              </a:ext>
            </a:extLst>
          </p:cNvPr>
          <p:cNvSpPr txBox="1"/>
          <p:nvPr/>
        </p:nvSpPr>
        <p:spPr>
          <a:xfrm>
            <a:off x="590027" y="3182592"/>
            <a:ext cx="3951215" cy="646331"/>
          </a:xfrm>
          <a:prstGeom prst="rect">
            <a:avLst/>
          </a:prstGeom>
          <a:noFill/>
        </p:spPr>
        <p:txBody>
          <a:bodyPr wrap="square" rtlCol="0">
            <a:spAutoFit/>
          </a:bodyPr>
          <a:lstStyle/>
          <a:p>
            <a:r>
              <a:rPr lang="zh-TW" altLang="en-US" sz="1800" dirty="0">
                <a:ea typeface="標楷體" panose="03000509000000000000" pitchFamily="65" charset="-120"/>
              </a:rPr>
              <a:t>包含 </a:t>
            </a:r>
            <a:r>
              <a:rPr lang="en-US" altLang="zh-TW" sz="1800" dirty="0">
                <a:ea typeface="標楷體" panose="03000509000000000000" pitchFamily="65" charset="-120"/>
              </a:rPr>
              <a:t>non speech markers</a:t>
            </a:r>
            <a:r>
              <a:rPr lang="zh-TW" altLang="en-US" sz="1800" dirty="0">
                <a:ea typeface="標楷體" panose="03000509000000000000" pitchFamily="65" charset="-120"/>
              </a:rPr>
              <a:t> 的訪談文本</a:t>
            </a:r>
          </a:p>
          <a:p>
            <a:endParaRPr lang="zh-TW" altLang="en-US" dirty="0"/>
          </a:p>
        </p:txBody>
      </p:sp>
      <p:sp>
        <p:nvSpPr>
          <p:cNvPr id="7" name="文字方塊 6">
            <a:extLst>
              <a:ext uri="{FF2B5EF4-FFF2-40B4-BE49-F238E27FC236}">
                <a16:creationId xmlns:a16="http://schemas.microsoft.com/office/drawing/2014/main" id="{9994FDF1-DEC9-425F-8ABD-AE704FBC967D}"/>
              </a:ext>
            </a:extLst>
          </p:cNvPr>
          <p:cNvSpPr txBox="1"/>
          <p:nvPr/>
        </p:nvSpPr>
        <p:spPr>
          <a:xfrm>
            <a:off x="590027" y="4359272"/>
            <a:ext cx="4390240" cy="646331"/>
          </a:xfrm>
          <a:prstGeom prst="rect">
            <a:avLst/>
          </a:prstGeom>
          <a:noFill/>
        </p:spPr>
        <p:txBody>
          <a:bodyPr wrap="square" rtlCol="0">
            <a:spAutoFit/>
          </a:bodyPr>
          <a:lstStyle/>
          <a:p>
            <a:r>
              <a:rPr lang="zh-TW" altLang="en-US" sz="1800" dirty="0">
                <a:ea typeface="標楷體" panose="03000509000000000000" pitchFamily="65" charset="-120"/>
              </a:rPr>
              <a:t>不包含 </a:t>
            </a:r>
            <a:r>
              <a:rPr lang="en-US" altLang="zh-TW" sz="1800" dirty="0">
                <a:ea typeface="標楷體" panose="03000509000000000000" pitchFamily="65" charset="-120"/>
              </a:rPr>
              <a:t>non speech markers </a:t>
            </a:r>
            <a:r>
              <a:rPr lang="zh-TW" altLang="en-US" sz="1800" dirty="0">
                <a:ea typeface="標楷體" panose="03000509000000000000" pitchFamily="65" charset="-120"/>
              </a:rPr>
              <a:t>的訪談文本</a:t>
            </a:r>
          </a:p>
          <a:p>
            <a:endParaRPr lang="zh-TW" altLang="en-US" dirty="0"/>
          </a:p>
        </p:txBody>
      </p:sp>
      <p:sp>
        <p:nvSpPr>
          <p:cNvPr id="10" name="文字方塊 9">
            <a:extLst>
              <a:ext uri="{FF2B5EF4-FFF2-40B4-BE49-F238E27FC236}">
                <a16:creationId xmlns:a16="http://schemas.microsoft.com/office/drawing/2014/main" id="{B44BAF3B-595F-4074-842A-85943FBAD0C6}"/>
              </a:ext>
            </a:extLst>
          </p:cNvPr>
          <p:cNvSpPr txBox="1"/>
          <p:nvPr/>
        </p:nvSpPr>
        <p:spPr>
          <a:xfrm>
            <a:off x="147504" y="3586266"/>
            <a:ext cx="6094602" cy="369332"/>
          </a:xfrm>
          <a:prstGeom prst="rect">
            <a:avLst/>
          </a:prstGeom>
          <a:noFill/>
        </p:spPr>
        <p:txBody>
          <a:bodyPr wrap="square">
            <a:spAutoFit/>
          </a:bodyPr>
          <a:lstStyle/>
          <a:p>
            <a:r>
              <a:rPr lang="en-US" altLang="zh-TW"/>
              <a:t>like_about_LA (what are some things you really like about l_a)</a:t>
            </a:r>
            <a:endParaRPr lang="zh-TW" altLang="en-US" dirty="0"/>
          </a:p>
        </p:txBody>
      </p:sp>
      <p:sp>
        <p:nvSpPr>
          <p:cNvPr id="11" name="文字方塊 10">
            <a:extLst>
              <a:ext uri="{FF2B5EF4-FFF2-40B4-BE49-F238E27FC236}">
                <a16:creationId xmlns:a16="http://schemas.microsoft.com/office/drawing/2014/main" id="{9400BF0F-8AB1-4AF1-9E09-F1841DC3A229}"/>
              </a:ext>
            </a:extLst>
          </p:cNvPr>
          <p:cNvSpPr txBox="1"/>
          <p:nvPr/>
        </p:nvSpPr>
        <p:spPr>
          <a:xfrm>
            <a:off x="466286" y="4751044"/>
            <a:ext cx="6094602" cy="369332"/>
          </a:xfrm>
          <a:prstGeom prst="rect">
            <a:avLst/>
          </a:prstGeom>
          <a:noFill/>
        </p:spPr>
        <p:txBody>
          <a:bodyPr wrap="square">
            <a:spAutoFit/>
          </a:bodyPr>
          <a:lstStyle/>
          <a:p>
            <a:r>
              <a:rPr lang="en-US" altLang="zh-TW" dirty="0"/>
              <a:t>what are some things you really like about </a:t>
            </a:r>
            <a:r>
              <a:rPr lang="en-US" altLang="zh-TW" dirty="0" err="1"/>
              <a:t>l_a</a:t>
            </a:r>
            <a:endParaRPr lang="zh-TW" altLang="en-US" dirty="0"/>
          </a:p>
        </p:txBody>
      </p:sp>
    </p:spTree>
    <p:extLst>
      <p:ext uri="{BB962C8B-B14F-4D97-AF65-F5344CB8AC3E}">
        <p14:creationId xmlns:p14="http://schemas.microsoft.com/office/powerpoint/2010/main" val="3060699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52C9CFC8-97B7-40C2-88BC-4B89FD014CD9}"/>
              </a:ext>
            </a:extLst>
          </p:cNvPr>
          <p:cNvSpPr>
            <a:spLocks noGrp="1"/>
          </p:cNvSpPr>
          <p:nvPr>
            <p:ph type="title"/>
          </p:nvPr>
        </p:nvSpPr>
        <p:spPr>
          <a:xfrm>
            <a:off x="321577" y="18255"/>
            <a:ext cx="11744588" cy="1325563"/>
          </a:xfrm>
        </p:spPr>
        <p:txBody>
          <a:bodyPr>
            <a:normAutofit/>
          </a:bodyPr>
          <a:lstStyle/>
          <a:p>
            <a:r>
              <a:rPr lang="zh-TW" altLang="en-US" sz="3200" dirty="0">
                <a:latin typeface="Calibri" panose="020F0502020204030204" pitchFamily="34" charset="0"/>
                <a:ea typeface="標楷體" panose="03000509000000000000" pitchFamily="65" charset="-120"/>
                <a:cs typeface="Calibri" panose="020F0502020204030204" pitchFamily="34" charset="0"/>
              </a:rPr>
              <a:t>實驗資料集</a:t>
            </a:r>
          </a:p>
        </p:txBody>
      </p:sp>
      <p:sp>
        <p:nvSpPr>
          <p:cNvPr id="8" name="內容版面配置區 2">
            <a:extLst>
              <a:ext uri="{FF2B5EF4-FFF2-40B4-BE49-F238E27FC236}">
                <a16:creationId xmlns:a16="http://schemas.microsoft.com/office/drawing/2014/main" id="{C790674B-9EC5-4D00-A32E-9E8F49D8D015}"/>
              </a:ext>
            </a:extLst>
          </p:cNvPr>
          <p:cNvSpPr txBox="1">
            <a:spLocks/>
          </p:cNvSpPr>
          <p:nvPr/>
        </p:nvSpPr>
        <p:spPr>
          <a:xfrm>
            <a:off x="838199" y="1456508"/>
            <a:ext cx="10515600" cy="5313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lnSpc>
                <a:spcPct val="100000"/>
              </a:lnSpc>
              <a:buNone/>
            </a:pPr>
            <a:endParaRPr lang="en-US" altLang="zh-TW"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marL="0" indent="0">
              <a:lnSpc>
                <a:spcPct val="100000"/>
              </a:lnSpc>
              <a:buNone/>
            </a:pPr>
            <a:endParaRPr lang="en-US" altLang="zh-TW" sz="2400" dirty="0">
              <a:ea typeface="標楷體" panose="03000509000000000000" pitchFamily="65" charset="-120"/>
            </a:endParaRPr>
          </a:p>
        </p:txBody>
      </p:sp>
      <p:sp>
        <p:nvSpPr>
          <p:cNvPr id="9" name="內容版面配置區 2">
            <a:extLst>
              <a:ext uri="{FF2B5EF4-FFF2-40B4-BE49-F238E27FC236}">
                <a16:creationId xmlns:a16="http://schemas.microsoft.com/office/drawing/2014/main" id="{89D7743D-A038-42D5-A08A-57BCFCBC10B9}"/>
              </a:ext>
            </a:extLst>
          </p:cNvPr>
          <p:cNvSpPr txBox="1">
            <a:spLocks/>
          </p:cNvSpPr>
          <p:nvPr/>
        </p:nvSpPr>
        <p:spPr>
          <a:xfrm>
            <a:off x="838199" y="1343818"/>
            <a:ext cx="10515600" cy="5313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ltLang="zh-TW"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marL="0" indent="0">
              <a:lnSpc>
                <a:spcPct val="100000"/>
              </a:lnSpc>
              <a:buNone/>
            </a:pPr>
            <a:endParaRPr lang="en-US" altLang="zh-TW" sz="2400" dirty="0">
              <a:ea typeface="標楷體" panose="03000509000000000000" pitchFamily="65" charset="-120"/>
            </a:endParaRPr>
          </a:p>
        </p:txBody>
      </p:sp>
      <p:sp>
        <p:nvSpPr>
          <p:cNvPr id="6" name="內容版面配置區 2">
            <a:extLst>
              <a:ext uri="{FF2B5EF4-FFF2-40B4-BE49-F238E27FC236}">
                <a16:creationId xmlns:a16="http://schemas.microsoft.com/office/drawing/2014/main" id="{32562B24-0CD0-40F3-AA22-8769F801AEE1}"/>
              </a:ext>
            </a:extLst>
          </p:cNvPr>
          <p:cNvSpPr txBox="1">
            <a:spLocks/>
          </p:cNvSpPr>
          <p:nvPr/>
        </p:nvSpPr>
        <p:spPr>
          <a:xfrm>
            <a:off x="321577" y="1033733"/>
            <a:ext cx="11870423" cy="53754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TW" altLang="en-US" sz="2400" dirty="0">
                <a:ea typeface="標楷體" panose="03000509000000000000" pitchFamily="65" charset="-120"/>
              </a:rPr>
              <a:t>新的實驗資料集，</a:t>
            </a:r>
            <a:r>
              <a:rPr lang="en-US" altLang="zh-TW" sz="2400" dirty="0">
                <a:ea typeface="標楷體" panose="03000509000000000000" pitchFamily="65" charset="-120"/>
              </a:rPr>
              <a:t>DAIC-WOZ </a:t>
            </a:r>
            <a:r>
              <a:rPr lang="zh-TW" altLang="en-US" sz="2400" dirty="0">
                <a:ea typeface="標楷體" panose="03000509000000000000" pitchFamily="65" charset="-120"/>
              </a:rPr>
              <a:t>的 </a:t>
            </a:r>
            <a:r>
              <a:rPr lang="en-US" altLang="zh-TW" sz="2400" dirty="0" err="1">
                <a:ea typeface="標楷體" panose="03000509000000000000" pitchFamily="65" charset="-120"/>
              </a:rPr>
              <a:t>train_split</a:t>
            </a:r>
            <a:r>
              <a:rPr lang="en-US" altLang="zh-TW" sz="2400" dirty="0">
                <a:ea typeface="標楷體" panose="03000509000000000000" pitchFamily="65" charset="-120"/>
              </a:rPr>
              <a:t> </a:t>
            </a:r>
            <a:r>
              <a:rPr lang="zh-TW" altLang="en-US" sz="2400" dirty="0">
                <a:ea typeface="標楷體" panose="03000509000000000000" pitchFamily="65" charset="-120"/>
              </a:rPr>
              <a:t>與 </a:t>
            </a:r>
            <a:r>
              <a:rPr lang="en-US" altLang="zh-TW" sz="2400" dirty="0" err="1">
                <a:ea typeface="標楷體" panose="03000509000000000000" pitchFamily="65" charset="-120"/>
              </a:rPr>
              <a:t>dev_split</a:t>
            </a:r>
            <a:endParaRPr lang="zh-TW" altLang="en-US" sz="2400" dirty="0">
              <a:ea typeface="標楷體" panose="03000509000000000000" pitchFamily="65" charset="-120"/>
            </a:endParaRPr>
          </a:p>
          <a:p>
            <a:pPr lvl="1">
              <a:lnSpc>
                <a:spcPct val="120000"/>
              </a:lnSpc>
            </a:pPr>
            <a:r>
              <a:rPr lang="en-US" altLang="zh-TW" dirty="0" err="1">
                <a:ea typeface="標楷體" panose="03000509000000000000" pitchFamily="65" charset="-120"/>
              </a:rPr>
              <a:t>Train_split</a:t>
            </a:r>
            <a:r>
              <a:rPr lang="en-US" altLang="zh-TW" dirty="0">
                <a:ea typeface="標楷體" panose="03000509000000000000" pitchFamily="65" charset="-120"/>
              </a:rPr>
              <a:t>: </a:t>
            </a:r>
            <a:r>
              <a:rPr lang="zh-TW" altLang="en-US" dirty="0">
                <a:ea typeface="標楷體" panose="03000509000000000000" pitchFamily="65" charset="-120"/>
              </a:rPr>
              <a:t>總數 </a:t>
            </a:r>
            <a:r>
              <a:rPr lang="en-US" altLang="zh-TW" dirty="0">
                <a:ea typeface="標楷體" panose="03000509000000000000" pitchFamily="65" charset="-120"/>
              </a:rPr>
              <a:t>107</a:t>
            </a:r>
            <a:r>
              <a:rPr lang="zh-TW" altLang="en-US" dirty="0">
                <a:ea typeface="標楷體" panose="03000509000000000000" pitchFamily="65" charset="-120"/>
              </a:rPr>
              <a:t>、憂鬱症 </a:t>
            </a:r>
            <a:r>
              <a:rPr lang="en-US" altLang="zh-TW" dirty="0">
                <a:ea typeface="標楷體" panose="03000509000000000000" pitchFamily="65" charset="-120"/>
              </a:rPr>
              <a:t>31</a:t>
            </a:r>
            <a:r>
              <a:rPr lang="zh-TW" altLang="en-US" dirty="0">
                <a:ea typeface="標楷體" panose="03000509000000000000" pitchFamily="65" charset="-120"/>
              </a:rPr>
              <a:t>、非憂鬱症</a:t>
            </a:r>
            <a:r>
              <a:rPr lang="en-US" altLang="zh-TW" dirty="0">
                <a:ea typeface="標楷體" panose="03000509000000000000" pitchFamily="65" charset="-120"/>
              </a:rPr>
              <a:t>76</a:t>
            </a:r>
            <a:endParaRPr lang="zh-TW" altLang="en-US" dirty="0">
              <a:ea typeface="標楷體" panose="03000509000000000000" pitchFamily="65" charset="-120"/>
            </a:endParaRPr>
          </a:p>
          <a:p>
            <a:pPr lvl="1">
              <a:lnSpc>
                <a:spcPct val="120000"/>
              </a:lnSpc>
            </a:pPr>
            <a:r>
              <a:rPr lang="en-US" altLang="zh-TW" sz="2400" dirty="0" err="1">
                <a:ea typeface="標楷體" panose="03000509000000000000" pitchFamily="65" charset="-120"/>
              </a:rPr>
              <a:t>Dev_split</a:t>
            </a:r>
            <a:r>
              <a:rPr lang="en-US" altLang="zh-TW" sz="2400" dirty="0">
                <a:ea typeface="標楷體" panose="03000509000000000000" pitchFamily="65" charset="-120"/>
              </a:rPr>
              <a:t>:</a:t>
            </a:r>
            <a:r>
              <a:rPr lang="zh-TW" altLang="en-US" sz="2400" dirty="0">
                <a:ea typeface="標楷體" panose="03000509000000000000" pitchFamily="65" charset="-120"/>
              </a:rPr>
              <a:t> </a:t>
            </a:r>
            <a:r>
              <a:rPr lang="zh-TW" altLang="en-US" dirty="0">
                <a:ea typeface="標楷體" panose="03000509000000000000" pitchFamily="65" charset="-120"/>
              </a:rPr>
              <a:t>總數 </a:t>
            </a:r>
            <a:r>
              <a:rPr lang="en-US" altLang="zh-TW" dirty="0">
                <a:ea typeface="標楷體" panose="03000509000000000000" pitchFamily="65" charset="-120"/>
              </a:rPr>
              <a:t>35</a:t>
            </a:r>
            <a:r>
              <a:rPr lang="zh-TW" altLang="en-US" dirty="0">
                <a:ea typeface="標楷體" panose="03000509000000000000" pitchFamily="65" charset="-120"/>
              </a:rPr>
              <a:t>、憂鬱症 </a:t>
            </a:r>
            <a:r>
              <a:rPr lang="en-US" altLang="zh-TW" dirty="0">
                <a:ea typeface="標楷體" panose="03000509000000000000" pitchFamily="65" charset="-120"/>
              </a:rPr>
              <a:t>12</a:t>
            </a:r>
            <a:r>
              <a:rPr lang="zh-TW" altLang="en-US" dirty="0">
                <a:ea typeface="標楷體" panose="03000509000000000000" pitchFamily="65" charset="-120"/>
              </a:rPr>
              <a:t>、非憂鬱症</a:t>
            </a:r>
            <a:r>
              <a:rPr lang="en-US" altLang="zh-TW" dirty="0">
                <a:ea typeface="標楷體" panose="03000509000000000000" pitchFamily="65" charset="-120"/>
              </a:rPr>
              <a:t>23</a:t>
            </a:r>
            <a:endParaRPr lang="en-US" altLang="zh-TW" sz="2400" dirty="0">
              <a:ea typeface="標楷體" panose="03000509000000000000" pitchFamily="65" charset="-120"/>
            </a:endParaRPr>
          </a:p>
          <a:p>
            <a:pPr>
              <a:lnSpc>
                <a:spcPct val="120000"/>
              </a:lnSpc>
            </a:pPr>
            <a:r>
              <a:rPr lang="zh-TW" altLang="en-US" sz="2400" dirty="0">
                <a:ea typeface="標楷體" panose="03000509000000000000" pitchFamily="65" charset="-120"/>
              </a:rPr>
              <a:t>實驗數據將每個方法用 </a:t>
            </a:r>
            <a:r>
              <a:rPr lang="en-US" altLang="zh-TW" sz="2400" dirty="0">
                <a:ea typeface="標楷體" panose="03000509000000000000" pitchFamily="65" charset="-120"/>
              </a:rPr>
              <a:t>6 </a:t>
            </a:r>
            <a:r>
              <a:rPr lang="zh-TW" altLang="en-US" sz="2400" dirty="0">
                <a:ea typeface="標楷體" panose="03000509000000000000" pitchFamily="65" charset="-120"/>
              </a:rPr>
              <a:t>個種子的分數取平均 </a:t>
            </a:r>
            <a:endParaRPr lang="en-US" altLang="zh-TW" sz="2000" dirty="0">
              <a:ea typeface="標楷體" panose="03000509000000000000" pitchFamily="65" charset="-120"/>
            </a:endParaRPr>
          </a:p>
          <a:p>
            <a:pPr>
              <a:lnSpc>
                <a:spcPct val="100000"/>
              </a:lnSpc>
            </a:pPr>
            <a:endParaRPr lang="en-US" altLang="zh-TW" sz="2000" dirty="0">
              <a:ea typeface="標楷體" panose="03000509000000000000" pitchFamily="65" charset="-120"/>
            </a:endParaRPr>
          </a:p>
          <a:p>
            <a:pPr>
              <a:lnSpc>
                <a:spcPct val="100000"/>
              </a:lnSpc>
            </a:pPr>
            <a:endParaRPr lang="en-US" altLang="zh-TW" sz="2000" dirty="0">
              <a:ea typeface="標楷體" panose="03000509000000000000" pitchFamily="65" charset="-120"/>
            </a:endParaRPr>
          </a:p>
          <a:p>
            <a:pPr>
              <a:lnSpc>
                <a:spcPct val="100000"/>
              </a:lnSpc>
            </a:pPr>
            <a:endParaRPr lang="en-US" altLang="zh-TW" sz="2000" dirty="0">
              <a:ea typeface="標楷體" panose="03000509000000000000" pitchFamily="65" charset="-120"/>
            </a:endParaRPr>
          </a:p>
          <a:p>
            <a:pPr>
              <a:lnSpc>
                <a:spcPct val="100000"/>
              </a:lnSpc>
            </a:pPr>
            <a:endParaRPr lang="en-US" altLang="zh-TW" sz="2000" dirty="0">
              <a:ea typeface="標楷體" panose="03000509000000000000" pitchFamily="65" charset="-120"/>
            </a:endParaRPr>
          </a:p>
        </p:txBody>
      </p:sp>
    </p:spTree>
    <p:extLst>
      <p:ext uri="{BB962C8B-B14F-4D97-AF65-F5344CB8AC3E}">
        <p14:creationId xmlns:p14="http://schemas.microsoft.com/office/powerpoint/2010/main" val="14069275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52C9CFC8-97B7-40C2-88BC-4B89FD014CD9}"/>
              </a:ext>
            </a:extLst>
          </p:cNvPr>
          <p:cNvSpPr>
            <a:spLocks noGrp="1"/>
          </p:cNvSpPr>
          <p:nvPr>
            <p:ph type="title"/>
          </p:nvPr>
        </p:nvSpPr>
        <p:spPr>
          <a:xfrm>
            <a:off x="321577" y="18256"/>
            <a:ext cx="11744588" cy="807152"/>
          </a:xfrm>
        </p:spPr>
        <p:txBody>
          <a:bodyPr>
            <a:normAutofit/>
          </a:bodyPr>
          <a:lstStyle/>
          <a:p>
            <a:r>
              <a:rPr lang="zh-TW" altLang="en-US" sz="3200" dirty="0">
                <a:latin typeface="Calibri" panose="020F0502020204030204" pitchFamily="34" charset="0"/>
                <a:ea typeface="標楷體" panose="03000509000000000000" pitchFamily="65" charset="-120"/>
                <a:cs typeface="Calibri" panose="020F0502020204030204" pitchFamily="34" charset="0"/>
              </a:rPr>
              <a:t>重跑實驗結果</a:t>
            </a:r>
          </a:p>
        </p:txBody>
      </p:sp>
      <p:sp>
        <p:nvSpPr>
          <p:cNvPr id="8" name="內容版面配置區 2">
            <a:extLst>
              <a:ext uri="{FF2B5EF4-FFF2-40B4-BE49-F238E27FC236}">
                <a16:creationId xmlns:a16="http://schemas.microsoft.com/office/drawing/2014/main" id="{C790674B-9EC5-4D00-A32E-9E8F49D8D015}"/>
              </a:ext>
            </a:extLst>
          </p:cNvPr>
          <p:cNvSpPr txBox="1">
            <a:spLocks/>
          </p:cNvSpPr>
          <p:nvPr/>
        </p:nvSpPr>
        <p:spPr>
          <a:xfrm>
            <a:off x="838199" y="1456508"/>
            <a:ext cx="10515600" cy="5313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lnSpc>
                <a:spcPct val="100000"/>
              </a:lnSpc>
              <a:buNone/>
            </a:pPr>
            <a:endParaRPr lang="en-US" altLang="zh-TW"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marL="0" indent="0">
              <a:lnSpc>
                <a:spcPct val="100000"/>
              </a:lnSpc>
              <a:buNone/>
            </a:pPr>
            <a:endParaRPr lang="en-US" altLang="zh-TW" sz="2400" dirty="0">
              <a:ea typeface="標楷體" panose="03000509000000000000" pitchFamily="65" charset="-120"/>
            </a:endParaRPr>
          </a:p>
        </p:txBody>
      </p:sp>
      <p:sp>
        <p:nvSpPr>
          <p:cNvPr id="9" name="內容版面配置區 2">
            <a:extLst>
              <a:ext uri="{FF2B5EF4-FFF2-40B4-BE49-F238E27FC236}">
                <a16:creationId xmlns:a16="http://schemas.microsoft.com/office/drawing/2014/main" id="{89D7743D-A038-42D5-A08A-57BCFCBC10B9}"/>
              </a:ext>
            </a:extLst>
          </p:cNvPr>
          <p:cNvSpPr txBox="1">
            <a:spLocks/>
          </p:cNvSpPr>
          <p:nvPr/>
        </p:nvSpPr>
        <p:spPr>
          <a:xfrm>
            <a:off x="838199" y="1343818"/>
            <a:ext cx="10515600" cy="5313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ltLang="zh-TW"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marL="0" indent="0">
              <a:lnSpc>
                <a:spcPct val="100000"/>
              </a:lnSpc>
              <a:buNone/>
            </a:pPr>
            <a:endParaRPr lang="en-US" altLang="zh-TW" sz="2400" dirty="0">
              <a:ea typeface="標楷體" panose="03000509000000000000" pitchFamily="65" charset="-120"/>
            </a:endParaRPr>
          </a:p>
        </p:txBody>
      </p:sp>
      <p:sp>
        <p:nvSpPr>
          <p:cNvPr id="6" name="內容版面配置區 2">
            <a:extLst>
              <a:ext uri="{FF2B5EF4-FFF2-40B4-BE49-F238E27FC236}">
                <a16:creationId xmlns:a16="http://schemas.microsoft.com/office/drawing/2014/main" id="{32562B24-0CD0-40F3-AA22-8769F801AEE1}"/>
              </a:ext>
            </a:extLst>
          </p:cNvPr>
          <p:cNvSpPr txBox="1">
            <a:spLocks/>
          </p:cNvSpPr>
          <p:nvPr/>
        </p:nvSpPr>
        <p:spPr>
          <a:xfrm>
            <a:off x="321577" y="825408"/>
            <a:ext cx="11870423" cy="53754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TW" altLang="en-US" sz="2400" dirty="0">
                <a:ea typeface="標楷體" panose="03000509000000000000" pitchFamily="65" charset="-120"/>
              </a:rPr>
              <a:t>包含 </a:t>
            </a:r>
            <a:r>
              <a:rPr lang="en-US" altLang="zh-TW" sz="2400" dirty="0">
                <a:ea typeface="標楷體" panose="03000509000000000000" pitchFamily="65" charset="-120"/>
              </a:rPr>
              <a:t>non speech markers </a:t>
            </a:r>
            <a:r>
              <a:rPr lang="zh-TW" altLang="en-US" sz="2400" dirty="0">
                <a:ea typeface="標楷體" panose="03000509000000000000" pitchFamily="65" charset="-120"/>
              </a:rPr>
              <a:t>的訪談文本</a:t>
            </a:r>
          </a:p>
          <a:p>
            <a:pPr>
              <a:lnSpc>
                <a:spcPct val="100000"/>
              </a:lnSpc>
            </a:pPr>
            <a:endParaRPr lang="en-US" altLang="zh-TW" sz="2000" dirty="0">
              <a:ea typeface="標楷體" panose="03000509000000000000" pitchFamily="65" charset="-120"/>
            </a:endParaRPr>
          </a:p>
          <a:p>
            <a:pPr>
              <a:lnSpc>
                <a:spcPct val="100000"/>
              </a:lnSpc>
            </a:pPr>
            <a:endParaRPr lang="en-US" altLang="zh-TW" sz="2000" dirty="0">
              <a:ea typeface="標楷體" panose="03000509000000000000" pitchFamily="65" charset="-120"/>
            </a:endParaRPr>
          </a:p>
        </p:txBody>
      </p:sp>
      <p:sp>
        <p:nvSpPr>
          <p:cNvPr id="7" name="內容版面配置區 2">
            <a:extLst>
              <a:ext uri="{FF2B5EF4-FFF2-40B4-BE49-F238E27FC236}">
                <a16:creationId xmlns:a16="http://schemas.microsoft.com/office/drawing/2014/main" id="{93EFC0C4-32DA-44B4-A21C-31196621E1E2}"/>
              </a:ext>
            </a:extLst>
          </p:cNvPr>
          <p:cNvSpPr txBox="1">
            <a:spLocks/>
          </p:cNvSpPr>
          <p:nvPr/>
        </p:nvSpPr>
        <p:spPr>
          <a:xfrm>
            <a:off x="321577" y="3708740"/>
            <a:ext cx="11870423" cy="21929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TW" altLang="en-US" sz="2400" dirty="0">
                <a:ea typeface="標楷體" panose="03000509000000000000" pitchFamily="65" charset="-120"/>
              </a:rPr>
              <a:t>不包含 </a:t>
            </a:r>
            <a:r>
              <a:rPr lang="en-US" altLang="zh-TW" sz="2400" dirty="0">
                <a:ea typeface="標楷體" panose="03000509000000000000" pitchFamily="65" charset="-120"/>
              </a:rPr>
              <a:t>non speech markers </a:t>
            </a:r>
            <a:r>
              <a:rPr lang="zh-TW" altLang="en-US" sz="2400" dirty="0">
                <a:ea typeface="標楷體" panose="03000509000000000000" pitchFamily="65" charset="-120"/>
              </a:rPr>
              <a:t>的訪談文本</a:t>
            </a:r>
          </a:p>
          <a:p>
            <a:pPr>
              <a:lnSpc>
                <a:spcPct val="100000"/>
              </a:lnSpc>
            </a:pPr>
            <a:endParaRPr lang="en-US" altLang="zh-TW" sz="2000" dirty="0">
              <a:ea typeface="標楷體" panose="03000509000000000000" pitchFamily="65" charset="-120"/>
            </a:endParaRPr>
          </a:p>
          <a:p>
            <a:pPr>
              <a:lnSpc>
                <a:spcPct val="100000"/>
              </a:lnSpc>
            </a:pPr>
            <a:endParaRPr lang="en-US" altLang="zh-TW" sz="2000" dirty="0">
              <a:ea typeface="標楷體" panose="03000509000000000000" pitchFamily="65" charset="-120"/>
            </a:endParaRPr>
          </a:p>
        </p:txBody>
      </p:sp>
      <p:graphicFrame>
        <p:nvGraphicFramePr>
          <p:cNvPr id="3" name="物件 2">
            <a:extLst>
              <a:ext uri="{FF2B5EF4-FFF2-40B4-BE49-F238E27FC236}">
                <a16:creationId xmlns:a16="http://schemas.microsoft.com/office/drawing/2014/main" id="{5EDD21A8-05D9-477E-BE76-6868CEB953FB}"/>
              </a:ext>
            </a:extLst>
          </p:cNvPr>
          <p:cNvGraphicFramePr>
            <a:graphicFrameLocks noChangeAspect="1"/>
          </p:cNvGraphicFramePr>
          <p:nvPr>
            <p:extLst>
              <p:ext uri="{D42A27DB-BD31-4B8C-83A1-F6EECF244321}">
                <p14:modId xmlns:p14="http://schemas.microsoft.com/office/powerpoint/2010/main" val="3402394710"/>
              </p:ext>
            </p:extLst>
          </p:nvPr>
        </p:nvGraphicFramePr>
        <p:xfrm>
          <a:off x="1623422" y="1343818"/>
          <a:ext cx="9140898" cy="2361000"/>
        </p:xfrm>
        <a:graphic>
          <a:graphicData uri="http://schemas.openxmlformats.org/presentationml/2006/ole">
            <mc:AlternateContent xmlns:mc="http://schemas.openxmlformats.org/markup-compatibility/2006">
              <mc:Choice xmlns:v="urn:schemas-microsoft-com:vml" Requires="v">
                <p:oleObj spid="_x0000_s1037" name="Worksheet" r:id="rId4" imgW="5457944" imgH="1409597" progId="Excel.Sheet.12">
                  <p:embed/>
                </p:oleObj>
              </mc:Choice>
              <mc:Fallback>
                <p:oleObj name="Worksheet" r:id="rId4" imgW="5457944" imgH="1409597" progId="Excel.Sheet.12">
                  <p:embed/>
                  <p:pic>
                    <p:nvPicPr>
                      <p:cNvPr id="0" name=""/>
                      <p:cNvPicPr/>
                      <p:nvPr/>
                    </p:nvPicPr>
                    <p:blipFill>
                      <a:blip r:embed="rId5"/>
                      <a:stretch>
                        <a:fillRect/>
                      </a:stretch>
                    </p:blipFill>
                    <p:spPr>
                      <a:xfrm>
                        <a:off x="1623422" y="1343818"/>
                        <a:ext cx="9140898" cy="2361000"/>
                      </a:xfrm>
                      <a:prstGeom prst="rect">
                        <a:avLst/>
                      </a:prstGeom>
                    </p:spPr>
                  </p:pic>
                </p:oleObj>
              </mc:Fallback>
            </mc:AlternateContent>
          </a:graphicData>
        </a:graphic>
      </p:graphicFrame>
      <p:graphicFrame>
        <p:nvGraphicFramePr>
          <p:cNvPr id="10" name="物件 9">
            <a:extLst>
              <a:ext uri="{FF2B5EF4-FFF2-40B4-BE49-F238E27FC236}">
                <a16:creationId xmlns:a16="http://schemas.microsoft.com/office/drawing/2014/main" id="{B4887B22-7330-408F-B52A-9071527051D9}"/>
              </a:ext>
            </a:extLst>
          </p:cNvPr>
          <p:cNvGraphicFramePr>
            <a:graphicFrameLocks noChangeAspect="1"/>
          </p:cNvGraphicFramePr>
          <p:nvPr>
            <p:extLst>
              <p:ext uri="{D42A27DB-BD31-4B8C-83A1-F6EECF244321}">
                <p14:modId xmlns:p14="http://schemas.microsoft.com/office/powerpoint/2010/main" val="246704993"/>
              </p:ext>
            </p:extLst>
          </p:nvPr>
        </p:nvGraphicFramePr>
        <p:xfrm>
          <a:off x="1623422" y="4235924"/>
          <a:ext cx="9106929" cy="2352226"/>
        </p:xfrm>
        <a:graphic>
          <a:graphicData uri="http://schemas.openxmlformats.org/presentationml/2006/ole">
            <mc:AlternateContent xmlns:mc="http://schemas.openxmlformats.org/markup-compatibility/2006">
              <mc:Choice xmlns:v="urn:schemas-microsoft-com:vml" Requires="v">
                <p:oleObj spid="_x0000_s1038" name="Worksheet" r:id="rId6" imgW="5457944" imgH="1409597" progId="Excel.Sheet.12">
                  <p:embed/>
                </p:oleObj>
              </mc:Choice>
              <mc:Fallback>
                <p:oleObj name="Worksheet" r:id="rId6" imgW="5457944" imgH="1409597" progId="Excel.Sheet.12">
                  <p:embed/>
                  <p:pic>
                    <p:nvPicPr>
                      <p:cNvPr id="0" name=""/>
                      <p:cNvPicPr/>
                      <p:nvPr/>
                    </p:nvPicPr>
                    <p:blipFill>
                      <a:blip r:embed="rId7"/>
                      <a:stretch>
                        <a:fillRect/>
                      </a:stretch>
                    </p:blipFill>
                    <p:spPr>
                      <a:xfrm>
                        <a:off x="1623422" y="4235924"/>
                        <a:ext cx="9106929" cy="2352226"/>
                      </a:xfrm>
                      <a:prstGeom prst="rect">
                        <a:avLst/>
                      </a:prstGeom>
                    </p:spPr>
                  </p:pic>
                </p:oleObj>
              </mc:Fallback>
            </mc:AlternateContent>
          </a:graphicData>
        </a:graphic>
      </p:graphicFrame>
    </p:spTree>
    <p:extLst>
      <p:ext uri="{BB962C8B-B14F-4D97-AF65-F5344CB8AC3E}">
        <p14:creationId xmlns:p14="http://schemas.microsoft.com/office/powerpoint/2010/main" val="1249956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52C9CFC8-97B7-40C2-88BC-4B89FD014CD9}"/>
              </a:ext>
            </a:extLst>
          </p:cNvPr>
          <p:cNvSpPr>
            <a:spLocks noGrp="1"/>
          </p:cNvSpPr>
          <p:nvPr>
            <p:ph type="title"/>
          </p:nvPr>
        </p:nvSpPr>
        <p:spPr>
          <a:xfrm>
            <a:off x="321577" y="18255"/>
            <a:ext cx="11744588" cy="1325563"/>
          </a:xfrm>
        </p:spPr>
        <p:txBody>
          <a:bodyPr>
            <a:normAutofit/>
          </a:bodyPr>
          <a:lstStyle/>
          <a:p>
            <a:r>
              <a:rPr lang="zh-TW" altLang="en-US" sz="3200" dirty="0">
                <a:latin typeface="Calibri" panose="020F0502020204030204" pitchFamily="34" charset="0"/>
                <a:ea typeface="標楷體" panose="03000509000000000000" pitchFamily="65" charset="-120"/>
                <a:cs typeface="Calibri" panose="020F0502020204030204" pitchFamily="34" charset="0"/>
              </a:rPr>
              <a:t>後續實驗</a:t>
            </a:r>
          </a:p>
        </p:txBody>
      </p:sp>
      <p:sp>
        <p:nvSpPr>
          <p:cNvPr id="8" name="內容版面配置區 2">
            <a:extLst>
              <a:ext uri="{FF2B5EF4-FFF2-40B4-BE49-F238E27FC236}">
                <a16:creationId xmlns:a16="http://schemas.microsoft.com/office/drawing/2014/main" id="{C790674B-9EC5-4D00-A32E-9E8F49D8D015}"/>
              </a:ext>
            </a:extLst>
          </p:cNvPr>
          <p:cNvSpPr txBox="1">
            <a:spLocks/>
          </p:cNvSpPr>
          <p:nvPr/>
        </p:nvSpPr>
        <p:spPr>
          <a:xfrm>
            <a:off x="838199" y="1456508"/>
            <a:ext cx="10515600" cy="5313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lnSpc>
                <a:spcPct val="100000"/>
              </a:lnSpc>
              <a:buNone/>
            </a:pPr>
            <a:endParaRPr lang="en-US" altLang="zh-TW"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marL="0" indent="0">
              <a:lnSpc>
                <a:spcPct val="100000"/>
              </a:lnSpc>
              <a:buNone/>
            </a:pPr>
            <a:endParaRPr lang="en-US" altLang="zh-TW" sz="2400" dirty="0">
              <a:ea typeface="標楷體" panose="03000509000000000000" pitchFamily="65" charset="-120"/>
            </a:endParaRPr>
          </a:p>
        </p:txBody>
      </p:sp>
      <p:sp>
        <p:nvSpPr>
          <p:cNvPr id="9" name="內容版面配置區 2">
            <a:extLst>
              <a:ext uri="{FF2B5EF4-FFF2-40B4-BE49-F238E27FC236}">
                <a16:creationId xmlns:a16="http://schemas.microsoft.com/office/drawing/2014/main" id="{89D7743D-A038-42D5-A08A-57BCFCBC10B9}"/>
              </a:ext>
            </a:extLst>
          </p:cNvPr>
          <p:cNvSpPr txBox="1">
            <a:spLocks/>
          </p:cNvSpPr>
          <p:nvPr/>
        </p:nvSpPr>
        <p:spPr>
          <a:xfrm>
            <a:off x="838199" y="1343818"/>
            <a:ext cx="10515600" cy="5313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ltLang="zh-TW"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marL="0" indent="0">
              <a:lnSpc>
                <a:spcPct val="100000"/>
              </a:lnSpc>
              <a:buNone/>
            </a:pPr>
            <a:endParaRPr lang="en-US" altLang="zh-TW" sz="2400" dirty="0">
              <a:ea typeface="標楷體" panose="03000509000000000000" pitchFamily="65" charset="-120"/>
            </a:endParaRPr>
          </a:p>
        </p:txBody>
      </p:sp>
      <p:sp>
        <p:nvSpPr>
          <p:cNvPr id="6" name="內容版面配置區 2">
            <a:extLst>
              <a:ext uri="{FF2B5EF4-FFF2-40B4-BE49-F238E27FC236}">
                <a16:creationId xmlns:a16="http://schemas.microsoft.com/office/drawing/2014/main" id="{32562B24-0CD0-40F3-AA22-8769F801AEE1}"/>
              </a:ext>
            </a:extLst>
          </p:cNvPr>
          <p:cNvSpPr txBox="1">
            <a:spLocks/>
          </p:cNvSpPr>
          <p:nvPr/>
        </p:nvSpPr>
        <p:spPr>
          <a:xfrm>
            <a:off x="321577" y="1033733"/>
            <a:ext cx="11870423" cy="53754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lang="zh-TW" altLang="en-US" sz="2400" dirty="0">
                <a:ea typeface="標楷體" panose="03000509000000000000" pitchFamily="65" charset="-120"/>
              </a:rPr>
              <a:t>提高語音辨識的準確度</a:t>
            </a:r>
            <a:endParaRPr lang="en-US" altLang="zh-TW" sz="2400" dirty="0">
              <a:ea typeface="標楷體" panose="03000509000000000000" pitchFamily="65" charset="-120"/>
            </a:endParaRPr>
          </a:p>
          <a:p>
            <a:pPr>
              <a:lnSpc>
                <a:spcPct val="120000"/>
              </a:lnSpc>
            </a:pPr>
            <a:r>
              <a:rPr lang="zh-TW" altLang="en-US" sz="2400" dirty="0">
                <a:ea typeface="標楷體" panose="03000509000000000000" pitchFamily="65" charset="-120"/>
              </a:rPr>
              <a:t>補足其他語音辨識的實驗</a:t>
            </a:r>
            <a:endParaRPr lang="en-US" altLang="zh-TW" sz="2400" dirty="0">
              <a:ea typeface="標楷體" panose="03000509000000000000" pitchFamily="65" charset="-120"/>
            </a:endParaRPr>
          </a:p>
          <a:p>
            <a:pPr>
              <a:lnSpc>
                <a:spcPct val="120000"/>
              </a:lnSpc>
            </a:pPr>
            <a:r>
              <a:rPr lang="zh-TW" altLang="en-US" sz="2400" dirty="0">
                <a:ea typeface="標楷體" panose="03000509000000000000" pitchFamily="65" charset="-120"/>
              </a:rPr>
              <a:t>比較使用不同 </a:t>
            </a:r>
            <a:r>
              <a:rPr lang="en-US" altLang="zh-TW" sz="2400" dirty="0">
                <a:ea typeface="標楷體" panose="03000509000000000000" pitchFamily="65" charset="-120"/>
              </a:rPr>
              <a:t>WER</a:t>
            </a:r>
            <a:r>
              <a:rPr lang="zh-TW" altLang="en-US" sz="2400" dirty="0">
                <a:ea typeface="標楷體" panose="03000509000000000000" pitchFamily="65" charset="-120"/>
              </a:rPr>
              <a:t> 的語音辨識訪談文本的訓練結果</a:t>
            </a:r>
            <a:endParaRPr lang="en-US" altLang="zh-TW" sz="2400" dirty="0">
              <a:ea typeface="標楷體" panose="03000509000000000000" pitchFamily="65" charset="-120"/>
            </a:endParaRPr>
          </a:p>
          <a:p>
            <a:pPr>
              <a:lnSpc>
                <a:spcPct val="100000"/>
              </a:lnSpc>
            </a:pPr>
            <a:endParaRPr lang="en-US" altLang="zh-TW" sz="2000" dirty="0">
              <a:ea typeface="標楷體" panose="03000509000000000000" pitchFamily="65" charset="-120"/>
            </a:endParaRPr>
          </a:p>
          <a:p>
            <a:pPr>
              <a:lnSpc>
                <a:spcPct val="100000"/>
              </a:lnSpc>
            </a:pPr>
            <a:endParaRPr lang="en-US" altLang="zh-TW" sz="2000" dirty="0">
              <a:ea typeface="標楷體" panose="03000509000000000000" pitchFamily="65" charset="-120"/>
            </a:endParaRPr>
          </a:p>
        </p:txBody>
      </p:sp>
    </p:spTree>
    <p:extLst>
      <p:ext uri="{BB962C8B-B14F-4D97-AF65-F5344CB8AC3E}">
        <p14:creationId xmlns:p14="http://schemas.microsoft.com/office/powerpoint/2010/main" val="3070905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52C9CFC8-97B7-40C2-88BC-4B89FD014CD9}"/>
              </a:ext>
            </a:extLst>
          </p:cNvPr>
          <p:cNvSpPr>
            <a:spLocks noGrp="1"/>
          </p:cNvSpPr>
          <p:nvPr>
            <p:ph type="title"/>
          </p:nvPr>
        </p:nvSpPr>
        <p:spPr>
          <a:xfrm>
            <a:off x="321577" y="18255"/>
            <a:ext cx="11744588" cy="1325563"/>
          </a:xfrm>
        </p:spPr>
        <p:txBody>
          <a:bodyPr>
            <a:normAutofit/>
          </a:bodyPr>
          <a:lstStyle/>
          <a:p>
            <a:r>
              <a:rPr lang="zh-TW" altLang="en-US" sz="3200" dirty="0">
                <a:latin typeface="Calibri" panose="020F0502020204030204" pitchFamily="34" charset="0"/>
                <a:ea typeface="標楷體" panose="03000509000000000000" pitchFamily="65" charset="-120"/>
                <a:cs typeface="Calibri" panose="020F0502020204030204" pitchFamily="34" charset="0"/>
              </a:rPr>
              <a:t>實驗使用模型</a:t>
            </a:r>
            <a:r>
              <a:rPr lang="en-US" altLang="zh-TW" sz="3200" dirty="0">
                <a:latin typeface="Calibri" panose="020F0502020204030204" pitchFamily="34" charset="0"/>
                <a:ea typeface="標楷體" panose="03000509000000000000" pitchFamily="65" charset="-120"/>
                <a:cs typeface="Calibri" panose="020F0502020204030204" pitchFamily="34" charset="0"/>
              </a:rPr>
              <a:t>– PHQ8 score prediction</a:t>
            </a:r>
            <a:r>
              <a:rPr lang="zh-TW" altLang="en-US" sz="3200" dirty="0">
                <a:latin typeface="Calibri" panose="020F0502020204030204" pitchFamily="34" charset="0"/>
                <a:ea typeface="標楷體" panose="03000509000000000000" pitchFamily="65" charset="-120"/>
                <a:cs typeface="Calibri" panose="020F0502020204030204" pitchFamily="34" charset="0"/>
              </a:rPr>
              <a:t>、</a:t>
            </a:r>
            <a:r>
              <a:rPr lang="en-US" altLang="zh-TW" sz="3200" dirty="0">
                <a:latin typeface="Calibri" panose="020F0502020204030204" pitchFamily="34" charset="0"/>
                <a:ea typeface="標楷體" panose="03000509000000000000" pitchFamily="65" charset="-120"/>
                <a:cs typeface="Calibri" panose="020F0502020204030204" pitchFamily="34" charset="0"/>
              </a:rPr>
              <a:t>Depression Detection</a:t>
            </a:r>
            <a:endParaRPr lang="zh-TW" altLang="en-US" sz="3200" dirty="0">
              <a:latin typeface="Calibri" panose="020F0502020204030204" pitchFamily="34" charset="0"/>
              <a:ea typeface="標楷體" panose="03000509000000000000" pitchFamily="65" charset="-120"/>
              <a:cs typeface="Calibri" panose="020F0502020204030204" pitchFamily="34" charset="0"/>
            </a:endParaRPr>
          </a:p>
        </p:txBody>
      </p:sp>
      <p:sp>
        <p:nvSpPr>
          <p:cNvPr id="8" name="內容版面配置區 2">
            <a:extLst>
              <a:ext uri="{FF2B5EF4-FFF2-40B4-BE49-F238E27FC236}">
                <a16:creationId xmlns:a16="http://schemas.microsoft.com/office/drawing/2014/main" id="{C790674B-9EC5-4D00-A32E-9E8F49D8D015}"/>
              </a:ext>
            </a:extLst>
          </p:cNvPr>
          <p:cNvSpPr txBox="1">
            <a:spLocks/>
          </p:cNvSpPr>
          <p:nvPr/>
        </p:nvSpPr>
        <p:spPr>
          <a:xfrm>
            <a:off x="838199" y="1456508"/>
            <a:ext cx="10515600" cy="5313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lnSpc>
                <a:spcPct val="100000"/>
              </a:lnSpc>
              <a:buNone/>
            </a:pPr>
            <a:endParaRPr lang="en-US" altLang="zh-TW"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marL="0" indent="0">
              <a:lnSpc>
                <a:spcPct val="100000"/>
              </a:lnSpc>
              <a:buNone/>
            </a:pPr>
            <a:endParaRPr lang="en-US" altLang="zh-TW" sz="2400" dirty="0">
              <a:ea typeface="標楷體" panose="03000509000000000000" pitchFamily="65" charset="-120"/>
            </a:endParaRPr>
          </a:p>
        </p:txBody>
      </p:sp>
      <p:sp>
        <p:nvSpPr>
          <p:cNvPr id="9" name="內容版面配置區 2">
            <a:extLst>
              <a:ext uri="{FF2B5EF4-FFF2-40B4-BE49-F238E27FC236}">
                <a16:creationId xmlns:a16="http://schemas.microsoft.com/office/drawing/2014/main" id="{89D7743D-A038-42D5-A08A-57BCFCBC10B9}"/>
              </a:ext>
            </a:extLst>
          </p:cNvPr>
          <p:cNvSpPr txBox="1">
            <a:spLocks/>
          </p:cNvSpPr>
          <p:nvPr/>
        </p:nvSpPr>
        <p:spPr>
          <a:xfrm>
            <a:off x="838199" y="1343818"/>
            <a:ext cx="10515600" cy="5313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altLang="zh-TW"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a:lnSpc>
                <a:spcPct val="100000"/>
              </a:lnSpc>
            </a:pPr>
            <a:endParaRPr lang="en-US" altLang="zh-TW" sz="2400" dirty="0">
              <a:ea typeface="標楷體" panose="03000509000000000000" pitchFamily="65" charset="-120"/>
            </a:endParaRPr>
          </a:p>
          <a:p>
            <a:pPr marL="0" indent="0">
              <a:lnSpc>
                <a:spcPct val="100000"/>
              </a:lnSpc>
              <a:buNone/>
            </a:pPr>
            <a:endParaRPr lang="en-US" altLang="zh-TW" sz="2400" dirty="0">
              <a:ea typeface="標楷體" panose="03000509000000000000" pitchFamily="65" charset="-120"/>
            </a:endParaRPr>
          </a:p>
        </p:txBody>
      </p:sp>
      <p:pic>
        <p:nvPicPr>
          <p:cNvPr id="4" name="圖片 3">
            <a:extLst>
              <a:ext uri="{FF2B5EF4-FFF2-40B4-BE49-F238E27FC236}">
                <a16:creationId xmlns:a16="http://schemas.microsoft.com/office/drawing/2014/main" id="{41A3C039-37AF-455F-96FC-FB1173BC404F}"/>
              </a:ext>
            </a:extLst>
          </p:cNvPr>
          <p:cNvPicPr>
            <a:picLocks noChangeAspect="1"/>
          </p:cNvPicPr>
          <p:nvPr/>
        </p:nvPicPr>
        <p:blipFill>
          <a:blip r:embed="rId3"/>
          <a:stretch>
            <a:fillRect/>
          </a:stretch>
        </p:blipFill>
        <p:spPr>
          <a:xfrm>
            <a:off x="0" y="1008114"/>
            <a:ext cx="12192000" cy="4284321"/>
          </a:xfrm>
          <a:prstGeom prst="rect">
            <a:avLst/>
          </a:prstGeom>
        </p:spPr>
      </p:pic>
      <p:pic>
        <p:nvPicPr>
          <p:cNvPr id="11" name="圖片 10">
            <a:extLst>
              <a:ext uri="{FF2B5EF4-FFF2-40B4-BE49-F238E27FC236}">
                <a16:creationId xmlns:a16="http://schemas.microsoft.com/office/drawing/2014/main" id="{83D1C0DD-A2A2-4D8B-8828-63972E2DCF42}"/>
              </a:ext>
            </a:extLst>
          </p:cNvPr>
          <p:cNvPicPr>
            <a:picLocks noChangeAspect="1"/>
          </p:cNvPicPr>
          <p:nvPr/>
        </p:nvPicPr>
        <p:blipFill>
          <a:blip r:embed="rId4"/>
          <a:stretch>
            <a:fillRect/>
          </a:stretch>
        </p:blipFill>
        <p:spPr>
          <a:xfrm>
            <a:off x="712364" y="1078476"/>
            <a:ext cx="3390900" cy="1895475"/>
          </a:xfrm>
          <a:prstGeom prst="rect">
            <a:avLst/>
          </a:prstGeom>
        </p:spPr>
      </p:pic>
      <p:pic>
        <p:nvPicPr>
          <p:cNvPr id="13" name="圖片 12">
            <a:extLst>
              <a:ext uri="{FF2B5EF4-FFF2-40B4-BE49-F238E27FC236}">
                <a16:creationId xmlns:a16="http://schemas.microsoft.com/office/drawing/2014/main" id="{E208684D-D103-42BA-9BAC-64E55FA35442}"/>
              </a:ext>
            </a:extLst>
          </p:cNvPr>
          <p:cNvPicPr>
            <a:picLocks noChangeAspect="1"/>
          </p:cNvPicPr>
          <p:nvPr/>
        </p:nvPicPr>
        <p:blipFill>
          <a:blip r:embed="rId5"/>
          <a:stretch>
            <a:fillRect/>
          </a:stretch>
        </p:blipFill>
        <p:spPr>
          <a:xfrm>
            <a:off x="412326" y="4847475"/>
            <a:ext cx="3990975" cy="1809750"/>
          </a:xfrm>
          <a:prstGeom prst="rect">
            <a:avLst/>
          </a:prstGeom>
        </p:spPr>
      </p:pic>
    </p:spTree>
    <p:extLst>
      <p:ext uri="{BB962C8B-B14F-4D97-AF65-F5344CB8AC3E}">
        <p14:creationId xmlns:p14="http://schemas.microsoft.com/office/powerpoint/2010/main" val="156548986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529</Words>
  <Application>Microsoft Office PowerPoint</Application>
  <PresentationFormat>寬螢幕</PresentationFormat>
  <Paragraphs>107</Paragraphs>
  <Slides>7</Slides>
  <Notes>7</Notes>
  <HiddenSlides>0</HiddenSlides>
  <MMClips>0</MMClips>
  <ScaleCrop>false</ScaleCrop>
  <HeadingPairs>
    <vt:vector size="8" baseType="variant">
      <vt:variant>
        <vt:lpstr>使用字型</vt:lpstr>
      </vt:variant>
      <vt:variant>
        <vt:i4>4</vt:i4>
      </vt:variant>
      <vt:variant>
        <vt:lpstr>佈景主題</vt:lpstr>
      </vt:variant>
      <vt:variant>
        <vt:i4>1</vt:i4>
      </vt:variant>
      <vt:variant>
        <vt:lpstr>內嵌 OLE 伺服程式</vt:lpstr>
      </vt:variant>
      <vt:variant>
        <vt:i4>1</vt:i4>
      </vt:variant>
      <vt:variant>
        <vt:lpstr>投影片標題</vt:lpstr>
      </vt:variant>
      <vt:variant>
        <vt:i4>7</vt:i4>
      </vt:variant>
    </vt:vector>
  </HeadingPairs>
  <TitlesOfParts>
    <vt:vector size="13" baseType="lpstr">
      <vt:lpstr>-apple-system</vt:lpstr>
      <vt:lpstr>Arial</vt:lpstr>
      <vt:lpstr>Calibri</vt:lpstr>
      <vt:lpstr>Calibri Light</vt:lpstr>
      <vt:lpstr>Office 佈景主題</vt:lpstr>
      <vt:lpstr>Microsoft Excel 工作表</vt:lpstr>
      <vt:lpstr>2025/05/13 Meeting Report</vt:lpstr>
      <vt:lpstr>實驗目的</vt:lpstr>
      <vt:lpstr>實驗內容</vt:lpstr>
      <vt:lpstr>實驗資料集</vt:lpstr>
      <vt:lpstr>重跑實驗結果</vt:lpstr>
      <vt:lpstr>後續實驗</vt:lpstr>
      <vt:lpstr>實驗使用模型– PHQ8 score prediction、Depression Detection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2025/05/06 Meeting Report</dc:title>
  <dc:creator>嘉均 簡</dc:creator>
  <cp:lastModifiedBy>嘉均 簡</cp:lastModifiedBy>
  <cp:revision>20</cp:revision>
  <dcterms:created xsi:type="dcterms:W3CDTF">2025-05-06T02:09:24Z</dcterms:created>
  <dcterms:modified xsi:type="dcterms:W3CDTF">2025-05-23T04:20:51Z</dcterms:modified>
</cp:coreProperties>
</file>