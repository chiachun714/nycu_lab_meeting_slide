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332" r:id="rId3"/>
    <p:sldId id="333" r:id="rId4"/>
    <p:sldId id="318" r:id="rId5"/>
    <p:sldId id="327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898D86-35FF-464B-AC5C-0F9C48D31A33}" type="datetimeFigureOut">
              <a:rPr lang="zh-TW" altLang="en-US" smtClean="0"/>
              <a:t>2025/6/17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7548D5-B13F-4393-8625-D40F8EEA07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6400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A43A8-D8AF-4A57-B3C3-ACEB87B86596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4003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12493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39565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87104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7557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42F662-7FAF-4F67-9DDB-4BC0D7651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DA0C418-D836-4B50-96D2-D4283C207E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F9035AC-8595-47ED-B2BE-9B2E49D98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58C6-0365-4CD3-897F-D9D1292AB17F}" type="datetimeFigureOut">
              <a:rPr lang="zh-TW" altLang="en-US" smtClean="0"/>
              <a:t>2025/6/17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406265D-C728-4478-A153-930586826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FE9274F-DE70-4762-ADFE-706AC6520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91A8-B001-4A41-8F87-1BE2A7D67E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6924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6BA4C2-2B18-4743-8464-A6D4A9F3A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64F73AB-0B9A-49FA-8503-389ABE431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1564C26-22AC-45CF-BC1E-61D0A4BF3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58C6-0365-4CD3-897F-D9D1292AB17F}" type="datetimeFigureOut">
              <a:rPr lang="zh-TW" altLang="en-US" smtClean="0"/>
              <a:t>2025/6/17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A4569B7-0C69-423F-A33D-B83DA612F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986E0AC-D461-495F-AE0B-A79885123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91A8-B001-4A41-8F87-1BE2A7D67E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3444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6C204A-5240-4D95-9841-D249EDD28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A278C1A-36E7-4CF7-B4D8-1A52F5C546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3A95DF1-87FF-4F0A-AA1B-280ADBDAB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58C6-0365-4CD3-897F-D9D1292AB17F}" type="datetimeFigureOut">
              <a:rPr lang="zh-TW" altLang="en-US" smtClean="0"/>
              <a:t>2025/6/17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484F1B8-4BE9-482D-BE56-DB702C05C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DAB2B5-9939-4A74-963A-589A0D7B8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91A8-B001-4A41-8F87-1BE2A7D67E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0107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9D912E-82DC-4AD3-BF8E-BD1B8EED6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76CB662-73C8-457B-8E2F-7797747C51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1B654CA-BBBE-4F3E-B481-66ECD06606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9930A80-CBED-409A-972B-7777B803F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58C6-0365-4CD3-897F-D9D1292AB17F}" type="datetimeFigureOut">
              <a:rPr lang="zh-TW" altLang="en-US" smtClean="0"/>
              <a:t>2025/6/17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B2FB27D-8EF6-442E-8F3F-D99276FED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DFD760C-0D86-4E79-ADB8-F4BFC7CFB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91A8-B001-4A41-8F87-1BE2A7D67E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641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1ED89C-49B7-49A5-8935-B7DAC9632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24317DB-4057-4CBA-9055-89B63FE6B1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DE2B698-D483-446F-8082-4E6AF9FF56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6E372D1-97C4-4ECD-813F-C7D3435A09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C0AA514-78DB-4DF4-8AB8-62E8D56F8C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7CBDF13-7D65-497F-B175-EC7B92909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58C6-0365-4CD3-897F-D9D1292AB17F}" type="datetimeFigureOut">
              <a:rPr lang="zh-TW" altLang="en-US" smtClean="0"/>
              <a:t>2025/6/17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A75A8D8-1080-4A3C-8406-A844B5D40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6F6572ED-A949-4494-88FA-84FDF6D26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91A8-B001-4A41-8F87-1BE2A7D67E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1413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29277C-6583-4932-970A-38D4F3ECB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19D2B3A-AB22-453C-891B-548E58FA7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58C6-0365-4CD3-897F-D9D1292AB17F}" type="datetimeFigureOut">
              <a:rPr lang="zh-TW" altLang="en-US" smtClean="0"/>
              <a:t>2025/6/17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84AF9BA-ECC0-4FB9-BB5F-300566802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B3DB565-CCD5-49B4-816C-20BF7D5B0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91A8-B001-4A41-8F87-1BE2A7D67E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9715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05F4EEA-C383-426E-A5B6-6F8DB0CED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58C6-0365-4CD3-897F-D9D1292AB17F}" type="datetimeFigureOut">
              <a:rPr lang="zh-TW" altLang="en-US" smtClean="0"/>
              <a:t>2025/6/17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F50223D-1F1F-4344-AEE9-69C62ACDA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84396E3-4A32-4FBB-B477-F4944742C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91A8-B001-4A41-8F87-1BE2A7D67E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1305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A45FB0-7A5F-47CA-84F9-41345FEB6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6EEDB21-4A6E-48CE-B0F8-D705E688AA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70A9D69-9DB8-4E0F-BF2E-75EED1A1B0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D52267A-077F-41AE-AEBF-16D86CA32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58C6-0365-4CD3-897F-D9D1292AB17F}" type="datetimeFigureOut">
              <a:rPr lang="zh-TW" altLang="en-US" smtClean="0"/>
              <a:t>2025/6/17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559B22C-CC64-458D-85C9-6E6A630CB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D5DA022-29EC-4188-9566-E559468E2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91A8-B001-4A41-8F87-1BE2A7D67E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1232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F34FB3-C332-47EC-B6E2-D87DC68A6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07C1733-2985-4EE2-BC31-1AB0DC3333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4F9132B-6342-464C-A6FE-44F86CAC9A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B7D581A-9532-4EA8-A8CF-589B77292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58C6-0365-4CD3-897F-D9D1292AB17F}" type="datetimeFigureOut">
              <a:rPr lang="zh-TW" altLang="en-US" smtClean="0"/>
              <a:t>2025/6/17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3FC74B2-92BC-4EE5-A93C-F5208DF2D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BE7E4B0-26CC-4BE5-9333-195CA3A6B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91A8-B001-4A41-8F87-1BE2A7D67E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0838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B31BDC-65B0-43C9-9DC9-549C25EA5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3D8F7EA-1AF6-4682-8FD4-7C78AB1E7E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3EAC032-5EAE-4B93-94D6-F39115688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58C6-0365-4CD3-897F-D9D1292AB17F}" type="datetimeFigureOut">
              <a:rPr lang="zh-TW" altLang="en-US" smtClean="0"/>
              <a:t>2025/6/17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A6F23B9-25A2-4DD1-B67B-4FD07EA21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1D363E9-15CA-4B6C-92BB-EA449FAAB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91A8-B001-4A41-8F87-1BE2A7D67E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9500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335FF0E-1199-4F11-BA47-C27A538B9E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534B4EE-0D05-4266-99A0-BE73C4CCF1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CB8AC70-FBF7-45E9-A949-46D4A534D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58C6-0365-4CD3-897F-D9D1292AB17F}" type="datetimeFigureOut">
              <a:rPr lang="zh-TW" altLang="en-US" smtClean="0"/>
              <a:t>2025/6/17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C5B795C-69C1-4230-A473-BE1382B5D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9FBDD8B-61AC-4729-B741-4F0F62F71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91A8-B001-4A41-8F87-1BE2A7D67E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4155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759509F-E024-4EFF-B447-B00922B6D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6F2C4D7-54D0-4598-8D0F-242FF0500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9258BC0-C5DD-4A79-AA63-52E0EBA439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2558C6-0365-4CD3-897F-D9D1292AB17F}" type="datetimeFigureOut">
              <a:rPr lang="zh-TW" altLang="en-US" smtClean="0"/>
              <a:t>2025/6/17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D37587-747E-48D7-90AC-E3DE9DFEB1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8293475-DF23-413C-A0F9-36EAF2E067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C991A8-B001-4A41-8F87-1BE2A7D67E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809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emf"/><Relationship Id="rId4" Type="http://schemas.openxmlformats.org/officeDocument/2006/relationships/package" Target="../embeddings/Microsoft_Excel_Worksheet.xlsx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.emf"/><Relationship Id="rId4" Type="http://schemas.openxmlformats.org/officeDocument/2006/relationships/package" Target="../embeddings/Microsoft_Excel_Worksheet1.xlsx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F6782A-F7CF-4A5C-9F5E-8B26F42F92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0421" y="1041400"/>
            <a:ext cx="10631155" cy="2387600"/>
          </a:xfrm>
        </p:spPr>
        <p:txBody>
          <a:bodyPr>
            <a:normAutofit/>
          </a:bodyPr>
          <a:lstStyle/>
          <a:p>
            <a:r>
              <a:rPr lang="en-US" altLang="zh-TW" sz="4400" b="1" dirty="0"/>
              <a:t>2025/06/17</a:t>
            </a:r>
            <a:r>
              <a:rPr lang="zh-TW" altLang="en-US" sz="4400" b="1" dirty="0"/>
              <a:t> </a:t>
            </a:r>
            <a:r>
              <a:rPr lang="en-US" altLang="zh-TW" sz="4400" b="1" dirty="0"/>
              <a:t>Meeting Report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27590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目前的實驗方法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033733"/>
            <a:ext cx="11870423" cy="5375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H→H</a:t>
            </a:r>
            <a:r>
              <a:rPr lang="zh-TW" altLang="en-US" sz="2400" dirty="0">
                <a:ea typeface="標楷體" panose="03000509000000000000" pitchFamily="65" charset="-120"/>
              </a:rPr>
              <a:t>：訓練使用人工標註轉錄檔，驗證與測試使用人工標註轉錄檔</a:t>
            </a:r>
          </a:p>
          <a:p>
            <a:pPr>
              <a:lnSpc>
                <a:spcPct val="10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A→A</a:t>
            </a:r>
            <a:r>
              <a:rPr lang="zh-TW" altLang="en-US" sz="2400" dirty="0">
                <a:ea typeface="標楷體" panose="03000509000000000000" pitchFamily="65" charset="-120"/>
              </a:rPr>
              <a:t>：訓練使用</a:t>
            </a:r>
            <a:r>
              <a:rPr lang="en-US" altLang="zh-TW" sz="2400" dirty="0">
                <a:ea typeface="標楷體" panose="03000509000000000000" pitchFamily="65" charset="-120"/>
              </a:rPr>
              <a:t>ASR</a:t>
            </a:r>
            <a:r>
              <a:rPr lang="zh-TW" altLang="en-US" sz="2400" dirty="0">
                <a:ea typeface="標楷體" panose="03000509000000000000" pitchFamily="65" charset="-120"/>
              </a:rPr>
              <a:t>標註轉錄檔，驗證與測試使用</a:t>
            </a:r>
            <a:r>
              <a:rPr lang="en-US" altLang="zh-TW" sz="2400" dirty="0">
                <a:ea typeface="標楷體" panose="03000509000000000000" pitchFamily="65" charset="-120"/>
              </a:rPr>
              <a:t>ASR</a:t>
            </a:r>
            <a:r>
              <a:rPr lang="zh-TW" altLang="en-US" sz="2400" dirty="0">
                <a:ea typeface="標楷體" panose="03000509000000000000" pitchFamily="65" charset="-120"/>
              </a:rPr>
              <a:t>標註轉錄檔</a:t>
            </a: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  <p:graphicFrame>
        <p:nvGraphicFramePr>
          <p:cNvPr id="11" name="物件 10">
            <a:extLst>
              <a:ext uri="{FF2B5EF4-FFF2-40B4-BE49-F238E27FC236}">
                <a16:creationId xmlns:a16="http://schemas.microsoft.com/office/drawing/2014/main" id="{CDB5AA50-E4D9-4FDC-AC51-3A36C77D2E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7533713"/>
              </p:ext>
            </p:extLst>
          </p:nvPr>
        </p:nvGraphicFramePr>
        <p:xfrm>
          <a:off x="1300161" y="2273921"/>
          <a:ext cx="9591675" cy="1068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Worksheet" r:id="rId4" imgW="5724390" imgH="638286" progId="Excel.Sheet.12">
                  <p:embed/>
                </p:oleObj>
              </mc:Choice>
              <mc:Fallback>
                <p:oleObj name="Worksheet" r:id="rId4" imgW="5724390" imgH="638286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300161" y="2273921"/>
                        <a:ext cx="9591675" cy="1068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89338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6"/>
            <a:ext cx="11744588" cy="1015478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接下來的實驗方向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033733"/>
            <a:ext cx="11870423" cy="5375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Cross-Domain </a:t>
            </a:r>
            <a:r>
              <a:rPr lang="zh-TW" altLang="en-US" sz="2400" dirty="0">
                <a:ea typeface="標楷體" panose="03000509000000000000" pitchFamily="65" charset="-120"/>
              </a:rPr>
              <a:t>（交叉資料）實驗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 lvl="1">
              <a:lnSpc>
                <a:spcPct val="120000"/>
              </a:lnSpc>
            </a:pPr>
            <a:r>
              <a:rPr lang="en-US" altLang="zh-TW" sz="2000" dirty="0">
                <a:ea typeface="標楷體" panose="03000509000000000000" pitchFamily="65" charset="-120"/>
              </a:rPr>
              <a:t>H→A</a:t>
            </a:r>
            <a:r>
              <a:rPr lang="zh-TW" altLang="en-US" sz="2000" dirty="0">
                <a:ea typeface="標楷體" panose="03000509000000000000" pitchFamily="65" charset="-120"/>
              </a:rPr>
              <a:t>：訓練使用人工標註轉錄檔，驗證與測試使用</a:t>
            </a:r>
            <a:r>
              <a:rPr lang="en-US" altLang="zh-TW" sz="2000" dirty="0">
                <a:ea typeface="標楷體" panose="03000509000000000000" pitchFamily="65" charset="-120"/>
              </a:rPr>
              <a:t>ASR</a:t>
            </a:r>
            <a:r>
              <a:rPr lang="zh-TW" altLang="en-US" sz="2000" dirty="0">
                <a:ea typeface="標楷體" panose="03000509000000000000" pitchFamily="65" charset="-120"/>
              </a:rPr>
              <a:t>標註轉錄檔</a:t>
            </a:r>
            <a:endParaRPr lang="en-US" altLang="zh-TW" sz="2000" dirty="0">
              <a:ea typeface="標楷體" panose="03000509000000000000" pitchFamily="65" charset="-120"/>
            </a:endParaRPr>
          </a:p>
          <a:p>
            <a:pPr lvl="2">
              <a:lnSpc>
                <a:spcPct val="120000"/>
              </a:lnSpc>
            </a:pPr>
            <a:r>
              <a:rPr lang="zh-TW" altLang="en-US" b="1" dirty="0">
                <a:ea typeface="標楷體" panose="03000509000000000000" pitchFamily="65" charset="-120"/>
              </a:rPr>
              <a:t>測試能不能比 </a:t>
            </a:r>
            <a:r>
              <a:rPr lang="en-US" altLang="zh-TW" b="1" dirty="0">
                <a:ea typeface="標楷體" panose="03000509000000000000" pitchFamily="65" charset="-120"/>
              </a:rPr>
              <a:t>A</a:t>
            </a:r>
            <a:r>
              <a:rPr lang="en-US" altLang="zh-TW" sz="2000" b="1" dirty="0">
                <a:ea typeface="標楷體" panose="03000509000000000000" pitchFamily="65" charset="-120"/>
              </a:rPr>
              <a:t>→A</a:t>
            </a:r>
            <a:r>
              <a:rPr lang="zh-TW" altLang="en-US" sz="2000" b="1" dirty="0">
                <a:ea typeface="標楷體" panose="03000509000000000000" pitchFamily="65" charset="-120"/>
              </a:rPr>
              <a:t> 好</a:t>
            </a:r>
            <a:endParaRPr lang="en-US" altLang="zh-TW" b="1" dirty="0">
              <a:ea typeface="標楷體" panose="03000509000000000000" pitchFamily="65" charset="-120"/>
            </a:endParaRPr>
          </a:p>
          <a:p>
            <a:pPr lvl="1">
              <a:lnSpc>
                <a:spcPct val="120000"/>
              </a:lnSpc>
            </a:pPr>
            <a:r>
              <a:rPr lang="en-US" altLang="zh-TW" sz="2000" dirty="0">
                <a:ea typeface="標楷體" panose="03000509000000000000" pitchFamily="65" charset="-120"/>
              </a:rPr>
              <a:t>A→H</a:t>
            </a:r>
            <a:r>
              <a:rPr lang="zh-TW" altLang="en-US" sz="2000" dirty="0">
                <a:ea typeface="標楷體" panose="03000509000000000000" pitchFamily="65" charset="-120"/>
              </a:rPr>
              <a:t>：訓練使用</a:t>
            </a:r>
            <a:r>
              <a:rPr lang="en-US" altLang="zh-TW" sz="2000" dirty="0">
                <a:ea typeface="標楷體" panose="03000509000000000000" pitchFamily="65" charset="-120"/>
              </a:rPr>
              <a:t>ASR</a:t>
            </a:r>
            <a:r>
              <a:rPr lang="zh-TW" altLang="en-US" sz="2000" dirty="0">
                <a:ea typeface="標楷體" panose="03000509000000000000" pitchFamily="65" charset="-120"/>
              </a:rPr>
              <a:t>標註轉錄檔，驗證與測試使用人工標註轉錄檔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比較不同的</a:t>
            </a:r>
            <a:r>
              <a:rPr lang="en-US" altLang="zh-TW" sz="2400" dirty="0">
                <a:ea typeface="標楷體" panose="03000509000000000000" pitchFamily="65" charset="-120"/>
              </a:rPr>
              <a:t>ASR</a:t>
            </a:r>
            <a:r>
              <a:rPr lang="zh-TW" altLang="en-US" sz="2400" dirty="0">
                <a:ea typeface="標楷體" panose="03000509000000000000" pitchFamily="65" charset="-120"/>
              </a:rPr>
              <a:t>模型產生的轉錄檔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 lvl="1">
              <a:lnSpc>
                <a:spcPct val="120000"/>
              </a:lnSpc>
            </a:pPr>
            <a:r>
              <a:rPr lang="en-US" altLang="zh-TW" sz="2000" dirty="0">
                <a:ea typeface="標楷體" panose="03000509000000000000" pitchFamily="65" charset="-120"/>
              </a:rPr>
              <a:t>Whisper: Tiny</a:t>
            </a:r>
            <a:r>
              <a:rPr lang="zh-TW" altLang="en-US" sz="2000" dirty="0">
                <a:ea typeface="標楷體" panose="03000509000000000000" pitchFamily="65" charset="-120"/>
              </a:rPr>
              <a:t>、</a:t>
            </a:r>
            <a:r>
              <a:rPr lang="en-US" altLang="zh-TW" sz="2000" dirty="0">
                <a:ea typeface="標楷體" panose="03000509000000000000" pitchFamily="65" charset="-120"/>
              </a:rPr>
              <a:t>base</a:t>
            </a:r>
            <a:r>
              <a:rPr lang="zh-TW" altLang="en-US" sz="2000" dirty="0">
                <a:ea typeface="標楷體" panose="03000509000000000000" pitchFamily="65" charset="-120"/>
              </a:rPr>
              <a:t>、</a:t>
            </a:r>
            <a:r>
              <a:rPr lang="en-US" altLang="zh-TW" sz="2000" dirty="0">
                <a:ea typeface="標楷體" panose="03000509000000000000" pitchFamily="65" charset="-120"/>
              </a:rPr>
              <a:t>small</a:t>
            </a:r>
            <a:r>
              <a:rPr lang="zh-TW" altLang="en-US" sz="2000" dirty="0">
                <a:ea typeface="標楷體" panose="03000509000000000000" pitchFamily="65" charset="-120"/>
              </a:rPr>
              <a:t>、</a:t>
            </a:r>
            <a:r>
              <a:rPr lang="en-US" altLang="zh-TW" sz="2000" dirty="0">
                <a:ea typeface="標楷體" panose="03000509000000000000" pitchFamily="65" charset="-120"/>
              </a:rPr>
              <a:t>medium</a:t>
            </a:r>
            <a:r>
              <a:rPr lang="zh-TW" altLang="en-US" sz="2000" dirty="0">
                <a:ea typeface="標楷體" panose="03000509000000000000" pitchFamily="65" charset="-120"/>
              </a:rPr>
              <a:t>、</a:t>
            </a:r>
            <a:r>
              <a:rPr lang="en-US" altLang="zh-TW" sz="2000" dirty="0">
                <a:ea typeface="標楷體" panose="03000509000000000000" pitchFamily="65" charset="-120"/>
              </a:rPr>
              <a:t>large</a:t>
            </a:r>
          </a:p>
          <a:p>
            <a:pPr lvl="1">
              <a:lnSpc>
                <a:spcPct val="120000"/>
              </a:lnSpc>
            </a:pPr>
            <a:r>
              <a:rPr lang="en-US" altLang="zh-TW" sz="2000" dirty="0">
                <a:ea typeface="標楷體" panose="03000509000000000000" pitchFamily="65" charset="-120"/>
              </a:rPr>
              <a:t>Wav2Vec2.0</a:t>
            </a:r>
          </a:p>
          <a:p>
            <a:pPr lvl="1">
              <a:lnSpc>
                <a:spcPct val="120000"/>
              </a:lnSpc>
            </a:pPr>
            <a:r>
              <a:rPr lang="en-US" altLang="zh-TW" sz="2000" dirty="0">
                <a:ea typeface="標楷體" panose="03000509000000000000" pitchFamily="65" charset="-120"/>
              </a:rPr>
              <a:t>NVIDIA </a:t>
            </a:r>
            <a:r>
              <a:rPr lang="en-US" altLang="zh-TW" sz="2000" dirty="0" err="1">
                <a:ea typeface="標楷體" panose="03000509000000000000" pitchFamily="65" charset="-120"/>
              </a:rPr>
              <a:t>NeMo</a:t>
            </a:r>
            <a:r>
              <a:rPr lang="en-US" altLang="zh-TW" sz="2000" dirty="0">
                <a:ea typeface="標楷體" panose="03000509000000000000" pitchFamily="65" charset="-120"/>
              </a:rPr>
              <a:t> Conformer-CTC</a:t>
            </a:r>
          </a:p>
          <a:p>
            <a:pPr lvl="1">
              <a:lnSpc>
                <a:spcPct val="120000"/>
              </a:lnSpc>
            </a:pPr>
            <a:r>
              <a:rPr lang="zh-TW" altLang="en-US" sz="2000" b="1" dirty="0">
                <a:ea typeface="標楷體" panose="03000509000000000000" pitchFamily="65" charset="-120"/>
              </a:rPr>
              <a:t>觀察文字錯誤率</a:t>
            </a:r>
            <a:r>
              <a:rPr lang="en-US" altLang="zh-TW" sz="2000" b="1" dirty="0">
                <a:ea typeface="標楷體" panose="03000509000000000000" pitchFamily="65" charset="-120"/>
              </a:rPr>
              <a:t>(WER)</a:t>
            </a:r>
            <a:r>
              <a:rPr lang="zh-TW" altLang="en-US" sz="2000" b="1" dirty="0">
                <a:ea typeface="標楷體" panose="03000509000000000000" pitchFamily="65" charset="-120"/>
              </a:rPr>
              <a:t>與測試</a:t>
            </a:r>
            <a:r>
              <a:rPr lang="en-US" altLang="zh-TW" sz="2000" b="1" dirty="0">
                <a:ea typeface="標楷體" panose="03000509000000000000" pitchFamily="65" charset="-120"/>
              </a:rPr>
              <a:t>F1</a:t>
            </a:r>
            <a:r>
              <a:rPr lang="zh-TW" altLang="en-US" sz="2000" b="1" dirty="0">
                <a:ea typeface="標楷體" panose="03000509000000000000" pitchFamily="65" charset="-120"/>
              </a:rPr>
              <a:t>的關係</a:t>
            </a:r>
            <a:endParaRPr lang="en-US" altLang="zh-TW" sz="2000" b="1" dirty="0">
              <a:ea typeface="標楷體" panose="03000509000000000000" pitchFamily="65" charset="-120"/>
            </a:endParaRPr>
          </a:p>
          <a:p>
            <a:pPr lvl="1">
              <a:lnSpc>
                <a:spcPct val="12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BD6577B5-A498-48E0-B51B-8D8C6969B0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7811148"/>
              </p:ext>
            </p:extLst>
          </p:nvPr>
        </p:nvGraphicFramePr>
        <p:xfrm>
          <a:off x="910439" y="2923567"/>
          <a:ext cx="8535568" cy="1010865"/>
        </p:xfrm>
        <a:graphic>
          <a:graphicData uri="http://schemas.openxmlformats.org/drawingml/2006/table">
            <a:tbl>
              <a:tblPr/>
              <a:tblGrid>
                <a:gridCol w="2133892">
                  <a:extLst>
                    <a:ext uri="{9D8B030D-6E8A-4147-A177-3AD203B41FA5}">
                      <a16:colId xmlns:a16="http://schemas.microsoft.com/office/drawing/2014/main" val="2608180151"/>
                    </a:ext>
                  </a:extLst>
                </a:gridCol>
                <a:gridCol w="2133892">
                  <a:extLst>
                    <a:ext uri="{9D8B030D-6E8A-4147-A177-3AD203B41FA5}">
                      <a16:colId xmlns:a16="http://schemas.microsoft.com/office/drawing/2014/main" val="172822924"/>
                    </a:ext>
                  </a:extLst>
                </a:gridCol>
                <a:gridCol w="2133892">
                  <a:extLst>
                    <a:ext uri="{9D8B030D-6E8A-4147-A177-3AD203B41FA5}">
                      <a16:colId xmlns:a16="http://schemas.microsoft.com/office/drawing/2014/main" val="2738443295"/>
                    </a:ext>
                  </a:extLst>
                </a:gridCol>
                <a:gridCol w="2133892">
                  <a:extLst>
                    <a:ext uri="{9D8B030D-6E8A-4147-A177-3AD203B41FA5}">
                      <a16:colId xmlns:a16="http://schemas.microsoft.com/office/drawing/2014/main" val="3684020191"/>
                    </a:ext>
                  </a:extLst>
                </a:gridCol>
              </a:tblGrid>
              <a:tr h="336955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實驗編號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Train set (train split)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Val &amp; Test set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挑參數與模型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011500"/>
                  </a:ext>
                </a:extLst>
              </a:tr>
              <a:tr h="3369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H→A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H</a:t>
                      </a: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uman transcript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A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SR</a:t>
                      </a: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transcript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val=</a:t>
                      </a: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A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2829982"/>
                  </a:ext>
                </a:extLst>
              </a:tr>
              <a:tr h="3369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A→H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A</a:t>
                      </a: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SR transcript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H</a:t>
                      </a: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uman transcript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val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=</a:t>
                      </a: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H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7031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9041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實驗步驟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033733"/>
            <a:ext cx="11870423" cy="5375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新的實驗資料集，</a:t>
            </a:r>
            <a:r>
              <a:rPr lang="en-US" altLang="zh-TW" sz="2400" dirty="0">
                <a:ea typeface="標楷體" panose="03000509000000000000" pitchFamily="65" charset="-120"/>
              </a:rPr>
              <a:t>DAIC-WOZ </a:t>
            </a:r>
            <a:r>
              <a:rPr lang="zh-TW" altLang="en-US" sz="2400" dirty="0">
                <a:ea typeface="標楷體" panose="03000509000000000000" pitchFamily="65" charset="-120"/>
              </a:rPr>
              <a:t>的 </a:t>
            </a:r>
            <a:r>
              <a:rPr lang="en-US" altLang="zh-TW" sz="2400" dirty="0" err="1">
                <a:ea typeface="標楷體" panose="03000509000000000000" pitchFamily="65" charset="-120"/>
              </a:rPr>
              <a:t>train_split</a:t>
            </a:r>
            <a:r>
              <a:rPr lang="en-US" altLang="zh-TW" sz="2400" dirty="0">
                <a:ea typeface="標楷體" panose="03000509000000000000" pitchFamily="65" charset="-120"/>
              </a:rPr>
              <a:t> </a:t>
            </a:r>
            <a:r>
              <a:rPr lang="zh-TW" altLang="en-US" sz="2400" dirty="0">
                <a:ea typeface="標楷體" panose="03000509000000000000" pitchFamily="65" charset="-120"/>
              </a:rPr>
              <a:t>與 </a:t>
            </a:r>
            <a:r>
              <a:rPr lang="en-US" altLang="zh-TW" sz="2400" dirty="0" err="1">
                <a:ea typeface="標楷體" panose="03000509000000000000" pitchFamily="65" charset="-120"/>
              </a:rPr>
              <a:t>dev_split</a:t>
            </a:r>
            <a:r>
              <a:rPr lang="zh-TW" altLang="en-US" sz="2400" dirty="0">
                <a:ea typeface="標楷體" panose="03000509000000000000" pitchFamily="65" charset="-120"/>
              </a:rPr>
              <a:t> 跟 </a:t>
            </a:r>
            <a:r>
              <a:rPr lang="en-US" altLang="zh-TW" sz="2400" dirty="0" err="1">
                <a:ea typeface="標楷體" panose="03000509000000000000" pitchFamily="65" charset="-120"/>
              </a:rPr>
              <a:t>test_split</a:t>
            </a:r>
            <a:endParaRPr lang="zh-TW" altLang="en-US" sz="2400" dirty="0">
              <a:ea typeface="標楷體" panose="03000509000000000000" pitchFamily="65" charset="-120"/>
            </a:endParaRPr>
          </a:p>
          <a:p>
            <a:pPr lvl="1">
              <a:lnSpc>
                <a:spcPct val="120000"/>
              </a:lnSpc>
            </a:pPr>
            <a:r>
              <a:rPr lang="en-US" altLang="zh-TW" dirty="0" err="1">
                <a:ea typeface="標楷體" panose="03000509000000000000" pitchFamily="65" charset="-120"/>
              </a:rPr>
              <a:t>Train_split</a:t>
            </a:r>
            <a:r>
              <a:rPr lang="en-US" altLang="zh-TW" dirty="0">
                <a:ea typeface="標楷體" panose="03000509000000000000" pitchFamily="65" charset="-120"/>
              </a:rPr>
              <a:t>: </a:t>
            </a:r>
            <a:r>
              <a:rPr lang="zh-TW" altLang="en-US" dirty="0">
                <a:ea typeface="標楷體" panose="03000509000000000000" pitchFamily="65" charset="-120"/>
              </a:rPr>
              <a:t>總數 </a:t>
            </a:r>
            <a:r>
              <a:rPr lang="en-US" altLang="zh-TW" dirty="0">
                <a:ea typeface="標楷體" panose="03000509000000000000" pitchFamily="65" charset="-120"/>
              </a:rPr>
              <a:t>107</a:t>
            </a:r>
            <a:r>
              <a:rPr lang="zh-TW" altLang="en-US" dirty="0">
                <a:ea typeface="標楷體" panose="03000509000000000000" pitchFamily="65" charset="-120"/>
              </a:rPr>
              <a:t>、憂鬱症 </a:t>
            </a:r>
            <a:r>
              <a:rPr lang="en-US" altLang="zh-TW" dirty="0">
                <a:ea typeface="標楷體" panose="03000509000000000000" pitchFamily="65" charset="-120"/>
              </a:rPr>
              <a:t>31</a:t>
            </a:r>
            <a:r>
              <a:rPr lang="zh-TW" altLang="en-US" dirty="0">
                <a:ea typeface="標楷體" panose="03000509000000000000" pitchFamily="65" charset="-120"/>
              </a:rPr>
              <a:t>、非憂鬱症</a:t>
            </a:r>
            <a:r>
              <a:rPr lang="en-US" altLang="zh-TW" dirty="0">
                <a:ea typeface="標楷體" panose="03000509000000000000" pitchFamily="65" charset="-120"/>
              </a:rPr>
              <a:t>76</a:t>
            </a:r>
            <a:endParaRPr lang="zh-TW" altLang="en-US" dirty="0">
              <a:ea typeface="標楷體" panose="03000509000000000000" pitchFamily="65" charset="-120"/>
            </a:endParaRPr>
          </a:p>
          <a:p>
            <a:pPr lvl="1">
              <a:lnSpc>
                <a:spcPct val="120000"/>
              </a:lnSpc>
            </a:pPr>
            <a:r>
              <a:rPr lang="en-US" altLang="zh-TW" sz="2400" dirty="0" err="1">
                <a:ea typeface="標楷體" panose="03000509000000000000" pitchFamily="65" charset="-120"/>
              </a:rPr>
              <a:t>Dev_split</a:t>
            </a:r>
            <a:r>
              <a:rPr lang="en-US" altLang="zh-TW" sz="2400" dirty="0">
                <a:ea typeface="標楷體" panose="03000509000000000000" pitchFamily="65" charset="-120"/>
              </a:rPr>
              <a:t>:</a:t>
            </a:r>
            <a:r>
              <a:rPr lang="zh-TW" altLang="en-US" sz="2400" dirty="0">
                <a:ea typeface="標楷體" panose="03000509000000000000" pitchFamily="65" charset="-120"/>
              </a:rPr>
              <a:t> </a:t>
            </a:r>
            <a:r>
              <a:rPr lang="zh-TW" altLang="en-US" dirty="0">
                <a:ea typeface="標楷體" panose="03000509000000000000" pitchFamily="65" charset="-120"/>
              </a:rPr>
              <a:t>總數 </a:t>
            </a:r>
            <a:r>
              <a:rPr lang="en-US" altLang="zh-TW" dirty="0">
                <a:ea typeface="標楷體" panose="03000509000000000000" pitchFamily="65" charset="-120"/>
              </a:rPr>
              <a:t>35</a:t>
            </a:r>
            <a:r>
              <a:rPr lang="zh-TW" altLang="en-US" dirty="0">
                <a:ea typeface="標楷體" panose="03000509000000000000" pitchFamily="65" charset="-120"/>
              </a:rPr>
              <a:t>、憂鬱症 </a:t>
            </a:r>
            <a:r>
              <a:rPr lang="en-US" altLang="zh-TW" dirty="0">
                <a:ea typeface="標楷體" panose="03000509000000000000" pitchFamily="65" charset="-120"/>
              </a:rPr>
              <a:t>12</a:t>
            </a:r>
            <a:r>
              <a:rPr lang="zh-TW" altLang="en-US" dirty="0">
                <a:ea typeface="標楷體" panose="03000509000000000000" pitchFamily="65" charset="-120"/>
              </a:rPr>
              <a:t>、非憂鬱症</a:t>
            </a:r>
            <a:r>
              <a:rPr lang="en-US" altLang="zh-TW" dirty="0">
                <a:ea typeface="標楷體" panose="03000509000000000000" pitchFamily="65" charset="-120"/>
              </a:rPr>
              <a:t>23</a:t>
            </a:r>
          </a:p>
          <a:p>
            <a:pPr lvl="1">
              <a:lnSpc>
                <a:spcPct val="120000"/>
              </a:lnSpc>
            </a:pPr>
            <a:r>
              <a:rPr lang="en-US" altLang="zh-TW" sz="2400" dirty="0" err="1">
                <a:ea typeface="標楷體" panose="03000509000000000000" pitchFamily="65" charset="-120"/>
              </a:rPr>
              <a:t>Test_split</a:t>
            </a:r>
            <a:r>
              <a:rPr lang="en-US" altLang="zh-TW" sz="2400" dirty="0">
                <a:ea typeface="標楷體" panose="03000509000000000000" pitchFamily="65" charset="-120"/>
              </a:rPr>
              <a:t>:</a:t>
            </a:r>
            <a:r>
              <a:rPr lang="zh-TW" altLang="en-US" dirty="0">
                <a:ea typeface="標楷體" panose="03000509000000000000" pitchFamily="65" charset="-120"/>
              </a:rPr>
              <a:t>總數 </a:t>
            </a:r>
            <a:r>
              <a:rPr lang="en-US" altLang="zh-TW" dirty="0">
                <a:ea typeface="標楷體" panose="03000509000000000000" pitchFamily="65" charset="-120"/>
              </a:rPr>
              <a:t>47</a:t>
            </a:r>
            <a:r>
              <a:rPr lang="zh-TW" altLang="en-US" dirty="0">
                <a:ea typeface="標楷體" panose="03000509000000000000" pitchFamily="65" charset="-120"/>
              </a:rPr>
              <a:t>、憂鬱症 </a:t>
            </a:r>
            <a:r>
              <a:rPr lang="en-US" altLang="zh-TW" dirty="0">
                <a:ea typeface="標楷體" panose="03000509000000000000" pitchFamily="65" charset="-120"/>
              </a:rPr>
              <a:t>14</a:t>
            </a:r>
            <a:r>
              <a:rPr lang="zh-TW" altLang="en-US" dirty="0">
                <a:ea typeface="標楷體" panose="03000509000000000000" pitchFamily="65" charset="-120"/>
              </a:rPr>
              <a:t>、非憂鬱症</a:t>
            </a:r>
            <a:r>
              <a:rPr lang="en-US" altLang="zh-TW" dirty="0">
                <a:ea typeface="標楷體" panose="03000509000000000000" pitchFamily="65" charset="-120"/>
              </a:rPr>
              <a:t>33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實驗數據將每個方法用 </a:t>
            </a:r>
            <a:r>
              <a:rPr lang="en-US" altLang="zh-TW" sz="2400" dirty="0">
                <a:ea typeface="標楷體" panose="03000509000000000000" pitchFamily="65" charset="-120"/>
              </a:rPr>
              <a:t>6 </a:t>
            </a:r>
            <a:r>
              <a:rPr lang="zh-TW" altLang="en-US" sz="2400" dirty="0">
                <a:ea typeface="標楷體" panose="03000509000000000000" pitchFamily="65" charset="-120"/>
              </a:rPr>
              <a:t>個種子的分數取平均 </a:t>
            </a: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B7870D25-F271-42AC-8C66-E07CBAC24C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594" y="3679511"/>
            <a:ext cx="9085977" cy="3039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516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6"/>
            <a:ext cx="11744588" cy="807152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實驗結果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graphicFrame>
        <p:nvGraphicFramePr>
          <p:cNvPr id="2" name="物件 1">
            <a:extLst>
              <a:ext uri="{FF2B5EF4-FFF2-40B4-BE49-F238E27FC236}">
                <a16:creationId xmlns:a16="http://schemas.microsoft.com/office/drawing/2014/main" id="{E23F40E5-7E92-406C-BF7F-E3786387B2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313575"/>
              </p:ext>
            </p:extLst>
          </p:nvPr>
        </p:nvGraphicFramePr>
        <p:xfrm>
          <a:off x="403225" y="825500"/>
          <a:ext cx="11080750" cy="584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3" name="Worksheet" r:id="rId4" imgW="9153477" imgH="4829273" progId="Excel.Sheet.12">
                  <p:embed/>
                </p:oleObj>
              </mc:Choice>
              <mc:Fallback>
                <p:oleObj name="Worksheet" r:id="rId4" imgW="9153477" imgH="4829273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03225" y="825500"/>
                        <a:ext cx="11080750" cy="5846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49956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</TotalTime>
  <Words>403</Words>
  <Application>Microsoft Office PowerPoint</Application>
  <PresentationFormat>寬螢幕</PresentationFormat>
  <Paragraphs>80</Paragraphs>
  <Slides>5</Slides>
  <Notes>5</Notes>
  <HiddenSlides>0</HiddenSlides>
  <MMClips>0</MMClips>
  <ScaleCrop>false</ScaleCrop>
  <HeadingPairs>
    <vt:vector size="8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2" baseType="lpstr">
      <vt:lpstr>-apple-system</vt:lpstr>
      <vt:lpstr>新細明體</vt:lpstr>
      <vt:lpstr>Arial</vt:lpstr>
      <vt:lpstr>Calibri</vt:lpstr>
      <vt:lpstr>Calibri Light</vt:lpstr>
      <vt:lpstr>Office 佈景主題</vt:lpstr>
      <vt:lpstr>Microsoft Excel 工作表</vt:lpstr>
      <vt:lpstr>2025/06/17 Meeting Report</vt:lpstr>
      <vt:lpstr>目前的實驗方法</vt:lpstr>
      <vt:lpstr>接下來的實驗方向</vt:lpstr>
      <vt:lpstr>實驗步驟</vt:lpstr>
      <vt:lpstr>實驗結果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2025/05/06 Meeting Report</dc:title>
  <dc:creator>嘉均 簡</dc:creator>
  <cp:lastModifiedBy>嘉均 簡</cp:lastModifiedBy>
  <cp:revision>33</cp:revision>
  <dcterms:created xsi:type="dcterms:W3CDTF">2025-05-06T02:09:24Z</dcterms:created>
  <dcterms:modified xsi:type="dcterms:W3CDTF">2025-06-17T03:47:03Z</dcterms:modified>
</cp:coreProperties>
</file>