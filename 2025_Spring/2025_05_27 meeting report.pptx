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29" r:id="rId3"/>
    <p:sldId id="327" r:id="rId4"/>
    <p:sldId id="326" r:id="rId5"/>
    <p:sldId id="328" r:id="rId6"/>
    <p:sldId id="325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8D86-35FF-464B-AC5C-0F9C48D31A33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548D5-B13F-4393-8625-D40F8EEA0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74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55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112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79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04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F662-7FAF-4F67-9DDB-4BC0D765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0C418-D836-4B50-96D2-D4283C20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9035AC-8595-47ED-B2BE-9B2E49D9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06265D-C728-4478-A153-93058682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9274F-DE70-4762-ADFE-706AC65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9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A4C2-2B18-4743-8464-A6D4A9F3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F73AB-0B9A-49FA-8503-389ABE43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564C26-22AC-45CF-BC1E-61D0A4BF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569B7-0C69-423F-A33D-B83DA61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6E0AC-D461-495F-AE0B-A7988512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4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204A-5240-4D95-9841-D249EDD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278C1A-36E7-4CF7-B4D8-1A52F5C5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95DF1-87FF-4F0A-AA1B-280ADBDA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4F1B8-4BE9-482D-BE56-DB702C05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AB2B5-9939-4A74-963A-589A0D7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1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D912E-82DC-4AD3-BF8E-BD1B8EE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6CB662-73C8-457B-8E2F-7797747C5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654CA-BBBE-4F3E-B481-66ECD066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30A80-CBED-409A-972B-7777B803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2FB27D-8EF6-442E-8F3F-D99276F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FD760C-0D86-4E79-ADB8-F4BFC7CF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4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ED89C-49B7-49A5-8935-B7DAC96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4317DB-4057-4CBA-9055-89B63FE6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E2B698-D483-446F-8082-4E6AF9FF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E372D1-97C4-4ECD-813F-C7D3435A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0AA514-78DB-4DF4-8AB8-62E8D56F8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CBDF13-7D65-497F-B175-EC7B9290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5A8D8-1080-4A3C-8406-A844B5D4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572ED-A949-4494-88FA-84FDF6D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41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277C-6583-4932-970A-38D4F3EC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9D2B3A-AB22-453C-891B-548E58FA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4AF9BA-ECC0-4FB9-BB5F-30056680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3DB565-CCD5-49B4-816C-20BF7D5B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7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5F4EEA-C383-426E-A5B6-6F8DB0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0223D-1F1F-4344-AEE9-69C62ACD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4396E3-4A32-4FBB-B477-F4944742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5FB0-7A5F-47CA-84F9-41345FEB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EDB21-4A6E-48CE-B0F8-D705E6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0A9D69-9DB8-4E0F-BF2E-75EED1A1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52267A-077F-41AE-AEBF-16D86CA3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B22C-CC64-458D-85C9-6E6A630C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DA022-29EC-4188-9566-E559468E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3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4FB3-C332-47EC-B6E2-D87DC68A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7C1733-2985-4EE2-BC31-1AB0DC333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132B-6342-464C-A6FE-44F86CA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7D581A-9532-4EA8-A8CF-589B772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3FC74B2-92BC-4EE5-A93C-F5208DF2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E7E4B0-26CC-4BE5-9333-195CA3A6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3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31BDC-65B0-43C9-9DC9-549C25E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D8F7EA-1AF6-4682-8FD4-7C78AB1E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EAC032-5EAE-4B93-94D6-F3911568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F23B9-25A2-4DD1-B67B-4FD07EA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363E9-15CA-4B6C-92BB-EA449FA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5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35FF0E-1199-4F11-BA47-C27A538B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34B4EE-0D05-4266-99A0-BE73C4CC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8AC70-FBF7-45E9-A949-46D4A534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B795C-69C1-4230-A473-BE1382B5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DD8B-61AC-4729-B741-4F0F62F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759509F-E024-4EFF-B447-B00922B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F2C4D7-54D0-4598-8D0F-242FF050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258BC0-C5DD-4A79-AA63-52E0EBA4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8C6-0365-4CD3-897F-D9D1292AB17F}" type="datetimeFigureOut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D37587-747E-48D7-90AC-E3DE9DFE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93475-DF23-413C-A0F9-36EAF2E06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2025/05/27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實驗內容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A:</a:t>
            </a:r>
            <a:r>
              <a:rPr lang="zh-TW" altLang="en-US" sz="2400" dirty="0">
                <a:ea typeface="標楷體" panose="03000509000000000000" pitchFamily="65" charset="-120"/>
              </a:rPr>
              <a:t> 包含 </a:t>
            </a:r>
            <a:r>
              <a:rPr lang="en-US" altLang="zh-TW" sz="2400" dirty="0" err="1">
                <a:ea typeface="標楷體" panose="03000509000000000000" pitchFamily="65" charset="-120"/>
              </a:rPr>
              <a:t>qa</a:t>
            </a:r>
            <a:r>
              <a:rPr lang="en-US" altLang="zh-TW" sz="2400" dirty="0">
                <a:ea typeface="標楷體" panose="03000509000000000000" pitchFamily="65" charset="-120"/>
              </a:rPr>
              <a:t> note</a:t>
            </a:r>
            <a:r>
              <a:rPr lang="zh-TW" altLang="en-US" sz="2400" dirty="0">
                <a:ea typeface="標楷體" panose="03000509000000000000" pitchFamily="65" charset="-120"/>
              </a:rPr>
              <a:t>，包含 </a:t>
            </a:r>
            <a:r>
              <a:rPr lang="en-US" altLang="zh-TW" sz="2400" dirty="0">
                <a:ea typeface="標楷體" panose="03000509000000000000" pitchFamily="65" charset="-120"/>
              </a:rPr>
              <a:t>non speech markers</a:t>
            </a:r>
            <a:r>
              <a:rPr lang="zh-TW" altLang="en-US" sz="2400" dirty="0">
                <a:ea typeface="標楷體" panose="03000509000000000000" pitchFamily="65" charset="-120"/>
              </a:rPr>
              <a:t> 的訪談文本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B:</a:t>
            </a:r>
            <a:r>
              <a:rPr lang="zh-TW" altLang="en-US" sz="2400" dirty="0">
                <a:ea typeface="標楷體" panose="03000509000000000000" pitchFamily="65" charset="-120"/>
              </a:rPr>
              <a:t> 包含 </a:t>
            </a:r>
            <a:r>
              <a:rPr lang="en-US" altLang="zh-TW" sz="2400" dirty="0" err="1">
                <a:ea typeface="標楷體" panose="03000509000000000000" pitchFamily="65" charset="-120"/>
              </a:rPr>
              <a:t>qa</a:t>
            </a:r>
            <a:r>
              <a:rPr lang="en-US" altLang="zh-TW" sz="2400" dirty="0">
                <a:ea typeface="標楷體" panose="03000509000000000000" pitchFamily="65" charset="-120"/>
              </a:rPr>
              <a:t> note</a:t>
            </a:r>
            <a:r>
              <a:rPr lang="zh-TW" altLang="en-US" sz="2400" dirty="0">
                <a:ea typeface="標楷體" panose="03000509000000000000" pitchFamily="65" charset="-120"/>
              </a:rPr>
              <a:t>，不包含 </a:t>
            </a:r>
            <a:r>
              <a:rPr lang="en-US" altLang="zh-TW" sz="2400" dirty="0">
                <a:ea typeface="標楷體" panose="03000509000000000000" pitchFamily="65" charset="-120"/>
              </a:rPr>
              <a:t>non speech markers </a:t>
            </a:r>
            <a:r>
              <a:rPr lang="zh-TW" altLang="en-US" sz="2400" dirty="0">
                <a:ea typeface="標楷體" panose="03000509000000000000" pitchFamily="65" charset="-120"/>
              </a:rPr>
              <a:t>的訪談文本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C: </a:t>
            </a:r>
            <a:r>
              <a:rPr lang="zh-TW" altLang="en-US" sz="2400" dirty="0">
                <a:ea typeface="標楷體" panose="03000509000000000000" pitchFamily="65" charset="-120"/>
              </a:rPr>
              <a:t>不包含 </a:t>
            </a:r>
            <a:r>
              <a:rPr lang="en-US" altLang="zh-TW" sz="2400" dirty="0" err="1">
                <a:ea typeface="標楷體" panose="03000509000000000000" pitchFamily="65" charset="-120"/>
              </a:rPr>
              <a:t>qa</a:t>
            </a:r>
            <a:r>
              <a:rPr lang="en-US" altLang="zh-TW" sz="2400" dirty="0">
                <a:ea typeface="標楷體" panose="03000509000000000000" pitchFamily="65" charset="-120"/>
              </a:rPr>
              <a:t> note</a:t>
            </a:r>
            <a:r>
              <a:rPr lang="zh-TW" altLang="en-US" sz="2400" dirty="0">
                <a:ea typeface="標楷體" panose="03000509000000000000" pitchFamily="65" charset="-120"/>
              </a:rPr>
              <a:t>，不包含 </a:t>
            </a:r>
            <a:r>
              <a:rPr lang="en-US" altLang="zh-TW" sz="2400" dirty="0">
                <a:ea typeface="標楷體" panose="03000509000000000000" pitchFamily="65" charset="-120"/>
              </a:rPr>
              <a:t>non speech markers </a:t>
            </a:r>
            <a:r>
              <a:rPr lang="zh-TW" altLang="en-US" sz="2400" dirty="0">
                <a:ea typeface="標楷體" panose="03000509000000000000" pitchFamily="65" charset="-120"/>
              </a:rPr>
              <a:t>的訪談文本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D:</a:t>
            </a:r>
            <a:r>
              <a:rPr lang="zh-TW" altLang="en-US" sz="2400" dirty="0">
                <a:ea typeface="標楷體" panose="03000509000000000000" pitchFamily="65" charset="-120"/>
              </a:rPr>
              <a:t> 不包含 </a:t>
            </a:r>
            <a:r>
              <a:rPr lang="en-US" altLang="zh-TW" sz="2400" dirty="0" err="1">
                <a:ea typeface="標楷體" panose="03000509000000000000" pitchFamily="65" charset="-120"/>
              </a:rPr>
              <a:t>qa</a:t>
            </a:r>
            <a:r>
              <a:rPr lang="en-US" altLang="zh-TW" sz="2400" dirty="0">
                <a:ea typeface="標楷體" panose="03000509000000000000" pitchFamily="65" charset="-120"/>
              </a:rPr>
              <a:t> note</a:t>
            </a:r>
            <a:r>
              <a:rPr lang="zh-TW" altLang="en-US" sz="2400" dirty="0">
                <a:ea typeface="標楷體" panose="03000509000000000000" pitchFamily="65" charset="-120"/>
              </a:rPr>
              <a:t>，包含 </a:t>
            </a:r>
            <a:r>
              <a:rPr lang="en-US" altLang="zh-TW" sz="2400" dirty="0">
                <a:ea typeface="標楷體" panose="03000509000000000000" pitchFamily="65" charset="-120"/>
              </a:rPr>
              <a:t>non speech markers </a:t>
            </a:r>
            <a:r>
              <a:rPr lang="zh-TW" altLang="en-US" sz="2400" dirty="0">
                <a:ea typeface="標楷體" panose="03000509000000000000" pitchFamily="65" charset="-120"/>
              </a:rPr>
              <a:t>的訪談文本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CD35EB8-F439-4821-AE95-285AF665891B}"/>
              </a:ext>
            </a:extLst>
          </p:cNvPr>
          <p:cNvSpPr txBox="1"/>
          <p:nvPr/>
        </p:nvSpPr>
        <p:spPr>
          <a:xfrm>
            <a:off x="412427" y="2920469"/>
            <a:ext cx="3951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ea typeface="標楷體" panose="03000509000000000000" pitchFamily="65" charset="-120"/>
              </a:rPr>
              <a:t>A</a:t>
            </a:r>
            <a:r>
              <a:rPr lang="zh-TW" altLang="en-US" sz="3600" dirty="0">
                <a:ea typeface="標楷體" panose="03000509000000000000" pitchFamily="65" charset="-120"/>
              </a:rPr>
              <a:t> 組</a:t>
            </a:r>
          </a:p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44BAF3B-595F-4074-842A-85943FBAD0C6}"/>
              </a:ext>
            </a:extLst>
          </p:cNvPr>
          <p:cNvSpPr txBox="1"/>
          <p:nvPr/>
        </p:nvSpPr>
        <p:spPr>
          <a:xfrm>
            <a:off x="412427" y="352512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like_about_LA</a:t>
            </a:r>
            <a:r>
              <a:rPr lang="en-US" altLang="zh-TW" dirty="0"/>
              <a:t> (what are some things you really like about </a:t>
            </a:r>
            <a:r>
              <a:rPr lang="en-US" altLang="zh-TW" dirty="0" err="1"/>
              <a:t>l_a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00BF0F-8AB1-4AF1-9E09-F1841DC3A229}"/>
              </a:ext>
            </a:extLst>
          </p:cNvPr>
          <p:cNvSpPr txBox="1"/>
          <p:nvPr/>
        </p:nvSpPr>
        <p:spPr>
          <a:xfrm>
            <a:off x="412427" y="3905827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what are some things you really like about </a:t>
            </a:r>
            <a:r>
              <a:rPr lang="en-US" altLang="zh-TW" dirty="0" err="1"/>
              <a:t>l_a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963AED8-07EF-47C3-BE9B-65B9A78341FD}"/>
              </a:ext>
            </a:extLst>
          </p:cNvPr>
          <p:cNvSpPr txBox="1"/>
          <p:nvPr/>
        </p:nvSpPr>
        <p:spPr>
          <a:xfrm>
            <a:off x="321577" y="4718831"/>
            <a:ext cx="3951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ea typeface="標楷體" panose="03000509000000000000" pitchFamily="65" charset="-120"/>
              </a:rPr>
              <a:t>B</a:t>
            </a:r>
            <a:r>
              <a:rPr lang="zh-TW" altLang="en-US" sz="3600" dirty="0">
                <a:ea typeface="標楷體" panose="03000509000000000000" pitchFamily="65" charset="-120"/>
              </a:rPr>
              <a:t> 組</a:t>
            </a:r>
          </a:p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4FDD828-242A-429F-AD33-037B634A2852}"/>
              </a:ext>
            </a:extLst>
          </p:cNvPr>
          <p:cNvSpPr txBox="1"/>
          <p:nvPr/>
        </p:nvSpPr>
        <p:spPr>
          <a:xfrm>
            <a:off x="412427" y="4257351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a typeface="標楷體" panose="03000509000000000000" pitchFamily="65" charset="-120"/>
              </a:rPr>
              <a:t>&lt;crying&gt;, &lt;clears throat&gt;, &lt;cough&gt;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5F706E7-46E1-4006-BFA4-F89507EC2240}"/>
              </a:ext>
            </a:extLst>
          </p:cNvPr>
          <p:cNvSpPr txBox="1"/>
          <p:nvPr/>
        </p:nvSpPr>
        <p:spPr>
          <a:xfrm>
            <a:off x="321577" y="523578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like_about_LA</a:t>
            </a:r>
            <a:r>
              <a:rPr lang="en-US" altLang="zh-TW" dirty="0"/>
              <a:t> (what are some things you really like about </a:t>
            </a:r>
            <a:r>
              <a:rPr lang="en-US" altLang="zh-TW" dirty="0" err="1"/>
              <a:t>l_a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2E37E0C-B40B-45A8-8031-33D03FBA6F98}"/>
              </a:ext>
            </a:extLst>
          </p:cNvPr>
          <p:cNvSpPr txBox="1"/>
          <p:nvPr/>
        </p:nvSpPr>
        <p:spPr>
          <a:xfrm>
            <a:off x="321577" y="5616482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what are some things you really like about </a:t>
            </a:r>
            <a:r>
              <a:rPr lang="en-US" altLang="zh-TW" dirty="0" err="1"/>
              <a:t>l_a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5764AB0-662B-4B88-B886-7C5C175047F3}"/>
              </a:ext>
            </a:extLst>
          </p:cNvPr>
          <p:cNvSpPr txBox="1"/>
          <p:nvPr/>
        </p:nvSpPr>
        <p:spPr>
          <a:xfrm>
            <a:off x="6265178" y="4718831"/>
            <a:ext cx="3951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ea typeface="標楷體" panose="03000509000000000000" pitchFamily="65" charset="-120"/>
              </a:rPr>
              <a:t>C </a:t>
            </a:r>
            <a:r>
              <a:rPr lang="zh-TW" altLang="en-US" sz="3600" dirty="0">
                <a:ea typeface="標楷體" panose="03000509000000000000" pitchFamily="65" charset="-120"/>
              </a:rPr>
              <a:t>組</a:t>
            </a:r>
          </a:p>
          <a:p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704A68E-0D38-4D30-AF69-A37522515995}"/>
              </a:ext>
            </a:extLst>
          </p:cNvPr>
          <p:cNvSpPr txBox="1"/>
          <p:nvPr/>
        </p:nvSpPr>
        <p:spPr>
          <a:xfrm>
            <a:off x="6325563" y="523638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what are some things you really like about </a:t>
            </a:r>
            <a:r>
              <a:rPr lang="en-US" altLang="zh-TW" dirty="0" err="1"/>
              <a:t>l_a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069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807152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9966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A</a:t>
            </a:r>
            <a:r>
              <a:rPr lang="zh-TW" altLang="en-US" sz="2400" dirty="0">
                <a:ea typeface="標楷體" panose="03000509000000000000" pitchFamily="65" charset="-120"/>
              </a:rPr>
              <a:t> 組</a:t>
            </a: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3EFC0C4-32DA-44B4-A21C-31196621E1E2}"/>
              </a:ext>
            </a:extLst>
          </p:cNvPr>
          <p:cNvSpPr txBox="1">
            <a:spLocks/>
          </p:cNvSpPr>
          <p:nvPr/>
        </p:nvSpPr>
        <p:spPr>
          <a:xfrm>
            <a:off x="321576" y="5560773"/>
            <a:ext cx="11870423" cy="2192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</a:t>
            </a:r>
            <a:r>
              <a:rPr lang="zh-TW" altLang="en-US" sz="2400" dirty="0">
                <a:ea typeface="標楷體" panose="03000509000000000000" pitchFamily="65" charset="-120"/>
              </a:rPr>
              <a:t> 組</a:t>
            </a: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5EDD21A8-05D9-477E-BE76-6868CEB953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592765"/>
              </p:ext>
            </p:extLst>
          </p:nvPr>
        </p:nvGraphicFramePr>
        <p:xfrm>
          <a:off x="2134375" y="439849"/>
          <a:ext cx="7923248" cy="2046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Worksheet" r:id="rId4" imgW="5457944" imgH="1409597" progId="Excel.Sheet.12">
                  <p:embed/>
                </p:oleObj>
              </mc:Choice>
              <mc:Fallback>
                <p:oleObj name="Worksheet" r:id="rId4" imgW="5457944" imgH="140959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4375" y="439849"/>
                        <a:ext cx="7923248" cy="20464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C1E87479-D765-40F9-A7AF-79E17BF8BB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067139"/>
              </p:ext>
            </p:extLst>
          </p:nvPr>
        </p:nvGraphicFramePr>
        <p:xfrm>
          <a:off x="2134373" y="2612211"/>
          <a:ext cx="8010291" cy="1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Worksheet" r:id="rId6" imgW="5676914" imgH="1409597" progId="Excel.Sheet.12">
                  <p:embed/>
                </p:oleObj>
              </mc:Choice>
              <mc:Fallback>
                <p:oleObj name="Worksheet" r:id="rId6" imgW="5676914" imgH="140959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34373" y="2612211"/>
                        <a:ext cx="8010291" cy="196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E9D5CA2D-2B9F-46F4-94E8-DA89BF23C6BB}"/>
              </a:ext>
            </a:extLst>
          </p:cNvPr>
          <p:cNvSpPr txBox="1">
            <a:spLocks/>
          </p:cNvSpPr>
          <p:nvPr/>
        </p:nvSpPr>
        <p:spPr>
          <a:xfrm>
            <a:off x="258659" y="3197269"/>
            <a:ext cx="11870423" cy="2192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B</a:t>
            </a:r>
            <a:r>
              <a:rPr lang="zh-TW" altLang="en-US" sz="2400" dirty="0">
                <a:ea typeface="標楷體" panose="03000509000000000000" pitchFamily="65" charset="-120"/>
              </a:rPr>
              <a:t> 組</a:t>
            </a: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5" name="物件 14">
            <a:extLst>
              <a:ext uri="{FF2B5EF4-FFF2-40B4-BE49-F238E27FC236}">
                <a16:creationId xmlns:a16="http://schemas.microsoft.com/office/drawing/2014/main" id="{8AD7681C-F930-4DD7-8903-34A0DD877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51915"/>
              </p:ext>
            </p:extLst>
          </p:nvPr>
        </p:nvGraphicFramePr>
        <p:xfrm>
          <a:off x="2134372" y="4696641"/>
          <a:ext cx="8010291" cy="1989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Worksheet" r:id="rId8" imgW="5676914" imgH="1409597" progId="Excel.Sheet.12">
                  <p:embed/>
                </p:oleObj>
              </mc:Choice>
              <mc:Fallback>
                <p:oleObj name="Worksheet" r:id="rId8" imgW="5676914" imgH="140959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34372" y="4696641"/>
                        <a:ext cx="8010291" cy="1989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95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實驗資料集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新的實驗資料集，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 err="1">
                <a:ea typeface="標楷體" panose="03000509000000000000" pitchFamily="65" charset="-120"/>
              </a:rPr>
              <a:t>train_split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endParaRPr lang="zh-TW" altLang="en-US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: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107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31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76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35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12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23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實驗數據將每個方法用 </a:t>
            </a:r>
            <a:r>
              <a:rPr lang="en-US" altLang="zh-TW" sz="2400" dirty="0">
                <a:ea typeface="標楷體" panose="03000509000000000000" pitchFamily="65" charset="-120"/>
              </a:rPr>
              <a:t>6 </a:t>
            </a:r>
            <a:r>
              <a:rPr lang="zh-TW" altLang="en-US" sz="2400" dirty="0">
                <a:ea typeface="標楷體" panose="03000509000000000000" pitchFamily="65" charset="-120"/>
              </a:rPr>
              <a:t>個種子的分數取平均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692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提高語音辨識的準確度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補足其他語音辨識的實驗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比較使用不同 </a:t>
            </a:r>
            <a:r>
              <a:rPr lang="en-US" altLang="zh-TW" sz="2400" dirty="0">
                <a:ea typeface="標楷體" panose="03000509000000000000" pitchFamily="65" charset="-120"/>
              </a:rPr>
              <a:t>WER</a:t>
            </a:r>
            <a:r>
              <a:rPr lang="zh-TW" altLang="en-US" sz="2400" dirty="0">
                <a:ea typeface="標楷體" panose="03000509000000000000" pitchFamily="65" charset="-120"/>
              </a:rPr>
              <a:t> 的語音辨識訪談文本的訓練結果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90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實驗使用模型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PHQ8 score prediction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Detection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A3C039-37AF-455F-96FC-FB1173BC4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8114"/>
            <a:ext cx="12192000" cy="42843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D1C0DD-A2A2-4D8B-8828-63972E2D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4" y="1078476"/>
            <a:ext cx="3390900" cy="1895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208684D-D103-42BA-9BAC-64E55FA35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26" y="4847475"/>
            <a:ext cx="39909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433</Words>
  <Application>Microsoft Office PowerPoint</Application>
  <PresentationFormat>寬螢幕</PresentationFormat>
  <Paragraphs>93</Paragraphs>
  <Slides>6</Slides>
  <Notes>6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Office 佈景主題</vt:lpstr>
      <vt:lpstr>Worksheet</vt:lpstr>
      <vt:lpstr>Microsoft Excel 工作表</vt:lpstr>
      <vt:lpstr>2025/05/27 Meeting Report</vt:lpstr>
      <vt:lpstr>實驗內容</vt:lpstr>
      <vt:lpstr>實驗結果</vt:lpstr>
      <vt:lpstr>實驗資料集</vt:lpstr>
      <vt:lpstr>後續實驗</vt:lpstr>
      <vt:lpstr>實驗使用模型– PHQ8 score prediction、Depression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2025/05/06 Meeting Report</dc:title>
  <dc:creator>嘉均 簡</dc:creator>
  <cp:lastModifiedBy>嘉均 簡</cp:lastModifiedBy>
  <cp:revision>26</cp:revision>
  <dcterms:created xsi:type="dcterms:W3CDTF">2025-05-06T02:09:24Z</dcterms:created>
  <dcterms:modified xsi:type="dcterms:W3CDTF">2025-05-27T06:11:23Z</dcterms:modified>
</cp:coreProperties>
</file>