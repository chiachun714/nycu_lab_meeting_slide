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25" r:id="rId3"/>
    <p:sldId id="318" r:id="rId4"/>
    <p:sldId id="326" r:id="rId5"/>
    <p:sldId id="327" r:id="rId6"/>
    <p:sldId id="328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8D86-35FF-464B-AC5C-0F9C48D31A33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548D5-B13F-4393-8625-D40F8EEA07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4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049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112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557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79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2F662-7FAF-4F67-9DDB-4BC0D765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A0C418-D836-4B50-96D2-D4283C20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9035AC-8595-47ED-B2BE-9B2E49D9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06265D-C728-4478-A153-93058682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E9274F-DE70-4762-ADFE-706AC652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9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BA4C2-2B18-4743-8464-A6D4A9F3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4F73AB-0B9A-49FA-8503-389ABE431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564C26-22AC-45CF-BC1E-61D0A4BF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569B7-0C69-423F-A33D-B83DA612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86E0AC-D461-495F-AE0B-A7988512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4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204A-5240-4D95-9841-D249EDD2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278C1A-36E7-4CF7-B4D8-1A52F5C5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95DF1-87FF-4F0A-AA1B-280ADBDA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4F1B8-4BE9-482D-BE56-DB702C05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AB2B5-9939-4A74-963A-589A0D7B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10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D912E-82DC-4AD3-BF8E-BD1B8EED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6CB662-73C8-457B-8E2F-7797747C5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B654CA-BBBE-4F3E-B481-66ECD066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30A80-CBED-409A-972B-7777B803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2FB27D-8EF6-442E-8F3F-D99276FE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FD760C-0D86-4E79-ADB8-F4BFC7CF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64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ED89C-49B7-49A5-8935-B7DAC96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4317DB-4057-4CBA-9055-89B63FE6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E2B698-D483-446F-8082-4E6AF9FF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E372D1-97C4-4ECD-813F-C7D3435A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0AA514-78DB-4DF4-8AB8-62E8D56F8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CBDF13-7D65-497F-B175-EC7B9290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75A8D8-1080-4A3C-8406-A844B5D4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F6572ED-A949-4494-88FA-84FDF6D2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141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9277C-6583-4932-970A-38D4F3EC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9D2B3A-AB22-453C-891B-548E58FA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4AF9BA-ECC0-4FB9-BB5F-30056680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3DB565-CCD5-49B4-816C-20BF7D5B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71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5F4EEA-C383-426E-A5B6-6F8DB0CE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50223D-1F1F-4344-AEE9-69C62ACD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4396E3-4A32-4FBB-B477-F4944742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0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45FB0-7A5F-47CA-84F9-41345FEB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EEDB21-4A6E-48CE-B0F8-D705E688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0A9D69-9DB8-4E0F-BF2E-75EED1A1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52267A-077F-41AE-AEBF-16D86CA3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59B22C-CC64-458D-85C9-6E6A630C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DA022-29EC-4188-9566-E559468E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3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34FB3-C332-47EC-B6E2-D87DC68A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7C1733-2985-4EE2-BC31-1AB0DC333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F9132B-6342-464C-A6FE-44F86CAC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7D581A-9532-4EA8-A8CF-589B7729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3FC74B2-92BC-4EE5-A93C-F5208DF2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E7E4B0-26CC-4BE5-9333-195CA3A6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3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31BDC-65B0-43C9-9DC9-549C25EA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D8F7EA-1AF6-4682-8FD4-7C78AB1E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EAC032-5EAE-4B93-94D6-F3911568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6F23B9-25A2-4DD1-B67B-4FD07EA2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363E9-15CA-4B6C-92BB-EA449FA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50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35FF0E-1199-4F11-BA47-C27A538B9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34B4EE-0D05-4266-99A0-BE73C4CC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8AC70-FBF7-45E9-A949-46D4A534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B795C-69C1-4230-A473-BE1382B5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BDD8B-61AC-4729-B741-4F0F62F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1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759509F-E024-4EFF-B447-B00922B6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F2C4D7-54D0-4598-8D0F-242FF050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258BC0-C5DD-4A79-AA63-52E0EBA43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558C6-0365-4CD3-897F-D9D1292AB17F}" type="datetimeFigureOut">
              <a:rPr lang="zh-TW" altLang="en-US" smtClean="0"/>
              <a:t>2025/5/6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D37587-747E-48D7-90AC-E3DE9DFEB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93475-DF23-413C-A0F9-36EAF2E06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2025/05/06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實驗使用模型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PHQ8 score prediction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Depression Detection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A3C039-37AF-455F-96FC-FB1173BC4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8114"/>
            <a:ext cx="12192000" cy="42843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D1C0DD-A2A2-4D8B-8828-63972E2DC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64" y="1078476"/>
            <a:ext cx="3390900" cy="18954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208684D-D103-42BA-9BAC-64E55FA35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26" y="4847475"/>
            <a:ext cx="399097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8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實驗項目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使用不同的 </a:t>
            </a:r>
            <a:r>
              <a:rPr lang="en-US" altLang="zh-TW" sz="2400" dirty="0">
                <a:ea typeface="標楷體" panose="03000509000000000000" pitchFamily="65" charset="-120"/>
              </a:rPr>
              <a:t>Feature Extraction </a:t>
            </a:r>
            <a:r>
              <a:rPr lang="zh-TW" altLang="en-US" sz="2400" dirty="0">
                <a:ea typeface="標楷體" panose="03000509000000000000" pitchFamily="65" charset="-120"/>
              </a:rPr>
              <a:t>模型</a:t>
            </a:r>
          </a:p>
          <a:p>
            <a:pPr lvl="1">
              <a:lnSpc>
                <a:spcPct val="120000"/>
              </a:lnSpc>
            </a:pPr>
            <a:r>
              <a:rPr lang="en-US" altLang="zh-TW" dirty="0" err="1">
                <a:ea typeface="標楷體" panose="03000509000000000000" pitchFamily="65" charset="-120"/>
              </a:rPr>
              <a:t>RoBERTa</a:t>
            </a:r>
            <a:r>
              <a:rPr lang="en-US" altLang="zh-TW" dirty="0">
                <a:ea typeface="標楷體" panose="03000509000000000000" pitchFamily="65" charset="-120"/>
              </a:rPr>
              <a:t>-Large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S-</a:t>
            </a:r>
            <a:r>
              <a:rPr lang="en-US" altLang="zh-TW" dirty="0" err="1">
                <a:ea typeface="標楷體" panose="03000509000000000000" pitchFamily="65" charset="-120"/>
              </a:rPr>
              <a:t>RoBERTa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DepRoBERTa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</a:t>
            </a:r>
            <a:r>
              <a:rPr lang="en-US" altLang="zh-TW" sz="2400" dirty="0">
                <a:ea typeface="標楷體" panose="03000509000000000000" pitchFamily="65" charset="-120"/>
              </a:rPr>
              <a:t>	PHQ8 </a:t>
            </a:r>
            <a:r>
              <a:rPr lang="zh-TW" altLang="en-US" sz="2400" dirty="0">
                <a:ea typeface="標楷體" panose="03000509000000000000" pitchFamily="65" charset="-120"/>
              </a:rPr>
              <a:t>總分對二元分類標籤做標籤平滑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二元分類的 </a:t>
            </a:r>
            <a:r>
              <a:rPr lang="en-US" altLang="zh-TW" sz="2400" dirty="0">
                <a:ea typeface="標楷體" panose="03000509000000000000" pitchFamily="65" charset="-120"/>
              </a:rPr>
              <a:t>Loss </a:t>
            </a:r>
            <a:r>
              <a:rPr lang="zh-TW" altLang="en-US" sz="2400" dirty="0">
                <a:ea typeface="標楷體" panose="03000509000000000000" pitchFamily="65" charset="-120"/>
              </a:rPr>
              <a:t>計算使用 </a:t>
            </a:r>
            <a:r>
              <a:rPr lang="en-US" altLang="zh-TW" sz="2400" dirty="0">
                <a:ea typeface="標楷體" panose="03000509000000000000" pitchFamily="65" charset="-120"/>
              </a:rPr>
              <a:t>class weight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</a:t>
            </a:r>
            <a:r>
              <a:rPr lang="en-US" altLang="zh-TW" sz="2400" dirty="0">
                <a:ea typeface="標楷體" panose="03000509000000000000" pitchFamily="65" charset="-120"/>
              </a:rPr>
              <a:t>Balanced Sampler </a:t>
            </a:r>
            <a:r>
              <a:rPr lang="zh-TW" altLang="en-US" sz="2400" dirty="0">
                <a:ea typeface="標楷體" panose="03000509000000000000" pitchFamily="65" charset="-120"/>
              </a:rPr>
              <a:t>在訓練過程中讓每個 </a:t>
            </a:r>
            <a:r>
              <a:rPr lang="en-US" altLang="zh-TW" sz="2400" dirty="0">
                <a:ea typeface="標楷體" panose="03000509000000000000" pitchFamily="65" charset="-120"/>
              </a:rPr>
              <a:t>epoch</a:t>
            </a:r>
            <a:r>
              <a:rPr lang="zh-TW" altLang="en-US" sz="2400" dirty="0">
                <a:ea typeface="標楷體" panose="03000509000000000000" pitchFamily="65" charset="-120"/>
              </a:rPr>
              <a:t> 使用的憂鬱症與非憂鬱症訓練資料數量保持平衡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實驗資料集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的 </a:t>
            </a:r>
            <a:r>
              <a:rPr lang="en-US" altLang="zh-TW" sz="2400" dirty="0" err="1">
                <a:ea typeface="標楷體" panose="03000509000000000000" pitchFamily="65" charset="-120"/>
              </a:rPr>
              <a:t>train_split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endParaRPr lang="zh-TW" altLang="en-US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: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107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31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76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35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12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23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由於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中兩個患者的字幕檔沒有包含訪談者的問句，所以實驗時沒有將兩位患者拿來測試，實際使用的測試資料總數 </a:t>
            </a:r>
            <a:r>
              <a:rPr lang="en-US" altLang="zh-TW" sz="2400" dirty="0">
                <a:ea typeface="標楷體" panose="03000509000000000000" pitchFamily="65" charset="-120"/>
              </a:rPr>
              <a:t>33</a:t>
            </a:r>
            <a:r>
              <a:rPr lang="zh-TW" altLang="en-US" sz="2400" dirty="0">
                <a:ea typeface="標楷體" panose="03000509000000000000" pitchFamily="65" charset="-120"/>
              </a:rPr>
              <a:t>、憂鬱症 </a:t>
            </a:r>
            <a:r>
              <a:rPr lang="en-US" altLang="zh-TW" sz="2400" dirty="0">
                <a:ea typeface="標楷體" panose="03000509000000000000" pitchFamily="65" charset="-120"/>
              </a:rPr>
              <a:t>12</a:t>
            </a:r>
            <a:r>
              <a:rPr lang="zh-TW" altLang="en-US" sz="2400" dirty="0">
                <a:ea typeface="標楷體" panose="03000509000000000000" pitchFamily="65" charset="-120"/>
              </a:rPr>
              <a:t>、非憂鬱症</a:t>
            </a:r>
            <a:r>
              <a:rPr lang="en-US" altLang="zh-TW" sz="2400" dirty="0">
                <a:ea typeface="標楷體" panose="03000509000000000000" pitchFamily="65" charset="-120"/>
              </a:rPr>
              <a:t>21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實驗數據將每個方法用 </a:t>
            </a:r>
            <a:r>
              <a:rPr lang="en-US" altLang="zh-TW" sz="2400" dirty="0">
                <a:ea typeface="標楷體" panose="03000509000000000000" pitchFamily="65" charset="-120"/>
              </a:rPr>
              <a:t>6 </a:t>
            </a:r>
            <a:r>
              <a:rPr lang="zh-TW" altLang="en-US" sz="2400" dirty="0">
                <a:ea typeface="標楷體" panose="03000509000000000000" pitchFamily="65" charset="-120"/>
              </a:rPr>
              <a:t>個種子的分數取平均 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692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不同的 </a:t>
            </a:r>
            <a:r>
              <a:rPr lang="en-US" altLang="zh-TW" sz="2400" dirty="0">
                <a:ea typeface="標楷體" panose="03000509000000000000" pitchFamily="65" charset="-120"/>
              </a:rPr>
              <a:t>Feature Extraction </a:t>
            </a:r>
            <a:r>
              <a:rPr lang="zh-TW" altLang="en-US" sz="2400" dirty="0">
                <a:ea typeface="標楷體" panose="03000509000000000000" pitchFamily="65" charset="-120"/>
              </a:rPr>
              <a:t>模型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 err="1">
                <a:ea typeface="標楷體" panose="03000509000000000000" pitchFamily="65" charset="-120"/>
              </a:rPr>
              <a:t>DepRoBERTa</a:t>
            </a:r>
            <a:r>
              <a:rPr lang="en-US" altLang="zh-TW" sz="2000" dirty="0">
                <a:ea typeface="標楷體" panose="03000509000000000000" pitchFamily="65" charset="-120"/>
              </a:rPr>
              <a:t> </a:t>
            </a:r>
            <a:r>
              <a:rPr lang="zh-TW" altLang="en-US" sz="2000" dirty="0">
                <a:ea typeface="標楷體" panose="03000509000000000000" pitchFamily="65" charset="-120"/>
              </a:rPr>
              <a:t>模型表現最好、</a:t>
            </a:r>
            <a:r>
              <a:rPr lang="en-US" altLang="zh-TW" sz="2000" dirty="0">
                <a:ea typeface="標楷體" panose="03000509000000000000" pitchFamily="65" charset="-120"/>
              </a:rPr>
              <a:t>S-</a:t>
            </a:r>
            <a:r>
              <a:rPr lang="en-US" altLang="zh-TW" sz="2000" dirty="0" err="1">
                <a:ea typeface="標楷體" panose="03000509000000000000" pitchFamily="65" charset="-120"/>
              </a:rPr>
              <a:t>RoBERTa</a:t>
            </a:r>
            <a:r>
              <a:rPr lang="en-US" altLang="zh-TW" sz="2000" dirty="0">
                <a:ea typeface="標楷體" panose="03000509000000000000" pitchFamily="65" charset="-120"/>
              </a:rPr>
              <a:t> </a:t>
            </a:r>
            <a:r>
              <a:rPr lang="zh-TW" altLang="en-US" sz="2000" dirty="0">
                <a:ea typeface="標楷體" panose="03000509000000000000" pitchFamily="65" charset="-120"/>
              </a:rPr>
              <a:t>表現最差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F5D3997-E959-45AB-8E32-342FC73D2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2598770"/>
            <a:ext cx="121824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5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試著加入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去掉的兩位病患資料再作一次實驗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比較使用 </a:t>
            </a:r>
            <a:r>
              <a:rPr lang="zh-TW" altLang="en-US" sz="2400" b="1" dirty="0">
                <a:ea typeface="標楷體" panose="03000509000000000000" pitchFamily="65" charset="-120"/>
              </a:rPr>
              <a:t>單任務學習</a:t>
            </a:r>
            <a:r>
              <a:rPr lang="en-US" altLang="zh-TW" sz="2400" b="1" dirty="0"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ea typeface="標楷體" panose="03000509000000000000" pitchFamily="65" charset="-120"/>
              </a:rPr>
              <a:t>二元分類</a:t>
            </a:r>
            <a:r>
              <a:rPr lang="en-US" altLang="zh-TW" sz="2400" b="1" dirty="0">
                <a:ea typeface="標楷體" panose="03000509000000000000" pitchFamily="65" charset="-120"/>
              </a:rPr>
              <a:t>)</a:t>
            </a:r>
            <a:r>
              <a:rPr lang="zh-TW" altLang="en-US" sz="2400" b="1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zh-TW" altLang="en-US" sz="2400" b="1" dirty="0">
                <a:ea typeface="標楷體" panose="03000509000000000000" pitchFamily="65" charset="-120"/>
              </a:rPr>
              <a:t>多任務學習</a:t>
            </a:r>
            <a:r>
              <a:rPr lang="en-US" altLang="zh-TW" sz="2400" b="1" dirty="0"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ea typeface="標楷體" panose="03000509000000000000" pitchFamily="65" charset="-120"/>
              </a:rPr>
              <a:t>二元分類</a:t>
            </a:r>
            <a:r>
              <a:rPr lang="en-US" altLang="zh-TW" sz="2400" b="1" dirty="0">
                <a:ea typeface="標楷體" panose="03000509000000000000" pitchFamily="65" charset="-120"/>
              </a:rPr>
              <a:t>+</a:t>
            </a:r>
            <a:r>
              <a:rPr lang="zh-TW" altLang="en-US" sz="2400" b="1" dirty="0">
                <a:ea typeface="標楷體" panose="03000509000000000000" pitchFamily="65" charset="-120"/>
              </a:rPr>
              <a:t>症狀嚴重分類</a:t>
            </a:r>
            <a:r>
              <a:rPr lang="en-US" altLang="zh-TW" sz="2400" b="1" dirty="0">
                <a:ea typeface="標楷體" panose="03000509000000000000" pitchFamily="65" charset="-120"/>
              </a:rPr>
              <a:t>)</a:t>
            </a:r>
            <a:r>
              <a:rPr lang="zh-TW" altLang="en-US" sz="2400" b="1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的數據差異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90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403</Words>
  <Application>Microsoft Office PowerPoint</Application>
  <PresentationFormat>寬螢幕</PresentationFormat>
  <Paragraphs>90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Office 佈景主題</vt:lpstr>
      <vt:lpstr>2025/05/06 Meeting Report</vt:lpstr>
      <vt:lpstr>實驗使用模型– PHQ8 score prediction、Depression Detection</vt:lpstr>
      <vt:lpstr>實驗項目</vt:lpstr>
      <vt:lpstr>實驗資料集</vt:lpstr>
      <vt:lpstr>實驗結果</vt:lpstr>
      <vt:lpstr>後續實驗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2025/05/06 Meeting Report</dc:title>
  <dc:creator>嘉均 簡</dc:creator>
  <cp:lastModifiedBy>嘉均 簡</cp:lastModifiedBy>
  <cp:revision>7</cp:revision>
  <dcterms:created xsi:type="dcterms:W3CDTF">2025-05-06T02:09:24Z</dcterms:created>
  <dcterms:modified xsi:type="dcterms:W3CDTF">2025-05-06T03:36:34Z</dcterms:modified>
</cp:coreProperties>
</file>