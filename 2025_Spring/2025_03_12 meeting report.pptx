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316" r:id="rId3"/>
    <p:sldId id="317" r:id="rId4"/>
    <p:sldId id="319" r:id="rId5"/>
    <p:sldId id="318" r:id="rId6"/>
    <p:sldId id="320" r:id="rId7"/>
    <p:sldId id="321" r:id="rId8"/>
    <p:sldId id="322" r:id="rId9"/>
    <p:sldId id="323" r:id="rId10"/>
    <p:sldId id="324" r:id="rId11"/>
    <p:sldId id="325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336" r:id="rId20"/>
    <p:sldId id="339" r:id="rId21"/>
    <p:sldId id="340" r:id="rId22"/>
    <p:sldId id="335" r:id="rId23"/>
    <p:sldId id="334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481980-7FF4-4ED6-A04C-AE94461DAD80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7961D-B0D0-4C8D-A401-5B12235D1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1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854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690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0849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799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8448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8551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275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8881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595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1102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3130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00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188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239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6890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122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5391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4656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4043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2649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52380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0889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186171-A9DE-4379-A686-02F848D40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41BC09-C7F4-43C0-A5CF-586B739C5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5D6B68-C19D-4DC1-8BDF-F178579B0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B263C-C806-434F-B1DF-BE98AEE40219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3ACB39-B270-4A81-BCD5-C1064654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97A8A3-A0B7-43E7-8D18-1E001904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67ADE-59BB-4976-92C3-C97DA281AE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060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408CEC-6D42-48AE-9F26-6395D271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A3956E-BBA1-4624-A626-EAB1B80A8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FD8388-6D8B-496F-AC65-A2CDEF36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B263C-C806-434F-B1DF-BE98AEE40219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3F588A-8AB2-44F5-AC33-938C9596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63338A-CB28-47B6-B5CD-4C2D7CD3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67ADE-59BB-4976-92C3-C97DA281AE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441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7BB042-0832-48DE-912F-FF52560CF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D41F875-7804-4D7D-AB96-F6696AE1B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50E337-47DC-4639-AF62-129DB4D3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B263C-C806-434F-B1DF-BE98AEE40219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3108C7-2088-4716-AFE0-464EF311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CA899C-6662-4299-B0C2-D1C3ECA4F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67ADE-59BB-4976-92C3-C97DA281AE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846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7AB859-BC16-42D4-B405-E09ED3FC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337187-9952-49EC-9390-4ADDC528C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45C630-E1D3-4DCE-8E62-9F3BECE07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02B5585-20F1-4FC9-89DB-A242A693C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B263C-C806-434F-B1DF-BE98AEE40219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8B32FDE-D5E2-45A0-81A9-8D53F22D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88EAE8-5FE6-4BC9-A5A7-AC50ED38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67ADE-59BB-4976-92C3-C97DA281AE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54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FDB71F-A28F-4BBF-A689-11A0DFA7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094386-5685-49E8-9049-EBED80C60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938CF5-94AF-4567-ADEA-F7112974F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73996F9-E4E1-4964-B120-0DE96FE2E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808EAAA-1272-4EA0-BC2B-2AE7305E3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250BE35-3D49-4DB4-A201-1E7E8D5D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B263C-C806-434F-B1DF-BE98AEE40219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83D6C5F-F9D4-4475-8C9E-993931BAD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BFED0A0-CED0-43A6-A23F-BC1BC90B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67ADE-59BB-4976-92C3-C97DA281AE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371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C1575E-B087-44C2-9353-62A51D4C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F1DC36E-43DA-494C-A6A1-08E3011C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B263C-C806-434F-B1DF-BE98AEE40219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963DB6A-32EB-4CA8-845F-B4049A68A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6C71411-6850-4039-A934-710F10D4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67ADE-59BB-4976-92C3-C97DA281AE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002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C5EBCE8-87B3-45EC-9D29-734FA48E4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B263C-C806-434F-B1DF-BE98AEE40219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68EC227-7116-4D74-814D-BA0854E5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8D3FC0-CE1E-4CD4-98A1-3D8C5DE3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67ADE-59BB-4976-92C3-C97DA281AE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042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09E822-3011-4C34-954E-19FD963E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E50E10-D531-4A4A-AF1E-2DE422E2E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7EF405-130E-452E-BD8C-85E986B3A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7604061-9273-4D58-B375-DCD191F7F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B263C-C806-434F-B1DF-BE98AEE40219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EC499F-7D7D-49DF-907D-E156518C6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8F8C9EB-E20E-41ED-A6C2-7EF78541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67ADE-59BB-4976-92C3-C97DA281AE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704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838AA-FA16-4837-979B-7A763CD3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8DA0034-5248-4796-BEA0-637B62F510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A69F9CE-8027-4A98-A51D-1B20CAD51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A802B2-E203-4933-9604-71AD9277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B263C-C806-434F-B1DF-BE98AEE40219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A2B7AD-70C0-4E5C-B59D-E33625933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59231F-7F6A-4B29-9836-1FD00CF0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67ADE-59BB-4976-92C3-C97DA281AE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2078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6A8D07-40FA-470C-A786-0FAD4307F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9BCF59C-FC6A-4686-A53D-CF0B15E4A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FF222B-2E43-43D6-B73A-BD635FCF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B263C-C806-434F-B1DF-BE98AEE40219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E6F7BF-2616-46D5-AD20-FE5A413B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83D08D-8B9E-49C4-A658-F7F481A76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67ADE-59BB-4976-92C3-C97DA281AE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35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A68EDDB-4142-426D-B97E-88DE17FA5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480951-ABB0-42D8-A4E7-8432C6815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D83842-D0F2-4787-9007-847B7236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B263C-C806-434F-B1DF-BE98AEE40219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8875D7-48BD-44F8-8B61-D440900E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796310-4A14-431C-9AAD-2E61C695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67ADE-59BB-4976-92C3-C97DA281AE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916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BFFAAF0-CBF0-4732-950B-5E34F297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20147B-8484-4438-AB67-2A867DE63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CBBF16-427E-44B3-B313-CB7AB6203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B263C-C806-434F-B1DF-BE98AEE40219}" type="datetimeFigureOut">
              <a:rPr lang="zh-TW" altLang="en-US" smtClean="0"/>
              <a:t>2025/3/14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3DECF3-12A7-4F2F-B6A3-D5146A44C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CBF1FA-CF62-4A60-83BC-1758D4DA4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67ADE-59BB-4976-92C3-C97DA281AE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623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2024/03/12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目前使用的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augmentation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方法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82D4418-FC15-4744-B505-5F6ED8643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67" y="1135505"/>
            <a:ext cx="11680466" cy="563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82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目前使用的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augmentation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方法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69F364C-0DF5-4D49-AF15-017AED313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62" y="1049348"/>
            <a:ext cx="10001730" cy="575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61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目前使用的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augmentation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方法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4A10055-B135-440A-A19E-93B1208C41B8}"/>
              </a:ext>
            </a:extLst>
          </p:cNvPr>
          <p:cNvSpPr txBox="1">
            <a:spLocks/>
          </p:cNvSpPr>
          <p:nvPr/>
        </p:nvSpPr>
        <p:spPr>
          <a:xfrm>
            <a:off x="686464" y="1069592"/>
            <a:ext cx="10286335" cy="6430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Augmented number: 100</a:t>
            </a:r>
          </a:p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憂鬱症患者</a:t>
            </a:r>
            <a:r>
              <a:rPr lang="en-US" altLang="zh-TW" sz="3200" dirty="0">
                <a:ea typeface="標楷體" panose="03000509000000000000" pitchFamily="65" charset="-120"/>
              </a:rPr>
              <a:t>:</a:t>
            </a:r>
            <a:r>
              <a:rPr lang="zh-TW" altLang="en-US" sz="3200" dirty="0">
                <a:ea typeface="標楷體" panose="03000509000000000000" pitchFamily="65" charset="-120"/>
              </a:rPr>
              <a:t> </a:t>
            </a:r>
            <a:r>
              <a:rPr lang="en-US" altLang="zh-TW" sz="3200" dirty="0">
                <a:ea typeface="標楷體" panose="03000509000000000000" pitchFamily="65" charset="-120"/>
              </a:rPr>
              <a:t>31 </a:t>
            </a:r>
            <a:r>
              <a:rPr lang="zh-TW" altLang="en-US" sz="3200" dirty="0">
                <a:ea typeface="標楷體" panose="03000509000000000000" pitchFamily="65" charset="-120"/>
              </a:rPr>
              <a:t>人</a:t>
            </a:r>
            <a:r>
              <a:rPr lang="en-US" altLang="zh-TW" sz="3200" dirty="0">
                <a:ea typeface="標楷體" panose="03000509000000000000" pitchFamily="65" charset="-120"/>
              </a:rPr>
              <a:t>, </a:t>
            </a:r>
            <a:r>
              <a:rPr lang="zh-TW" altLang="en-US" sz="3200" dirty="0">
                <a:ea typeface="標楷體" panose="03000509000000000000" pitchFamily="65" charset="-120"/>
              </a:rPr>
              <a:t>非憂鬱症</a:t>
            </a:r>
            <a:r>
              <a:rPr lang="en-US" altLang="zh-TW" sz="3200" dirty="0">
                <a:ea typeface="標楷體" panose="03000509000000000000" pitchFamily="65" charset="-120"/>
              </a:rPr>
              <a:t>:</a:t>
            </a:r>
            <a:r>
              <a:rPr lang="zh-TW" altLang="en-US" sz="3200" dirty="0">
                <a:ea typeface="標楷體" panose="03000509000000000000" pitchFamily="65" charset="-120"/>
              </a:rPr>
              <a:t> </a:t>
            </a:r>
            <a:r>
              <a:rPr lang="en-US" altLang="zh-TW" sz="3200" dirty="0">
                <a:ea typeface="標楷體" panose="03000509000000000000" pitchFamily="65" charset="-120"/>
              </a:rPr>
              <a:t>76</a:t>
            </a:r>
            <a:r>
              <a:rPr lang="zh-TW" altLang="en-US" sz="3200" dirty="0">
                <a:ea typeface="標楷體" panose="03000509000000000000" pitchFamily="65" charset="-120"/>
              </a:rPr>
              <a:t> 人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非憂鬱症</a:t>
            </a:r>
            <a:r>
              <a:rPr lang="zh-TW" altLang="en-US" dirty="0">
                <a:ea typeface="標楷體" panose="03000509000000000000" pitchFamily="65" charset="-120"/>
              </a:rPr>
              <a:t>的 </a:t>
            </a:r>
            <a:r>
              <a:rPr lang="en-US" altLang="zh-TW" dirty="0">
                <a:ea typeface="標楷體" panose="03000509000000000000" pitchFamily="65" charset="-120"/>
              </a:rPr>
              <a:t>augmented number: </a:t>
            </a:r>
            <a:r>
              <a:rPr lang="en-US" altLang="zh-TW" sz="2800" dirty="0">
                <a:ea typeface="標楷體" panose="03000509000000000000" pitchFamily="65" charset="-120"/>
              </a:rPr>
              <a:t>100*31/76 = 40</a:t>
            </a:r>
          </a:p>
          <a:p>
            <a:pPr lvl="1">
              <a:lnSpc>
                <a:spcPct val="100000"/>
              </a:lnSpc>
            </a:pPr>
            <a:endParaRPr lang="en-US" altLang="zh-TW" sz="28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6E35022-4F95-490B-9208-E58AD822F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5" y="3429000"/>
            <a:ext cx="11191875" cy="301942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E14B022-A1A6-41D3-AF8D-47AC32E31AEB}"/>
              </a:ext>
            </a:extLst>
          </p:cNvPr>
          <p:cNvSpPr txBox="1"/>
          <p:nvPr/>
        </p:nvSpPr>
        <p:spPr>
          <a:xfrm>
            <a:off x="321577" y="3107510"/>
            <a:ext cx="2064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ea typeface="標楷體" panose="03000509000000000000" pitchFamily="65" charset="-120"/>
              </a:rPr>
              <a:t>憂鬱症患者</a:t>
            </a:r>
            <a:endParaRPr lang="zh-TW" altLang="en-US" sz="28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9A8AB0F-E07F-439E-B2BA-4C0D7CE17110}"/>
              </a:ext>
            </a:extLst>
          </p:cNvPr>
          <p:cNvSpPr txBox="1"/>
          <p:nvPr/>
        </p:nvSpPr>
        <p:spPr>
          <a:xfrm>
            <a:off x="6067730" y="3109498"/>
            <a:ext cx="2384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ea typeface="標楷體" panose="03000509000000000000" pitchFamily="65" charset="-120"/>
              </a:rPr>
              <a:t>非憂鬱症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43514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模型架構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EECABC7-EA6E-4E56-86B1-BDBECB94A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1128"/>
            <a:ext cx="12192000" cy="477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0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測試不同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seed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產生的擴增資料集對訓練結果的差異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DDF42A1-5374-4A15-BBDE-190428DEA6E0}"/>
              </a:ext>
            </a:extLst>
          </p:cNvPr>
          <p:cNvSpPr txBox="1">
            <a:spLocks/>
          </p:cNvSpPr>
          <p:nvPr/>
        </p:nvSpPr>
        <p:spPr>
          <a:xfrm>
            <a:off x="686464" y="1069592"/>
            <a:ext cx="10286335" cy="6430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使用 </a:t>
            </a:r>
            <a:r>
              <a:rPr lang="en-US" altLang="zh-TW" dirty="0">
                <a:ea typeface="標楷體" panose="03000509000000000000" pitchFamily="65" charset="-120"/>
              </a:rPr>
              <a:t>6 </a:t>
            </a:r>
            <a:r>
              <a:rPr lang="zh-TW" altLang="en-US" dirty="0">
                <a:ea typeface="標楷體" panose="03000509000000000000" pitchFamily="65" charset="-120"/>
              </a:rPr>
              <a:t>組 </a:t>
            </a:r>
            <a:r>
              <a:rPr lang="en-US" altLang="zh-TW" dirty="0">
                <a:ea typeface="標楷體" panose="03000509000000000000" pitchFamily="65" charset="-120"/>
              </a:rPr>
              <a:t>seed </a:t>
            </a:r>
            <a:r>
              <a:rPr lang="zh-TW" altLang="en-US" dirty="0">
                <a:ea typeface="標楷體" panose="03000509000000000000" pitchFamily="65" charset="-120"/>
              </a:rPr>
              <a:t>產生 </a:t>
            </a:r>
            <a:r>
              <a:rPr lang="en-US" altLang="zh-TW" dirty="0">
                <a:ea typeface="標楷體" panose="03000509000000000000" pitchFamily="65" charset="-120"/>
              </a:rPr>
              <a:t>6</a:t>
            </a:r>
            <a:r>
              <a:rPr lang="zh-TW" altLang="en-US" dirty="0">
                <a:ea typeface="標楷體" panose="03000509000000000000" pitchFamily="65" charset="-120"/>
              </a:rPr>
              <a:t>組擴增資料集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每組擴增資料集訓練 </a:t>
            </a:r>
            <a:r>
              <a:rPr lang="en-US" altLang="zh-TW" dirty="0">
                <a:ea typeface="標楷體" panose="03000509000000000000" pitchFamily="65" charset="-120"/>
              </a:rPr>
              <a:t>20</a:t>
            </a:r>
            <a:r>
              <a:rPr lang="zh-TW" altLang="en-US" dirty="0">
                <a:ea typeface="標楷體" panose="03000509000000000000" pitchFamily="65" charset="-120"/>
              </a:rPr>
              <a:t> 個模型，並統計平均的最高 </a:t>
            </a:r>
            <a:r>
              <a:rPr lang="en-US" altLang="zh-TW" dirty="0">
                <a:ea typeface="標楷體" panose="03000509000000000000" pitchFamily="65" charset="-120"/>
              </a:rPr>
              <a:t>F1 score</a:t>
            </a:r>
          </a:p>
          <a:p>
            <a:pPr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統計每組擴增資料集平均 </a:t>
            </a:r>
            <a:r>
              <a:rPr lang="en-US" altLang="zh-TW" dirty="0">
                <a:ea typeface="標楷體" panose="03000509000000000000" pitchFamily="65" charset="-120"/>
              </a:rPr>
              <a:t>Micro F1 score</a:t>
            </a:r>
            <a:r>
              <a:rPr lang="zh-TW" altLang="en-US" dirty="0">
                <a:ea typeface="標楷體" panose="03000509000000000000" pitchFamily="65" charset="-120"/>
              </a:rPr>
              <a:t> 的平均</a:t>
            </a:r>
            <a:endParaRPr lang="en-US" altLang="zh-TW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sz="28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F9AEEC6-C03E-4AFB-BAA1-A6F81A23E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943" y="2944303"/>
            <a:ext cx="86963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167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測試不同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seed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產生的擴增資料集對訓練結果的差異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DDF42A1-5374-4A15-BBDE-190428DEA6E0}"/>
              </a:ext>
            </a:extLst>
          </p:cNvPr>
          <p:cNvSpPr txBox="1">
            <a:spLocks/>
          </p:cNvSpPr>
          <p:nvPr/>
        </p:nvSpPr>
        <p:spPr>
          <a:xfrm>
            <a:off x="686464" y="1069592"/>
            <a:ext cx="10286335" cy="6430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使用 </a:t>
            </a:r>
            <a:r>
              <a:rPr lang="en-US" altLang="zh-TW" dirty="0">
                <a:ea typeface="標楷體" panose="03000509000000000000" pitchFamily="65" charset="-120"/>
              </a:rPr>
              <a:t>6 </a:t>
            </a:r>
            <a:r>
              <a:rPr lang="zh-TW" altLang="en-US" dirty="0">
                <a:ea typeface="標楷體" panose="03000509000000000000" pitchFamily="65" charset="-120"/>
              </a:rPr>
              <a:t>組 </a:t>
            </a:r>
            <a:r>
              <a:rPr lang="en-US" altLang="zh-TW" dirty="0">
                <a:ea typeface="標楷體" panose="03000509000000000000" pitchFamily="65" charset="-120"/>
              </a:rPr>
              <a:t>seed </a:t>
            </a:r>
            <a:r>
              <a:rPr lang="zh-TW" altLang="en-US" dirty="0">
                <a:ea typeface="標楷體" panose="03000509000000000000" pitchFamily="65" charset="-120"/>
              </a:rPr>
              <a:t>產生 </a:t>
            </a:r>
            <a:r>
              <a:rPr lang="en-US" altLang="zh-TW" dirty="0">
                <a:ea typeface="標楷體" panose="03000509000000000000" pitchFamily="65" charset="-120"/>
              </a:rPr>
              <a:t>6</a:t>
            </a:r>
            <a:r>
              <a:rPr lang="zh-TW" altLang="en-US" dirty="0">
                <a:ea typeface="標楷體" panose="03000509000000000000" pitchFamily="65" charset="-120"/>
              </a:rPr>
              <a:t>組擴增資料集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每組擴增資料集訓練 </a:t>
            </a:r>
            <a:r>
              <a:rPr lang="en-US" altLang="zh-TW" dirty="0">
                <a:ea typeface="標楷體" panose="03000509000000000000" pitchFamily="65" charset="-120"/>
              </a:rPr>
              <a:t>20</a:t>
            </a:r>
            <a:r>
              <a:rPr lang="zh-TW" altLang="en-US" dirty="0">
                <a:ea typeface="標楷體" panose="03000509000000000000" pitchFamily="65" charset="-120"/>
              </a:rPr>
              <a:t> 個模型，並統計平均的最高 </a:t>
            </a:r>
            <a:r>
              <a:rPr lang="en-US" altLang="zh-TW" dirty="0">
                <a:ea typeface="標楷體" panose="03000509000000000000" pitchFamily="65" charset="-120"/>
              </a:rPr>
              <a:t>F1 score</a:t>
            </a:r>
          </a:p>
          <a:p>
            <a:pPr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統計每組擴增資料集平均 </a:t>
            </a:r>
            <a:r>
              <a:rPr lang="en-US" altLang="zh-TW" dirty="0">
                <a:ea typeface="標楷體" panose="03000509000000000000" pitchFamily="65" charset="-120"/>
              </a:rPr>
              <a:t>Macro F1 score</a:t>
            </a:r>
            <a:r>
              <a:rPr lang="zh-TW" altLang="en-US" dirty="0">
                <a:ea typeface="標楷體" panose="03000509000000000000" pitchFamily="65" charset="-120"/>
              </a:rPr>
              <a:t> 的平均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8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sz="28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5D7BCD1-2939-4089-9EFE-6EBC89847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856" y="2940470"/>
            <a:ext cx="86677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4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6"/>
            <a:ext cx="11744588" cy="706364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用同一組擴增資料查看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組訓練的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train_loss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2C0C680F-63A9-4D39-A1DC-E42ABCF74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800"/>
            <a:ext cx="5998130" cy="2247034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E0933988-1B02-4FD1-87B4-A2490CB56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886" y="581800"/>
            <a:ext cx="6038523" cy="2247033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F0A472FB-FD1F-4A54-BF16-3BB7ACC90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" y="2828833"/>
            <a:ext cx="5976676" cy="2238996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08196ACA-D56C-47F7-89C6-60A8E3F3CA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9096" y="2801098"/>
            <a:ext cx="6038523" cy="2266731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E0B4A4E1-9961-4934-AE97-0EF5FF1FE3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738" y="5067829"/>
            <a:ext cx="4573619" cy="171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9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用同一組擴增資料查看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組訓練的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train_loss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seed 789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A1862ED-B06A-4F4E-B9D1-E33A8B853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4752"/>
            <a:ext cx="12192000" cy="558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00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用同一組擴增資料查看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組訓練的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train_loss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seed 789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C972C4B-3602-44A4-ACED-D857AB443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0745"/>
            <a:ext cx="6119646" cy="468481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25480A9-6946-404C-9968-D855590DE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958" y="1870745"/>
            <a:ext cx="5955271" cy="4797545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8252FD81-92F4-488B-9565-7E22E8899D0C}"/>
              </a:ext>
            </a:extLst>
          </p:cNvPr>
          <p:cNvSpPr txBox="1">
            <a:spLocks/>
          </p:cNvSpPr>
          <p:nvPr/>
        </p:nvSpPr>
        <p:spPr>
          <a:xfrm>
            <a:off x="2260832" y="1209752"/>
            <a:ext cx="2009164" cy="548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steplr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5699F3C4-D16A-485D-ABE7-ECC5AB8C8D45}"/>
              </a:ext>
            </a:extLst>
          </p:cNvPr>
          <p:cNvSpPr txBox="1">
            <a:spLocks/>
          </p:cNvSpPr>
          <p:nvPr/>
        </p:nvSpPr>
        <p:spPr>
          <a:xfrm>
            <a:off x="7513739" y="1244966"/>
            <a:ext cx="3173836" cy="548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右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schudeler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673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用同一組擴增資料查看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組訓練的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train_loss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seed 161718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BA4BA37-A58B-4CFD-92E4-35CCD7FA3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0835"/>
            <a:ext cx="12192000" cy="560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47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用同一組擴增資料查看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組訓練的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train_loss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seed 161718</a:t>
            </a: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8252FD81-92F4-488B-9565-7E22E8899D0C}"/>
              </a:ext>
            </a:extLst>
          </p:cNvPr>
          <p:cNvSpPr txBox="1">
            <a:spLocks/>
          </p:cNvSpPr>
          <p:nvPr/>
        </p:nvSpPr>
        <p:spPr>
          <a:xfrm>
            <a:off x="2260832" y="1209752"/>
            <a:ext cx="2009164" cy="548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steplr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5699F3C4-D16A-485D-ABE7-ECC5AB8C8D45}"/>
              </a:ext>
            </a:extLst>
          </p:cNvPr>
          <p:cNvSpPr txBox="1">
            <a:spLocks/>
          </p:cNvSpPr>
          <p:nvPr/>
        </p:nvSpPr>
        <p:spPr>
          <a:xfrm>
            <a:off x="7513739" y="1244966"/>
            <a:ext cx="3173836" cy="548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右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schudeler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D085C50-38B0-41F1-A065-3E9E368D7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3228"/>
            <a:ext cx="6079744" cy="475088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CA1F1D8-642F-4D5D-8374-33616438F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744" y="1793228"/>
            <a:ext cx="6050345" cy="482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57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用同一組擴增資料查看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組訓練的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train_loss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seed 282930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201E7BC-1DCB-4598-8B31-29060D38B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8113"/>
            <a:ext cx="12192000" cy="563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67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用同一組擴增資料查看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組訓練的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train_loss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seed 282930</a:t>
            </a: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8252FD81-92F4-488B-9565-7E22E8899D0C}"/>
              </a:ext>
            </a:extLst>
          </p:cNvPr>
          <p:cNvSpPr txBox="1">
            <a:spLocks/>
          </p:cNvSpPr>
          <p:nvPr/>
        </p:nvSpPr>
        <p:spPr>
          <a:xfrm>
            <a:off x="2260832" y="1209752"/>
            <a:ext cx="2009164" cy="548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steplr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5699F3C4-D16A-485D-ABE7-ECC5AB8C8D45}"/>
              </a:ext>
            </a:extLst>
          </p:cNvPr>
          <p:cNvSpPr txBox="1">
            <a:spLocks/>
          </p:cNvSpPr>
          <p:nvPr/>
        </p:nvSpPr>
        <p:spPr>
          <a:xfrm>
            <a:off x="7513739" y="1244966"/>
            <a:ext cx="3173836" cy="548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右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schudeler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8DE0F55-3C19-4589-B970-8E97ED222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277" y="1923602"/>
            <a:ext cx="6123888" cy="481162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2E7789D-9BD2-4996-9E0E-9F8099404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7" y="1830681"/>
            <a:ext cx="6053839" cy="479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56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用同一組擴增資料查看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組訓練的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train_loss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seed 373839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97335EC-2E72-4ABA-9680-AFE94E950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6510"/>
            <a:ext cx="12192000" cy="562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13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用同一組擴增資料查看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組訓練的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train_loss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seed 373839</a:t>
            </a: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8252FD81-92F4-488B-9565-7E22E8899D0C}"/>
              </a:ext>
            </a:extLst>
          </p:cNvPr>
          <p:cNvSpPr txBox="1">
            <a:spLocks/>
          </p:cNvSpPr>
          <p:nvPr/>
        </p:nvSpPr>
        <p:spPr>
          <a:xfrm>
            <a:off x="2260832" y="1209752"/>
            <a:ext cx="2009164" cy="548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steplr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5699F3C4-D16A-485D-ABE7-ECC5AB8C8D45}"/>
              </a:ext>
            </a:extLst>
          </p:cNvPr>
          <p:cNvSpPr txBox="1">
            <a:spLocks/>
          </p:cNvSpPr>
          <p:nvPr/>
        </p:nvSpPr>
        <p:spPr>
          <a:xfrm>
            <a:off x="7513739" y="1244966"/>
            <a:ext cx="3173836" cy="548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右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schudeler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5BB7B86-02DA-41E0-ADFD-6E1ABD582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03" y="1879135"/>
            <a:ext cx="6114597" cy="483625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5E6E425-84F8-47CD-8BB6-4A05BB0AE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9" y="1751561"/>
            <a:ext cx="6025654" cy="496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72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用同一組擴增資料查看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組訓練的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train_loss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seed 434445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B3EE7E-CA3E-4145-BF57-F447E45B9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8587"/>
            <a:ext cx="12192000" cy="562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16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用同一組擴增資料查看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組訓練的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train_loss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seed 434445</a:t>
            </a: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8252FD81-92F4-488B-9565-7E22E8899D0C}"/>
              </a:ext>
            </a:extLst>
          </p:cNvPr>
          <p:cNvSpPr txBox="1">
            <a:spLocks/>
          </p:cNvSpPr>
          <p:nvPr/>
        </p:nvSpPr>
        <p:spPr>
          <a:xfrm>
            <a:off x="2260832" y="1209752"/>
            <a:ext cx="2009164" cy="548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steplr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5699F3C4-D16A-485D-ABE7-ECC5AB8C8D45}"/>
              </a:ext>
            </a:extLst>
          </p:cNvPr>
          <p:cNvSpPr txBox="1">
            <a:spLocks/>
          </p:cNvSpPr>
          <p:nvPr/>
        </p:nvSpPr>
        <p:spPr>
          <a:xfrm>
            <a:off x="7513739" y="1244966"/>
            <a:ext cx="3173836" cy="548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右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schudeler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DFC0110-2CD6-4F0E-AF9E-8F9A5EB26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11" y="2024023"/>
            <a:ext cx="6045825" cy="481572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67B781A-09DF-4EB6-8233-7FE498227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239" y="2005768"/>
            <a:ext cx="6175761" cy="483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98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scheduler + dropout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與不同的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weight decay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39FE238-DC25-46EC-95F7-0566DCD43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" y="1833562"/>
            <a:ext cx="6029325" cy="319087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CCDB72B6-4E10-4F7C-8DA0-25492BF7A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0" y="1833562"/>
            <a:ext cx="601027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7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scheduler + dropout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與不同的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weight decay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99CA66-C5A3-42DD-AFD8-2CA85AF6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214694"/>
            <a:ext cx="6038850" cy="32004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6FB14FD-B9D6-431E-A933-2A1F75A79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675" y="2233744"/>
            <a:ext cx="59721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20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scheduler + dropout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與不同的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weight decay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AC253A3-5727-4E60-9901-EC3774A2E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43087"/>
            <a:ext cx="6029325" cy="317182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551F175-4C0B-404A-A8A1-565E40641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24037"/>
            <a:ext cx="59912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11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後續實驗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721F2B7-DC15-4FF5-A21B-755111CCDCBE}"/>
              </a:ext>
            </a:extLst>
          </p:cNvPr>
          <p:cNvSpPr txBox="1">
            <a:spLocks/>
          </p:cNvSpPr>
          <p:nvPr/>
        </p:nvSpPr>
        <p:spPr>
          <a:xfrm>
            <a:off x="686464" y="1069592"/>
            <a:ext cx="11116846" cy="6430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訓練過程改動</a:t>
            </a:r>
            <a:r>
              <a:rPr lang="en-US" altLang="zh-TW" sz="3200" dirty="0">
                <a:ea typeface="標楷體" panose="03000509000000000000" pitchFamily="65" charset="-12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使用 </a:t>
            </a:r>
            <a:r>
              <a:rPr lang="en-US" altLang="zh-TW" sz="2800" dirty="0" err="1">
                <a:ea typeface="標楷體" panose="03000509000000000000" pitchFamily="65" charset="-120"/>
              </a:rPr>
              <a:t>WarmUp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用 </a:t>
            </a:r>
            <a:r>
              <a:rPr lang="en-US" altLang="zh-TW" sz="2800" dirty="0">
                <a:ea typeface="標楷體" panose="03000509000000000000" pitchFamily="65" charset="-120"/>
              </a:rPr>
              <a:t>PHQ-8 </a:t>
            </a:r>
            <a:r>
              <a:rPr lang="zh-TW" altLang="en-US" sz="2800" dirty="0">
                <a:ea typeface="標楷體" panose="03000509000000000000" pitchFamily="65" charset="-120"/>
              </a:rPr>
              <a:t>分數對 </a:t>
            </a:r>
            <a:r>
              <a:rPr lang="en-US" altLang="zh-TW" sz="2800" dirty="0">
                <a:ea typeface="標楷體" panose="03000509000000000000" pitchFamily="65" charset="-120"/>
              </a:rPr>
              <a:t>binary label </a:t>
            </a:r>
            <a:r>
              <a:rPr lang="zh-TW" altLang="en-US" sz="2800" dirty="0">
                <a:ea typeface="標楷體" panose="03000509000000000000" pitchFamily="65" charset="-120"/>
              </a:rPr>
              <a:t>作 </a:t>
            </a:r>
            <a:r>
              <a:rPr lang="en-US" altLang="zh-TW" sz="2800" dirty="0">
                <a:ea typeface="標楷體" panose="03000509000000000000" pitchFamily="65" charset="-120"/>
              </a:rPr>
              <a:t>smoothing</a:t>
            </a: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用 </a:t>
            </a:r>
            <a:r>
              <a:rPr lang="en-US" altLang="zh-TW" sz="2800" dirty="0">
                <a:ea typeface="標楷體" panose="03000509000000000000" pitchFamily="65" charset="-120"/>
              </a:rPr>
              <a:t>PHQ-8 </a:t>
            </a:r>
            <a:r>
              <a:rPr lang="zh-TW" altLang="en-US" sz="2800" dirty="0">
                <a:ea typeface="標楷體" panose="03000509000000000000" pitchFamily="65" charset="-120"/>
              </a:rPr>
              <a:t>分數作為 </a:t>
            </a:r>
            <a:r>
              <a:rPr lang="en-US" altLang="zh-TW" sz="2800" dirty="0">
                <a:ea typeface="標楷體" panose="03000509000000000000" pitchFamily="65" charset="-120"/>
              </a:rPr>
              <a:t>label</a:t>
            </a:r>
            <a:r>
              <a:rPr lang="zh-TW" altLang="en-US" sz="2800" dirty="0">
                <a:ea typeface="標楷體" panose="03000509000000000000" pitchFamily="65" charset="-120"/>
              </a:rPr>
              <a:t>，以 </a:t>
            </a:r>
            <a:r>
              <a:rPr lang="en-US" altLang="zh-TW" sz="2800" dirty="0">
                <a:ea typeface="標楷體" panose="03000509000000000000" pitchFamily="65" charset="-120"/>
              </a:rPr>
              <a:t>regression task </a:t>
            </a:r>
            <a:r>
              <a:rPr lang="zh-TW" altLang="en-US" sz="2800" dirty="0">
                <a:ea typeface="標楷體" panose="03000509000000000000" pitchFamily="65" charset="-120"/>
              </a:rPr>
              <a:t>訓練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模型架構更改</a:t>
            </a:r>
            <a:r>
              <a:rPr lang="en-US" altLang="zh-TW" sz="3200" dirty="0">
                <a:ea typeface="標楷體" panose="03000509000000000000" pitchFamily="65" charset="-12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提高 </a:t>
            </a:r>
            <a:r>
              <a:rPr lang="en-US" altLang="zh-TW" sz="2800" dirty="0">
                <a:ea typeface="標楷體" panose="03000509000000000000" pitchFamily="65" charset="-120"/>
              </a:rPr>
              <a:t>Transformer</a:t>
            </a:r>
            <a:r>
              <a:rPr lang="zh-TW" altLang="en-US" sz="2800" dirty="0">
                <a:ea typeface="標楷體" panose="03000509000000000000" pitchFamily="65" charset="-120"/>
              </a:rPr>
              <a:t> 的特徵維度</a:t>
            </a:r>
            <a:r>
              <a:rPr lang="en-US" altLang="zh-TW" sz="2800" dirty="0">
                <a:ea typeface="標楷體" panose="03000509000000000000" pitchFamily="65" charset="-120"/>
              </a:rPr>
              <a:t>: 128 -&gt; 256, 512</a:t>
            </a: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用 </a:t>
            </a:r>
            <a:r>
              <a:rPr lang="en-US" altLang="zh-TW" sz="2800" dirty="0">
                <a:ea typeface="標楷體" panose="03000509000000000000" pitchFamily="65" charset="-120"/>
              </a:rPr>
              <a:t>modal cross </a:t>
            </a:r>
            <a:r>
              <a:rPr lang="en-US" altLang="zh-TW" sz="2800" dirty="0" err="1">
                <a:ea typeface="標楷體" panose="03000509000000000000" pitchFamily="65" charset="-120"/>
              </a:rPr>
              <a:t>attentation</a:t>
            </a:r>
            <a:r>
              <a:rPr lang="en-US" altLang="zh-TW" sz="2800" dirty="0">
                <a:ea typeface="標楷體" panose="03000509000000000000" pitchFamily="65" charset="-120"/>
              </a:rPr>
              <a:t> </a:t>
            </a:r>
            <a:r>
              <a:rPr lang="zh-TW" altLang="en-US" sz="2800" dirty="0">
                <a:ea typeface="標楷體" panose="03000509000000000000" pitchFamily="65" charset="-120"/>
              </a:rPr>
              <a:t>取代 </a:t>
            </a:r>
            <a:r>
              <a:rPr lang="en-US" altLang="zh-TW" sz="2800" dirty="0">
                <a:ea typeface="標楷體" panose="03000509000000000000" pitchFamily="65" charset="-120"/>
              </a:rPr>
              <a:t>feature concatenation</a:t>
            </a: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458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03C1DE83-D743-4F4D-BBCC-6D33CEE679A8}"/>
              </a:ext>
            </a:extLst>
          </p:cNvPr>
          <p:cNvSpPr txBox="1">
            <a:spLocks/>
          </p:cNvSpPr>
          <p:nvPr/>
        </p:nvSpPr>
        <p:spPr>
          <a:xfrm>
            <a:off x="321577" y="18255"/>
            <a:ext cx="117445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Development set statistics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278A1E0-90EA-471F-9B11-E5463D100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153529"/>
            <a:ext cx="11258550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9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1234</Words>
  <Application>Microsoft Office PowerPoint</Application>
  <PresentationFormat>寬螢幕</PresentationFormat>
  <Paragraphs>187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-apple-system</vt:lpstr>
      <vt:lpstr>Arial</vt:lpstr>
      <vt:lpstr>Calibri</vt:lpstr>
      <vt:lpstr>Calibri Light</vt:lpstr>
      <vt:lpstr>Office 佈景主題</vt:lpstr>
      <vt:lpstr>2024/03/12 Meeting Report</vt:lpstr>
      <vt:lpstr>目前使用的 augmentation 方法</vt:lpstr>
      <vt:lpstr>目前使用的 augmentation 方法</vt:lpstr>
      <vt:lpstr>目前使用的 augmentation 方法</vt:lpstr>
      <vt:lpstr>模型架構</vt:lpstr>
      <vt:lpstr>測試不同 seed 產生的擴增資料集對訓練結果的差異</vt:lpstr>
      <vt:lpstr>測試不同 seed 產生的擴增資料集對訓練結果的差異</vt:lpstr>
      <vt:lpstr>用同一組擴增資料查看 5 組訓練的 train_loss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後續實驗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2024/03/12 Meeting Report</dc:title>
  <dc:creator>嘉均 簡</dc:creator>
  <cp:lastModifiedBy>嘉均 簡</cp:lastModifiedBy>
  <cp:revision>28</cp:revision>
  <dcterms:created xsi:type="dcterms:W3CDTF">2025-03-12T02:13:43Z</dcterms:created>
  <dcterms:modified xsi:type="dcterms:W3CDTF">2025-03-14T03:59:42Z</dcterms:modified>
</cp:coreProperties>
</file>