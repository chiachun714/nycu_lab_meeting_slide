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7" r:id="rId2"/>
    <p:sldId id="316" r:id="rId3"/>
    <p:sldId id="317" r:id="rId4"/>
    <p:sldId id="318" r:id="rId5"/>
    <p:sldId id="319" r:id="rId6"/>
    <p:sldId id="320" r:id="rId7"/>
    <p:sldId id="321" r:id="rId8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7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A329BC-DD56-412E-AB6D-98946D1EC176}" type="datetimeFigureOut">
              <a:rPr lang="zh-TW" altLang="en-US" smtClean="0"/>
              <a:t>2025/4/1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66F49F-693F-4205-81F6-1D0602056F7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592756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AA43A8-D8AF-4A57-B3C3-ACEB87B86596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040039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一般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都會根據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batch size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做一些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scale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的操作。這裏用的是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lr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x 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batch_size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/ 256</a:t>
            </a:r>
            <a:r>
              <a:rPr lang="zh-TW" altLang="en-US" b="1" i="0" dirty="0">
                <a:solidFill>
                  <a:srgbClr val="4A4A4A"/>
                </a:solidFill>
                <a:effectLst/>
                <a:latin typeface="-apple-system"/>
              </a:rPr>
              <a:t>」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。</a:t>
            </a:r>
            <a:endParaRPr lang="en-US" altLang="zh-TW" b="0" i="0" dirty="0">
              <a:solidFill>
                <a:srgbClr val="4A4A4A"/>
              </a:solidFill>
              <a:effectLst/>
              <a:latin typeface="-apple-system"/>
            </a:endParaRP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小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under-fitting</a:t>
            </a: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大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unstable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9977A-F9B1-4E82-8DFA-4B4DCD30651E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788546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一般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都會根據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batch size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做一些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scale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的操作。這裏用的是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lr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x 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batch_size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/ 256</a:t>
            </a:r>
            <a:r>
              <a:rPr lang="zh-TW" altLang="en-US" b="1" i="0" dirty="0">
                <a:solidFill>
                  <a:srgbClr val="4A4A4A"/>
                </a:solidFill>
                <a:effectLst/>
                <a:latin typeface="-apple-system"/>
              </a:rPr>
              <a:t>」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。</a:t>
            </a:r>
            <a:endParaRPr lang="en-US" altLang="zh-TW" b="0" i="0" dirty="0">
              <a:solidFill>
                <a:srgbClr val="4A4A4A"/>
              </a:solidFill>
              <a:effectLst/>
              <a:latin typeface="-apple-system"/>
            </a:endParaRP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小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under-fitting</a:t>
            </a: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大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unstable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9977A-F9B1-4E82-8DFA-4B4DCD30651E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465091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一般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都會根據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batch size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做一些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scale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的操作。這裏用的是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lr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x 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batch_size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/ 256</a:t>
            </a:r>
            <a:r>
              <a:rPr lang="zh-TW" altLang="en-US" b="1" i="0" dirty="0">
                <a:solidFill>
                  <a:srgbClr val="4A4A4A"/>
                </a:solidFill>
                <a:effectLst/>
                <a:latin typeface="-apple-system"/>
              </a:rPr>
              <a:t>」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。</a:t>
            </a:r>
            <a:endParaRPr lang="en-US" altLang="zh-TW" b="0" i="0" dirty="0">
              <a:solidFill>
                <a:srgbClr val="4A4A4A"/>
              </a:solidFill>
              <a:effectLst/>
              <a:latin typeface="-apple-system"/>
            </a:endParaRP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小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under-fitting</a:t>
            </a: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大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unstable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9977A-F9B1-4E82-8DFA-4B4DCD30651E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687104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一般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都會根據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batch size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做一些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scale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的操作。這裏用的是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lr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x 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batch_size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/ 256</a:t>
            </a:r>
            <a:r>
              <a:rPr lang="zh-TW" altLang="en-US" b="1" i="0" dirty="0">
                <a:solidFill>
                  <a:srgbClr val="4A4A4A"/>
                </a:solidFill>
                <a:effectLst/>
                <a:latin typeface="-apple-system"/>
              </a:rPr>
              <a:t>」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。</a:t>
            </a:r>
            <a:endParaRPr lang="en-US" altLang="zh-TW" b="0" i="0" dirty="0">
              <a:solidFill>
                <a:srgbClr val="4A4A4A"/>
              </a:solidFill>
              <a:effectLst/>
              <a:latin typeface="-apple-system"/>
            </a:endParaRP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小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under-fitting</a:t>
            </a: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大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unstable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9977A-F9B1-4E82-8DFA-4B4DCD30651E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457433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一般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都會根據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batch size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做一些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scale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的操作。這裏用的是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lr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x 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batch_size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/ 256</a:t>
            </a:r>
            <a:r>
              <a:rPr lang="zh-TW" altLang="en-US" b="1" i="0" dirty="0">
                <a:solidFill>
                  <a:srgbClr val="4A4A4A"/>
                </a:solidFill>
                <a:effectLst/>
                <a:latin typeface="-apple-system"/>
              </a:rPr>
              <a:t>」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。</a:t>
            </a:r>
            <a:endParaRPr lang="en-US" altLang="zh-TW" b="0" i="0" dirty="0">
              <a:solidFill>
                <a:srgbClr val="4A4A4A"/>
              </a:solidFill>
              <a:effectLst/>
              <a:latin typeface="-apple-system"/>
            </a:endParaRP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小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under-fitting</a:t>
            </a: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大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unstable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9977A-F9B1-4E82-8DFA-4B4DCD30651E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7394852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一般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都會根據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batch size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做一些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scale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的操作。這裏用的是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lr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x 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batch_size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/ 256</a:t>
            </a:r>
            <a:r>
              <a:rPr lang="zh-TW" altLang="en-US" b="1" i="0" dirty="0">
                <a:solidFill>
                  <a:srgbClr val="4A4A4A"/>
                </a:solidFill>
                <a:effectLst/>
                <a:latin typeface="-apple-system"/>
              </a:rPr>
              <a:t>」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。</a:t>
            </a:r>
            <a:endParaRPr lang="en-US" altLang="zh-TW" b="0" i="0" dirty="0">
              <a:solidFill>
                <a:srgbClr val="4A4A4A"/>
              </a:solidFill>
              <a:effectLst/>
              <a:latin typeface="-apple-system"/>
            </a:endParaRP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小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under-fitting</a:t>
            </a: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大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unstable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9977A-F9B1-4E82-8DFA-4B4DCD30651E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377906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92D5FD9-BE5A-4DDB-998A-467E271407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70048F3B-7343-4005-9AEF-5A58E1F7F0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7D00135-AF0A-4A0C-A0FD-140205E405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F25B7-5051-4EE4-B41A-D733EC322725}" type="datetimeFigureOut">
              <a:rPr lang="zh-TW" altLang="en-US" smtClean="0"/>
              <a:t>2025/4/1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307997A-F158-4A93-8B38-2B38EADA23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059CAD8-DDB5-4ABF-9D12-8A0573A6E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C42BEE-4F63-4B3D-93E0-A233D625DD8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089939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0F297A6-DC09-4DFB-B1F3-FABE9BB2A3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D6B119C-144A-424F-AFDD-E9C4B9CA7C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5F4892F-23A7-4A85-A74B-0A467710B7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F25B7-5051-4EE4-B41A-D733EC322725}" type="datetimeFigureOut">
              <a:rPr lang="zh-TW" altLang="en-US" smtClean="0"/>
              <a:t>2025/4/1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F3195F7-D0D4-4F62-B11A-A34C60270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75DEE73-A90C-4BCC-B406-72558066A0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C42BEE-4F63-4B3D-93E0-A233D625DD8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152799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CF0738A-E9F9-4671-A192-5E55869CF6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C7B21166-7CBA-4598-BFC1-B0C221EB1D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425B4FF-F9FC-4655-A774-A6B4DA919B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F25B7-5051-4EE4-B41A-D733EC322725}" type="datetimeFigureOut">
              <a:rPr lang="zh-TW" altLang="en-US" smtClean="0"/>
              <a:t>2025/4/1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CF82D14-0A7C-4A51-A5DB-F9D13D788A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C2E62CE-7003-44B8-86F1-7788C2ECD3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C42BEE-4F63-4B3D-93E0-A233D625DD8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109868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853230A-4219-4911-A7E0-E28ADE55E3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A3CC747-33C4-4998-925A-A00B952674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A0480902-8B29-4EAE-B157-B1E0B24C9A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CEFEC12C-E5D9-4739-A0F6-309A668FE9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F25B7-5051-4EE4-B41A-D733EC322725}" type="datetimeFigureOut">
              <a:rPr lang="zh-TW" altLang="en-US" smtClean="0"/>
              <a:t>2025/4/1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EF10CC1A-4EE7-451C-8551-E54A5ADBE9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18D4F8E4-219C-41B1-88C0-735E37C71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C42BEE-4F63-4B3D-93E0-A233D625DD8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642627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240B1C1-3ED8-4016-A1D6-258016B666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DE9C5203-CE76-4E6F-89EF-886AA2CA6B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265BFA39-E4C0-481F-A670-6E5A2038A4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1D279B3A-6ED4-479B-9BBF-E4A3BEEAFA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89352870-4362-422A-A0FF-6AA0C5612C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4ADBF9C1-4CC4-43C0-B989-3D1EC2119A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F25B7-5051-4EE4-B41A-D733EC322725}" type="datetimeFigureOut">
              <a:rPr lang="zh-TW" altLang="en-US" smtClean="0"/>
              <a:t>2025/4/1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86375419-27CD-4FDB-930F-B90D1A28EB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CBA2A92E-0721-46D3-9B06-E1436BE32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C42BEE-4F63-4B3D-93E0-A233D625DD8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663023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33FDC8D-9355-478B-9427-30EB231315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90C49718-84EE-413C-A06A-A2AD1F0FE5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F25B7-5051-4EE4-B41A-D733EC322725}" type="datetimeFigureOut">
              <a:rPr lang="zh-TW" altLang="en-US" smtClean="0"/>
              <a:t>2025/4/1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5D624251-3413-4FFF-BFEA-6F7D725CDD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3E07628E-21FB-4721-92B1-6D9072CC52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C42BEE-4F63-4B3D-93E0-A233D625DD8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302308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7C959CA5-312F-42A2-8443-A2BE029864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F25B7-5051-4EE4-B41A-D733EC322725}" type="datetimeFigureOut">
              <a:rPr lang="zh-TW" altLang="en-US" smtClean="0"/>
              <a:t>2025/4/1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4E1A27E5-1F55-4027-A1BE-1E6636465F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0971221-294A-4E3E-B948-7180020AA6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C42BEE-4F63-4B3D-93E0-A233D625DD8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7948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09C59D7-C2C1-45C5-BF21-D13B6054BA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BB1B1ED-619F-4AC8-B6CB-646E813542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6B861582-A1D8-449E-9C0E-664B164F00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49DD6D30-B46C-48C2-A3EC-35F93C4B6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F25B7-5051-4EE4-B41A-D733EC322725}" type="datetimeFigureOut">
              <a:rPr lang="zh-TW" altLang="en-US" smtClean="0"/>
              <a:t>2025/4/1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ABC9C966-5986-498C-A472-AF61F85CA6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47CA2A5F-3C60-4CC9-978F-0488A6EAE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C42BEE-4F63-4B3D-93E0-A233D625DD8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799562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49E991F-D89D-4181-B019-C71A39DDEB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065010CC-91ED-492B-B756-02367CA9B3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521E1E87-681A-477F-8426-30A5648F24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41046510-E8BB-4575-BCC2-F42A35B462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F25B7-5051-4EE4-B41A-D733EC322725}" type="datetimeFigureOut">
              <a:rPr lang="zh-TW" altLang="en-US" smtClean="0"/>
              <a:t>2025/4/1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8E9D87C1-98A0-4328-A233-5C27F5D9B2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A9079B86-364B-4B59-AB33-17AFAAE759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C42BEE-4F63-4B3D-93E0-A233D625DD8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145984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1B987E9-3832-4FEA-AB32-46E7145A05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82EC2C13-1A2B-4DB2-A7EC-3879ABD2A2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1F6CD88-3649-4773-AF40-F39DA252B8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F25B7-5051-4EE4-B41A-D733EC322725}" type="datetimeFigureOut">
              <a:rPr lang="zh-TW" altLang="en-US" smtClean="0"/>
              <a:t>2025/4/1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65A598C-4255-4BDC-9DC5-D266F37D5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31D2FE8-16EC-4121-B366-D6B69AAE9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C42BEE-4F63-4B3D-93E0-A233D625DD8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769853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4DD7E42B-AB47-490D-97D0-38A2AC19AAF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CC125EF0-9D9F-4FCB-B3F3-599177DBE2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8B2BE5F-91A8-4810-8C45-B5708605A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F25B7-5051-4EE4-B41A-D733EC322725}" type="datetimeFigureOut">
              <a:rPr lang="zh-TW" altLang="en-US" smtClean="0"/>
              <a:t>2025/4/1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D05C607-6ABC-4679-B9EC-5D796627FD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0FDF4FB-0038-462A-ADF6-2D6867A9F2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C42BEE-4F63-4B3D-93E0-A233D625DD8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1674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9E308627-97F6-448D-BED0-60A8E1E084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9075690D-3CC3-467F-8AA2-13736225E2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BD8CC53-8E2D-4473-A28F-2F5B6332D2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DF25B7-5051-4EE4-B41A-D733EC322725}" type="datetimeFigureOut">
              <a:rPr lang="zh-TW" altLang="en-US" smtClean="0"/>
              <a:t>2025/4/1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471426C-4053-403A-9E3C-26D56A95EA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CCD5597-C435-4A20-813F-4739CA55F7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C42BEE-4F63-4B3D-93E0-A233D625DD8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639756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1F6782A-F7CF-4A5C-9F5E-8B26F42F92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0421" y="1041400"/>
            <a:ext cx="10631155" cy="2387600"/>
          </a:xfrm>
        </p:spPr>
        <p:txBody>
          <a:bodyPr>
            <a:normAutofit/>
          </a:bodyPr>
          <a:lstStyle/>
          <a:p>
            <a:r>
              <a:rPr lang="en-US" altLang="zh-TW" sz="4400" b="1" dirty="0"/>
              <a:t>2025/03/21</a:t>
            </a:r>
            <a:r>
              <a:rPr lang="zh-TW" altLang="en-US" sz="4400" b="1" dirty="0"/>
              <a:t> </a:t>
            </a:r>
            <a:r>
              <a:rPr lang="en-US" altLang="zh-TW" sz="4400" b="1" dirty="0"/>
              <a:t>Meeting Report</a:t>
            </a:r>
            <a:endParaRPr lang="zh-TW" altLang="en-US" sz="4400" dirty="0"/>
          </a:p>
        </p:txBody>
      </p:sp>
    </p:spTree>
    <p:extLst>
      <p:ext uri="{BB962C8B-B14F-4D97-AF65-F5344CB8AC3E}">
        <p14:creationId xmlns:p14="http://schemas.microsoft.com/office/powerpoint/2010/main" val="32759061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52C9CFC8-97B7-40C2-88BC-4B89FD01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577" y="18255"/>
            <a:ext cx="11744588" cy="1325563"/>
          </a:xfrm>
        </p:spPr>
        <p:txBody>
          <a:bodyPr>
            <a:normAutofit/>
          </a:bodyPr>
          <a:lstStyle/>
          <a:p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PHQ-8 </a:t>
            </a:r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問卷（</a:t>
            </a:r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Patient Health Questionnaire-8</a:t>
            </a:r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）</a:t>
            </a:r>
          </a:p>
        </p:txBody>
      </p:sp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C790674B-9EC5-4D00-A32E-9E8F49D8D015}"/>
              </a:ext>
            </a:extLst>
          </p:cNvPr>
          <p:cNvSpPr txBox="1">
            <a:spLocks/>
          </p:cNvSpPr>
          <p:nvPr/>
        </p:nvSpPr>
        <p:spPr>
          <a:xfrm>
            <a:off x="838199" y="145650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0" lvl="2" indent="0">
              <a:lnSpc>
                <a:spcPct val="100000"/>
              </a:lnSpc>
              <a:buNone/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89D7743D-A038-42D5-A08A-57BCFCBC10B9}"/>
              </a:ext>
            </a:extLst>
          </p:cNvPr>
          <p:cNvSpPr txBox="1">
            <a:spLocks/>
          </p:cNvSpPr>
          <p:nvPr/>
        </p:nvSpPr>
        <p:spPr>
          <a:xfrm>
            <a:off x="838199" y="134381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9D433679-DEC3-4133-B918-80760D3380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742" y="1091952"/>
            <a:ext cx="10515600" cy="5565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79823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52C9CFC8-97B7-40C2-88BC-4B89FD01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577" y="18255"/>
            <a:ext cx="11744588" cy="1325563"/>
          </a:xfrm>
        </p:spPr>
        <p:txBody>
          <a:bodyPr>
            <a:normAutofit/>
          </a:bodyPr>
          <a:lstStyle/>
          <a:p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PHQ-8 </a:t>
            </a:r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問卷（</a:t>
            </a:r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Patient Health Questionnaire-8</a:t>
            </a:r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）</a:t>
            </a:r>
          </a:p>
        </p:txBody>
      </p:sp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C790674B-9EC5-4D00-A32E-9E8F49D8D015}"/>
              </a:ext>
            </a:extLst>
          </p:cNvPr>
          <p:cNvSpPr txBox="1">
            <a:spLocks/>
          </p:cNvSpPr>
          <p:nvPr/>
        </p:nvSpPr>
        <p:spPr>
          <a:xfrm>
            <a:off x="838199" y="145650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0" lvl="2" indent="0">
              <a:lnSpc>
                <a:spcPct val="100000"/>
              </a:lnSpc>
              <a:buNone/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89D7743D-A038-42D5-A08A-57BCFCBC10B9}"/>
              </a:ext>
            </a:extLst>
          </p:cNvPr>
          <p:cNvSpPr txBox="1">
            <a:spLocks/>
          </p:cNvSpPr>
          <p:nvPr/>
        </p:nvSpPr>
        <p:spPr>
          <a:xfrm>
            <a:off x="838199" y="134381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32562B24-0CD0-40F3-AA22-8769F801AEE1}"/>
              </a:ext>
            </a:extLst>
          </p:cNvPr>
          <p:cNvSpPr txBox="1">
            <a:spLocks/>
          </p:cNvSpPr>
          <p:nvPr/>
        </p:nvSpPr>
        <p:spPr>
          <a:xfrm>
            <a:off x="0" y="1069592"/>
            <a:ext cx="12192000" cy="64301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zh-TW" altLang="en-US" sz="2400" dirty="0">
                <a:ea typeface="標楷體" panose="03000509000000000000" pitchFamily="65" charset="-120"/>
              </a:rPr>
              <a:t>評估過去兩週內（</a:t>
            </a:r>
            <a:r>
              <a:rPr lang="en-US" altLang="zh-TW" sz="2400" dirty="0">
                <a:ea typeface="標楷體" panose="03000509000000000000" pitchFamily="65" charset="-120"/>
              </a:rPr>
              <a:t>14 </a:t>
            </a:r>
            <a:r>
              <a:rPr lang="zh-TW" altLang="en-US" sz="2400" dirty="0">
                <a:ea typeface="標楷體" panose="03000509000000000000" pitchFamily="65" charset="-120"/>
              </a:rPr>
              <a:t>天）患者是否經歷特定的憂鬱症狀，以及這些症狀的頻率：</a:t>
            </a:r>
          </a:p>
          <a:p>
            <a:pPr marL="1200150" lvl="1" indent="-742950">
              <a:lnSpc>
                <a:spcPct val="120000"/>
              </a:lnSpc>
              <a:buFont typeface="+mj-lt"/>
              <a:buAutoNum type="arabicPeriod"/>
            </a:pPr>
            <a:r>
              <a:rPr lang="en-US" altLang="zh-TW" sz="2000" dirty="0">
                <a:ea typeface="標楷體" panose="03000509000000000000" pitchFamily="65" charset="-120"/>
              </a:rPr>
              <a:t>Little interest or pleasure in doing things</a:t>
            </a:r>
            <a:r>
              <a:rPr lang="zh-TW" altLang="en-US" sz="2000" dirty="0">
                <a:ea typeface="標楷體" panose="03000509000000000000" pitchFamily="65" charset="-120"/>
              </a:rPr>
              <a:t>（對做事情缺乏興趣或愉悅感）</a:t>
            </a:r>
          </a:p>
          <a:p>
            <a:pPr marL="1200150" lvl="1" indent="-742950">
              <a:lnSpc>
                <a:spcPct val="120000"/>
              </a:lnSpc>
              <a:buFont typeface="+mj-lt"/>
              <a:buAutoNum type="arabicPeriod"/>
            </a:pPr>
            <a:r>
              <a:rPr lang="en-US" altLang="zh-TW" sz="2000" dirty="0">
                <a:ea typeface="標楷體" panose="03000509000000000000" pitchFamily="65" charset="-120"/>
              </a:rPr>
              <a:t>Feeling down, depressed, or hopeless</a:t>
            </a:r>
            <a:r>
              <a:rPr lang="zh-TW" altLang="en-US" sz="2000" dirty="0">
                <a:ea typeface="標楷體" panose="03000509000000000000" pitchFamily="65" charset="-120"/>
              </a:rPr>
              <a:t>（感到情緒低落、憂鬱或絕望）</a:t>
            </a:r>
            <a:endParaRPr lang="en-US" altLang="zh-TW" sz="2000" dirty="0">
              <a:ea typeface="標楷體" panose="03000509000000000000" pitchFamily="65" charset="-120"/>
            </a:endParaRPr>
          </a:p>
          <a:p>
            <a:pPr marL="1200150" lvl="1" indent="-742950">
              <a:lnSpc>
                <a:spcPct val="120000"/>
              </a:lnSpc>
              <a:buFont typeface="+mj-lt"/>
              <a:buAutoNum type="arabicPeriod"/>
            </a:pPr>
            <a:r>
              <a:rPr lang="en-US" altLang="zh-TW" sz="2000" dirty="0">
                <a:ea typeface="標楷體" panose="03000509000000000000" pitchFamily="65" charset="-120"/>
              </a:rPr>
              <a:t>Trouble falling or staying asleep, or sleeping too much</a:t>
            </a:r>
            <a:r>
              <a:rPr lang="zh-TW" altLang="en-US" sz="2000" dirty="0">
                <a:ea typeface="標楷體" panose="03000509000000000000" pitchFamily="65" charset="-120"/>
              </a:rPr>
              <a:t>（難以入睡、保持睡眠，或睡得太多）</a:t>
            </a:r>
          </a:p>
          <a:p>
            <a:pPr marL="1200150" lvl="1" indent="-742950">
              <a:lnSpc>
                <a:spcPct val="120000"/>
              </a:lnSpc>
              <a:buFont typeface="+mj-lt"/>
              <a:buAutoNum type="arabicPeriod"/>
            </a:pPr>
            <a:r>
              <a:rPr lang="en-US" altLang="zh-TW" sz="2000" dirty="0">
                <a:ea typeface="標楷體" panose="03000509000000000000" pitchFamily="65" charset="-120"/>
              </a:rPr>
              <a:t>Feeling tired or having little energy</a:t>
            </a:r>
            <a:r>
              <a:rPr lang="zh-TW" altLang="en-US" sz="2000" dirty="0">
                <a:ea typeface="標楷體" panose="03000509000000000000" pitchFamily="65" charset="-120"/>
              </a:rPr>
              <a:t>（感到疲倦或缺乏精力）</a:t>
            </a:r>
          </a:p>
          <a:p>
            <a:pPr marL="1200150" lvl="1" indent="-742950">
              <a:lnSpc>
                <a:spcPct val="120000"/>
              </a:lnSpc>
              <a:buFont typeface="+mj-lt"/>
              <a:buAutoNum type="arabicPeriod"/>
            </a:pPr>
            <a:r>
              <a:rPr lang="en-US" altLang="zh-TW" sz="2000" dirty="0">
                <a:ea typeface="標楷體" panose="03000509000000000000" pitchFamily="65" charset="-120"/>
              </a:rPr>
              <a:t>Poor appetite or overeating</a:t>
            </a:r>
            <a:r>
              <a:rPr lang="zh-TW" altLang="en-US" sz="2000" dirty="0">
                <a:ea typeface="標楷體" panose="03000509000000000000" pitchFamily="65" charset="-120"/>
              </a:rPr>
              <a:t>（食慾不振或過食）</a:t>
            </a:r>
          </a:p>
          <a:p>
            <a:pPr marL="1200150" lvl="1" indent="-742950">
              <a:lnSpc>
                <a:spcPct val="120000"/>
              </a:lnSpc>
              <a:buFont typeface="+mj-lt"/>
              <a:buAutoNum type="arabicPeriod"/>
            </a:pPr>
            <a:r>
              <a:rPr lang="en-US" altLang="zh-TW" sz="2000" dirty="0">
                <a:ea typeface="標楷體" panose="03000509000000000000" pitchFamily="65" charset="-120"/>
              </a:rPr>
              <a:t>Feeling bad about yourself – or that you are a failure or have let yourself or your family down</a:t>
            </a:r>
            <a:r>
              <a:rPr lang="zh-TW" altLang="en-US" sz="2000" dirty="0">
                <a:ea typeface="標楷體" panose="03000509000000000000" pitchFamily="65" charset="-120"/>
              </a:rPr>
              <a:t>（對自己感到不好，覺得自己是失敗者，或讓自己或家人失望）</a:t>
            </a:r>
          </a:p>
          <a:p>
            <a:pPr marL="1200150" lvl="1" indent="-742950">
              <a:lnSpc>
                <a:spcPct val="120000"/>
              </a:lnSpc>
              <a:buFont typeface="+mj-lt"/>
              <a:buAutoNum type="arabicPeriod"/>
            </a:pPr>
            <a:r>
              <a:rPr lang="en-US" altLang="zh-TW" sz="2000" dirty="0">
                <a:ea typeface="標楷體" panose="03000509000000000000" pitchFamily="65" charset="-120"/>
              </a:rPr>
              <a:t>Trouble concentrating on things, such as reading the newspaper or watching television</a:t>
            </a:r>
            <a:r>
              <a:rPr lang="zh-TW" altLang="en-US" sz="2000" dirty="0">
                <a:ea typeface="標楷體" panose="03000509000000000000" pitchFamily="65" charset="-120"/>
              </a:rPr>
              <a:t>（難以專注於事情，例如閱讀報紙或看電視）</a:t>
            </a:r>
          </a:p>
          <a:p>
            <a:pPr marL="1200150" lvl="1" indent="-742950">
              <a:lnSpc>
                <a:spcPct val="120000"/>
              </a:lnSpc>
              <a:buFont typeface="+mj-lt"/>
              <a:buAutoNum type="arabicPeriod"/>
            </a:pPr>
            <a:r>
              <a:rPr lang="en-US" altLang="zh-TW" sz="2000" dirty="0">
                <a:ea typeface="標楷體" panose="03000509000000000000" pitchFamily="65" charset="-120"/>
              </a:rPr>
              <a:t>Moving or speaking so slowly that other people could have noticed? Or the opposite – being so fidgety or restless that you have been moving around a lot more than usual</a:t>
            </a:r>
            <a:r>
              <a:rPr lang="zh-TW" altLang="en-US" sz="2000" dirty="0">
                <a:ea typeface="標楷體" panose="03000509000000000000" pitchFamily="65" charset="-120"/>
              </a:rPr>
              <a:t>（動作或說話緩慢到他人可能會注意到？或相反，感到焦躁或不安，移動比平時多很多）</a:t>
            </a:r>
            <a:endParaRPr lang="en-US" altLang="zh-TW" sz="20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0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0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0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0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000" dirty="0"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578506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52C9CFC8-97B7-40C2-88BC-4B89FD01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577" y="18255"/>
            <a:ext cx="11744588" cy="1325563"/>
          </a:xfrm>
        </p:spPr>
        <p:txBody>
          <a:bodyPr>
            <a:normAutofit/>
          </a:bodyPr>
          <a:lstStyle/>
          <a:p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PHQ-8 </a:t>
            </a:r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問卷（</a:t>
            </a:r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Patient Health Questionnaire-8</a:t>
            </a:r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）</a:t>
            </a:r>
          </a:p>
        </p:txBody>
      </p:sp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C790674B-9EC5-4D00-A32E-9E8F49D8D015}"/>
              </a:ext>
            </a:extLst>
          </p:cNvPr>
          <p:cNvSpPr txBox="1">
            <a:spLocks/>
          </p:cNvSpPr>
          <p:nvPr/>
        </p:nvSpPr>
        <p:spPr>
          <a:xfrm>
            <a:off x="838199" y="145650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0" lvl="2" indent="0">
              <a:lnSpc>
                <a:spcPct val="100000"/>
              </a:lnSpc>
              <a:buNone/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89D7743D-A038-42D5-A08A-57BCFCBC10B9}"/>
              </a:ext>
            </a:extLst>
          </p:cNvPr>
          <p:cNvSpPr txBox="1">
            <a:spLocks/>
          </p:cNvSpPr>
          <p:nvPr/>
        </p:nvSpPr>
        <p:spPr>
          <a:xfrm>
            <a:off x="838199" y="134381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32562B24-0CD0-40F3-AA22-8769F801AEE1}"/>
              </a:ext>
            </a:extLst>
          </p:cNvPr>
          <p:cNvSpPr txBox="1">
            <a:spLocks/>
          </p:cNvSpPr>
          <p:nvPr/>
        </p:nvSpPr>
        <p:spPr>
          <a:xfrm>
            <a:off x="321577" y="1033733"/>
            <a:ext cx="12192000" cy="45871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zh-TW" altLang="en-US" sz="2400" dirty="0">
                <a:ea typeface="標楷體" panose="03000509000000000000" pitchFamily="65" charset="-120"/>
              </a:rPr>
              <a:t>每個問題的回答選項有 </a:t>
            </a:r>
            <a:r>
              <a:rPr lang="en-US" altLang="zh-TW" sz="2400" dirty="0">
                <a:ea typeface="標楷體" panose="03000509000000000000" pitchFamily="65" charset="-120"/>
              </a:rPr>
              <a:t>4 </a:t>
            </a:r>
            <a:r>
              <a:rPr lang="zh-TW" altLang="en-US" sz="2400" dirty="0">
                <a:ea typeface="標楷體" panose="03000509000000000000" pitchFamily="65" charset="-120"/>
              </a:rPr>
              <a:t>個，根據症狀出現的頻率評分：</a:t>
            </a:r>
          </a:p>
          <a:p>
            <a:pPr lvl="1">
              <a:lnSpc>
                <a:spcPct val="120000"/>
              </a:lnSpc>
            </a:pPr>
            <a:r>
              <a:rPr lang="en-US" altLang="zh-TW" dirty="0">
                <a:ea typeface="標楷體" panose="03000509000000000000" pitchFamily="65" charset="-120"/>
              </a:rPr>
              <a:t>0 = Not at all</a:t>
            </a:r>
            <a:r>
              <a:rPr lang="zh-TW" altLang="en-US" dirty="0">
                <a:ea typeface="標楷體" panose="03000509000000000000" pitchFamily="65" charset="-120"/>
              </a:rPr>
              <a:t>（完全沒有）</a:t>
            </a:r>
          </a:p>
          <a:p>
            <a:pPr lvl="1">
              <a:lnSpc>
                <a:spcPct val="120000"/>
              </a:lnSpc>
            </a:pPr>
            <a:r>
              <a:rPr lang="en-US" altLang="zh-TW" dirty="0">
                <a:ea typeface="標楷體" panose="03000509000000000000" pitchFamily="65" charset="-120"/>
              </a:rPr>
              <a:t>1 = Several days</a:t>
            </a:r>
            <a:r>
              <a:rPr lang="zh-TW" altLang="en-US" dirty="0">
                <a:ea typeface="標楷體" panose="03000509000000000000" pitchFamily="65" charset="-120"/>
              </a:rPr>
              <a:t>（幾天）</a:t>
            </a:r>
          </a:p>
          <a:p>
            <a:pPr lvl="1">
              <a:lnSpc>
                <a:spcPct val="120000"/>
              </a:lnSpc>
            </a:pPr>
            <a:r>
              <a:rPr lang="en-US" altLang="zh-TW" dirty="0">
                <a:ea typeface="標楷體" panose="03000509000000000000" pitchFamily="65" charset="-120"/>
              </a:rPr>
              <a:t>2 = More than half the days</a:t>
            </a:r>
            <a:r>
              <a:rPr lang="zh-TW" altLang="en-US" dirty="0">
                <a:ea typeface="標楷體" panose="03000509000000000000" pitchFamily="65" charset="-120"/>
              </a:rPr>
              <a:t>（超過一半的日子）</a:t>
            </a:r>
          </a:p>
          <a:p>
            <a:pPr lvl="1">
              <a:lnSpc>
                <a:spcPct val="120000"/>
              </a:lnSpc>
            </a:pPr>
            <a:r>
              <a:rPr lang="en-US" altLang="zh-TW" dirty="0">
                <a:ea typeface="標楷體" panose="03000509000000000000" pitchFamily="65" charset="-120"/>
              </a:rPr>
              <a:t>3 = Nearly every day</a:t>
            </a:r>
            <a:r>
              <a:rPr lang="zh-TW" altLang="en-US" dirty="0">
                <a:ea typeface="標楷體" panose="03000509000000000000" pitchFamily="65" charset="-120"/>
              </a:rPr>
              <a:t>（幾乎每天）</a:t>
            </a:r>
          </a:p>
          <a:p>
            <a:pPr>
              <a:lnSpc>
                <a:spcPct val="120000"/>
              </a:lnSpc>
            </a:pPr>
            <a:r>
              <a:rPr lang="zh-TW" altLang="en-US" sz="2400" dirty="0">
                <a:ea typeface="標楷體" panose="03000509000000000000" pitchFamily="65" charset="-120"/>
              </a:rPr>
              <a:t>總分範圍為 </a:t>
            </a:r>
            <a:r>
              <a:rPr lang="en-US" altLang="zh-TW" sz="2400" dirty="0">
                <a:ea typeface="標楷體" panose="03000509000000000000" pitchFamily="65" charset="-120"/>
              </a:rPr>
              <a:t>0 </a:t>
            </a:r>
            <a:r>
              <a:rPr lang="zh-TW" altLang="en-US" sz="2400" dirty="0">
                <a:ea typeface="標楷體" panose="03000509000000000000" pitchFamily="65" charset="-120"/>
              </a:rPr>
              <a:t>到 </a:t>
            </a:r>
            <a:r>
              <a:rPr lang="en-US" altLang="zh-TW" sz="2400" dirty="0">
                <a:ea typeface="標楷體" panose="03000509000000000000" pitchFamily="65" charset="-120"/>
              </a:rPr>
              <a:t>24</a:t>
            </a:r>
            <a:r>
              <a:rPr lang="zh-TW" altLang="en-US" sz="2400" dirty="0">
                <a:ea typeface="標楷體" panose="03000509000000000000" pitchFamily="65" charset="-120"/>
              </a:rPr>
              <a:t>（</a:t>
            </a:r>
            <a:r>
              <a:rPr lang="en-US" altLang="zh-TW" sz="2400" dirty="0">
                <a:ea typeface="標楷體" panose="03000509000000000000" pitchFamily="65" charset="-120"/>
              </a:rPr>
              <a:t>8 </a:t>
            </a:r>
            <a:r>
              <a:rPr lang="zh-TW" altLang="en-US" sz="2400" dirty="0">
                <a:ea typeface="標楷體" panose="03000509000000000000" pitchFamily="65" charset="-120"/>
              </a:rPr>
              <a:t>個問題，每題最高 </a:t>
            </a:r>
            <a:r>
              <a:rPr lang="en-US" altLang="zh-TW" sz="2400" dirty="0">
                <a:ea typeface="標楷體" panose="03000509000000000000" pitchFamily="65" charset="-120"/>
              </a:rPr>
              <a:t>3 </a:t>
            </a:r>
            <a:r>
              <a:rPr lang="zh-TW" altLang="en-US" sz="2400" dirty="0">
                <a:ea typeface="標楷體" panose="03000509000000000000" pitchFamily="65" charset="-120"/>
              </a:rPr>
              <a:t>分）。</a:t>
            </a: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20000"/>
              </a:lnSpc>
            </a:pPr>
            <a:r>
              <a:rPr lang="zh-TW" altLang="en-US" sz="2400" dirty="0">
                <a:ea typeface="標楷體" panose="03000509000000000000" pitchFamily="65" charset="-120"/>
              </a:rPr>
              <a:t>總分大於等於 </a:t>
            </a:r>
            <a:r>
              <a:rPr lang="en-US" altLang="zh-TW" sz="2400" dirty="0">
                <a:ea typeface="標楷體" panose="03000509000000000000" pitchFamily="65" charset="-120"/>
              </a:rPr>
              <a:t>10 </a:t>
            </a:r>
            <a:r>
              <a:rPr lang="zh-TW" altLang="en-US" sz="2400" dirty="0">
                <a:ea typeface="標楷體" panose="03000509000000000000" pitchFamily="65" charset="-120"/>
              </a:rPr>
              <a:t>被列為患有憂鬱症</a:t>
            </a:r>
          </a:p>
          <a:p>
            <a:pPr>
              <a:lnSpc>
                <a:spcPct val="120000"/>
              </a:lnSpc>
            </a:pPr>
            <a:endParaRPr lang="zh-TW" altLang="en-US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0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0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0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0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000" dirty="0"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7355167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52C9CFC8-97B7-40C2-88BC-4B89FD01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577" y="18255"/>
            <a:ext cx="11744588" cy="1325563"/>
          </a:xfrm>
        </p:spPr>
        <p:txBody>
          <a:bodyPr>
            <a:normAutofit/>
          </a:bodyPr>
          <a:lstStyle/>
          <a:p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模型改動想法</a:t>
            </a:r>
          </a:p>
        </p:txBody>
      </p:sp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C790674B-9EC5-4D00-A32E-9E8F49D8D015}"/>
              </a:ext>
            </a:extLst>
          </p:cNvPr>
          <p:cNvSpPr txBox="1">
            <a:spLocks/>
          </p:cNvSpPr>
          <p:nvPr/>
        </p:nvSpPr>
        <p:spPr>
          <a:xfrm>
            <a:off x="838199" y="145650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0" lvl="2" indent="0">
              <a:lnSpc>
                <a:spcPct val="100000"/>
              </a:lnSpc>
              <a:buNone/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89D7743D-A038-42D5-A08A-57BCFCBC10B9}"/>
              </a:ext>
            </a:extLst>
          </p:cNvPr>
          <p:cNvSpPr txBox="1">
            <a:spLocks/>
          </p:cNvSpPr>
          <p:nvPr/>
        </p:nvSpPr>
        <p:spPr>
          <a:xfrm>
            <a:off x="838199" y="134381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32562B24-0CD0-40F3-AA22-8769F801AEE1}"/>
              </a:ext>
            </a:extLst>
          </p:cNvPr>
          <p:cNvSpPr txBox="1">
            <a:spLocks/>
          </p:cNvSpPr>
          <p:nvPr/>
        </p:nvSpPr>
        <p:spPr>
          <a:xfrm>
            <a:off x="321577" y="1033733"/>
            <a:ext cx="12192000" cy="45871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zh-TW" altLang="en-US" sz="2400" dirty="0">
                <a:ea typeface="標楷體" panose="03000509000000000000" pitchFamily="65" charset="-120"/>
              </a:rPr>
              <a:t>訓練模型專注在訪談文本有關於症狀的地方</a:t>
            </a: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20000"/>
              </a:lnSpc>
            </a:pPr>
            <a:r>
              <a:rPr lang="zh-TW" altLang="en-US" sz="2400" dirty="0">
                <a:ea typeface="標楷體" panose="03000509000000000000" pitchFamily="65" charset="-120"/>
              </a:rPr>
              <a:t>利用 </a:t>
            </a:r>
            <a:r>
              <a:rPr lang="en-US" altLang="zh-TW" sz="2400" dirty="0">
                <a:ea typeface="標楷體" panose="03000509000000000000" pitchFamily="65" charset="-120"/>
              </a:rPr>
              <a:t>GPT</a:t>
            </a:r>
            <a:r>
              <a:rPr lang="zh-TW" altLang="en-US" sz="2400" dirty="0">
                <a:ea typeface="標楷體" panose="03000509000000000000" pitchFamily="65" charset="-120"/>
              </a:rPr>
              <a:t> 產生新的資料集</a:t>
            </a:r>
          </a:p>
          <a:p>
            <a:pPr marL="0" indent="0">
              <a:lnSpc>
                <a:spcPct val="100000"/>
              </a:lnSpc>
              <a:buNone/>
            </a:pPr>
            <a:endParaRPr lang="en-US" altLang="zh-TW" sz="20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0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0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0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000" dirty="0">
              <a:ea typeface="標楷體" panose="03000509000000000000" pitchFamily="65" charset="-120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86BCCA71-DF46-4028-AC72-81969669BA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221" y="2096900"/>
            <a:ext cx="11163300" cy="429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2604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52C9CFC8-97B7-40C2-88BC-4B89FD01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577" y="18255"/>
            <a:ext cx="11744588" cy="1325563"/>
          </a:xfrm>
        </p:spPr>
        <p:txBody>
          <a:bodyPr>
            <a:normAutofit/>
          </a:bodyPr>
          <a:lstStyle/>
          <a:p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模型改動想法</a:t>
            </a:r>
          </a:p>
        </p:txBody>
      </p:sp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C790674B-9EC5-4D00-A32E-9E8F49D8D015}"/>
              </a:ext>
            </a:extLst>
          </p:cNvPr>
          <p:cNvSpPr txBox="1">
            <a:spLocks/>
          </p:cNvSpPr>
          <p:nvPr/>
        </p:nvSpPr>
        <p:spPr>
          <a:xfrm>
            <a:off x="838199" y="145650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0" lvl="2" indent="0">
              <a:lnSpc>
                <a:spcPct val="100000"/>
              </a:lnSpc>
              <a:buNone/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89D7743D-A038-42D5-A08A-57BCFCBC10B9}"/>
              </a:ext>
            </a:extLst>
          </p:cNvPr>
          <p:cNvSpPr txBox="1">
            <a:spLocks/>
          </p:cNvSpPr>
          <p:nvPr/>
        </p:nvSpPr>
        <p:spPr>
          <a:xfrm>
            <a:off x="838199" y="134381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32562B24-0CD0-40F3-AA22-8769F801AEE1}"/>
              </a:ext>
            </a:extLst>
          </p:cNvPr>
          <p:cNvSpPr txBox="1">
            <a:spLocks/>
          </p:cNvSpPr>
          <p:nvPr/>
        </p:nvSpPr>
        <p:spPr>
          <a:xfrm>
            <a:off x="321577" y="1033733"/>
            <a:ext cx="12192000" cy="45871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zh-TW" altLang="en-US" sz="2400" dirty="0">
                <a:ea typeface="標楷體" panose="03000509000000000000" pitchFamily="65" charset="-120"/>
              </a:rPr>
              <a:t>擷取問題與病患整個回答的特徵向量</a:t>
            </a: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C92B372F-235B-4B12-9FA4-D7A71B52F0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7276" y="1741860"/>
            <a:ext cx="8801099" cy="4894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95819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52C9CFC8-97B7-40C2-88BC-4B89FD01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577" y="18255"/>
            <a:ext cx="11744588" cy="1325563"/>
          </a:xfrm>
        </p:spPr>
        <p:txBody>
          <a:bodyPr>
            <a:normAutofit/>
          </a:bodyPr>
          <a:lstStyle/>
          <a:p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模型改動想法</a:t>
            </a:r>
          </a:p>
        </p:txBody>
      </p:sp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C790674B-9EC5-4D00-A32E-9E8F49D8D015}"/>
              </a:ext>
            </a:extLst>
          </p:cNvPr>
          <p:cNvSpPr txBox="1">
            <a:spLocks/>
          </p:cNvSpPr>
          <p:nvPr/>
        </p:nvSpPr>
        <p:spPr>
          <a:xfrm>
            <a:off x="838199" y="145650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0" lvl="2" indent="0">
              <a:lnSpc>
                <a:spcPct val="100000"/>
              </a:lnSpc>
              <a:buNone/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89D7743D-A038-42D5-A08A-57BCFCBC10B9}"/>
              </a:ext>
            </a:extLst>
          </p:cNvPr>
          <p:cNvSpPr txBox="1">
            <a:spLocks/>
          </p:cNvSpPr>
          <p:nvPr/>
        </p:nvSpPr>
        <p:spPr>
          <a:xfrm>
            <a:off x="838199" y="134381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pic>
        <p:nvPicPr>
          <p:cNvPr id="14" name="圖片 13">
            <a:extLst>
              <a:ext uri="{FF2B5EF4-FFF2-40B4-BE49-F238E27FC236}">
                <a16:creationId xmlns:a16="http://schemas.microsoft.com/office/drawing/2014/main" id="{B084871E-13CD-4F09-9E91-18A15C8CD3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27992"/>
            <a:ext cx="12192000" cy="4002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45548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166</TotalTime>
  <Words>579</Words>
  <Application>Microsoft Office PowerPoint</Application>
  <PresentationFormat>寬螢幕</PresentationFormat>
  <Paragraphs>111</Paragraphs>
  <Slides>7</Slides>
  <Notes>7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7</vt:i4>
      </vt:variant>
    </vt:vector>
  </HeadingPairs>
  <TitlesOfParts>
    <vt:vector size="12" baseType="lpstr">
      <vt:lpstr>-apple-system</vt:lpstr>
      <vt:lpstr>Arial</vt:lpstr>
      <vt:lpstr>Calibri</vt:lpstr>
      <vt:lpstr>Calibri Light</vt:lpstr>
      <vt:lpstr>Office 佈景主題</vt:lpstr>
      <vt:lpstr>2025/03/21 Meeting Report</vt:lpstr>
      <vt:lpstr>PHQ-8 問卷（Patient Health Questionnaire-8）</vt:lpstr>
      <vt:lpstr>PHQ-8 問卷（Patient Health Questionnaire-8）</vt:lpstr>
      <vt:lpstr>PHQ-8 問卷（Patient Health Questionnaire-8）</vt:lpstr>
      <vt:lpstr>模型改動想法</vt:lpstr>
      <vt:lpstr>模型改動想法</vt:lpstr>
      <vt:lpstr>模型改動想法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2024/03/21 Meeting Report</dc:title>
  <dc:creator>嘉均 簡</dc:creator>
  <cp:lastModifiedBy>嘉均 簡</cp:lastModifiedBy>
  <cp:revision>14</cp:revision>
  <dcterms:created xsi:type="dcterms:W3CDTF">2025-03-21T01:31:06Z</dcterms:created>
  <dcterms:modified xsi:type="dcterms:W3CDTF">2025-04-01T03:08:14Z</dcterms:modified>
</cp:coreProperties>
</file>