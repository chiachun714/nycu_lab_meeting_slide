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79" r:id="rId3"/>
    <p:sldId id="376" r:id="rId4"/>
    <p:sldId id="374" r:id="rId5"/>
    <p:sldId id="372" r:id="rId6"/>
    <p:sldId id="378" r:id="rId7"/>
    <p:sldId id="377" r:id="rId8"/>
    <p:sldId id="375" r:id="rId9"/>
    <p:sldId id="37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DFFE4-8D8C-4637-B506-2CBE97292E6C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48DA8-8B23-4C5A-B011-6D6C82616E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9980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67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157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682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573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43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462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9330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B5813-88C7-4939-BF30-AB2748BDE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C809C2-B851-478D-A84C-71960345D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03170C-735D-4B4F-B121-531618A4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A31471-1C3C-463B-9864-054ECDA2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84BA52-9D23-4192-98E7-4E4A219D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96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E1BD0-063C-449F-9CC9-4C427CAE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354334-B526-4803-B930-12884EF9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F1DF9B-046E-4663-BA8B-92C2715B7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89ED78-70C1-41DE-8F85-0FA08439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DC24F6-1219-4F26-8AA7-98FA1ACF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7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BD46CD-A1C3-4982-A0A2-3DC5B245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611344-BD59-4F51-B265-DD5379CE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07067C-2DC5-4D7D-A3F7-8BC958E0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BD9781-19A4-482A-B687-9AF7D67C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C4A9ED-8744-4E0E-B677-2B559C34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824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78764-CC67-49CE-9BD8-BEA0AFAF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6E3766-2480-415C-8963-7A9B71A72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EA7138-B1F6-49F2-802F-9484F12D3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1FCD81-C77E-4BB1-9C39-AC1B1A89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669975-12AB-4394-837B-199B77D5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02F96C-9BEE-416B-AEF9-EF213B94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1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DF1FD6-E9E3-4647-940E-D8A7AC40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5CB16A-CCED-4B47-ACBE-73B2CF0BD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3D33C1-725D-493B-BB1D-B0DA33B10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17E1615-ADC6-41B1-B1C1-0AD6EF69B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785E9A1-FD4D-4F3D-AAF2-821DA1C0D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C207786-5C52-4981-AED3-25842B2BB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71A93-8216-4908-A41E-C6D7628B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A40FC96-180F-4DE2-BC0C-8D50D1CF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962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AC25F-17C8-4ADD-BF1F-2EA658F5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3FDD189-B09F-4CEB-9CBE-A1E89917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A61CE41-17C8-4245-A41F-348F7E9A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F67D32-A03F-4F82-8214-A1A68D1C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077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E5C4584-AC35-444F-93A3-F226B5CC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A74165-92BB-4D12-B084-C4933F53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3B09DA-8F8F-4685-B2D2-607260A2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72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66AC09-6F90-49CA-9CE2-BF65805B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757BA6-5C9D-4F79-8FA7-727B5986E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3D7162-612A-41B9-84E9-7D3CC26ED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C005AE-8FD7-41AB-B5EE-7F64CFB9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87B1D7-3952-4286-B112-C83D8E92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E1E317-1CA8-4B16-B7E7-FC553617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72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786D04-2DEA-474C-9AED-CC20E7E5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EFEED1-0FB2-4881-A313-85387EA80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3534A9-2B67-4764-9930-8263C1DBC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72D40A-676D-4E70-B357-D56D622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F93511-A414-4D18-AC83-4E047E93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3492C-39A7-4221-913F-3995C3CB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89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69592-5566-48A5-BFC3-00B5B36F6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B2DADA-8175-4C11-B5F0-CD4037A2C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6D4AF0-2B94-43DB-B82A-7448925F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E030CC-4CF7-4F14-98E8-9B88E245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127A66-4205-4DC7-A237-A18910B4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45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F3027A-50D6-4DCC-B766-28B2603AC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3A20BCF-979F-49DA-A913-807779B8A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0C7925-3EE9-4948-9686-CB40DDD3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92861A-6EEB-4AF9-AB49-9090AD7B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DC1EDE-A4F5-4356-8CC4-F42DB7FE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29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EF8181-8235-4B2D-A8F3-C4AAA034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14D370-00C4-4CFB-8682-22C26CE78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5CAC75-CFB1-4FBA-A83F-0CEFA62B8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9BDF3-45C3-4C99-859D-640BA7A564F0}" type="datetimeFigureOut">
              <a:rPr lang="zh-TW" altLang="en-US" smtClean="0"/>
              <a:t>2025/9/19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D36FFC-122A-438B-A437-E235C165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2B1195-44B7-4615-8CF7-E5614BD03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419B6-0B3A-4199-A9CA-373F081740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7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2025/09/19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使用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Few shot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Learning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的方法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將 </a:t>
            </a: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的訪談內容與問卷分數輸入進</a:t>
            </a:r>
            <a:r>
              <a:rPr lang="en-US" altLang="zh-TW" dirty="0">
                <a:ea typeface="標楷體" panose="03000509000000000000" pitchFamily="65" charset="-120"/>
              </a:rPr>
              <a:t> LLM</a:t>
            </a:r>
            <a:r>
              <a:rPr lang="zh-TW" altLang="en-US" dirty="0">
                <a:ea typeface="標楷體" panose="03000509000000000000" pitchFamily="65" charset="-120"/>
              </a:rPr>
              <a:t> 分析原因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每個例子保留問句與回答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endParaRPr lang="en-US" altLang="zh-TW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使用 </a:t>
            </a:r>
            <a:r>
              <a:rPr lang="en-US" altLang="zh-TW" dirty="0">
                <a:ea typeface="標楷體" panose="03000509000000000000" pitchFamily="65" charset="-120"/>
              </a:rPr>
              <a:t>LLM </a:t>
            </a:r>
            <a:r>
              <a:rPr lang="zh-TW" altLang="en-US" dirty="0">
                <a:ea typeface="標楷體" panose="03000509000000000000" pitchFamily="65" charset="-120"/>
              </a:rPr>
              <a:t>診斷某一個症狀時</a:t>
            </a:r>
            <a:r>
              <a:rPr lang="en-US" altLang="zh-TW" dirty="0">
                <a:ea typeface="標楷體" panose="03000509000000000000" pitchFamily="65" charset="-120"/>
              </a:rPr>
              <a:t>: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每個症狀挑 </a:t>
            </a:r>
            <a:r>
              <a:rPr lang="en-US" altLang="zh-TW" dirty="0">
                <a:ea typeface="標楷體" panose="03000509000000000000" pitchFamily="65" charset="-120"/>
              </a:rPr>
              <a:t>4 </a:t>
            </a:r>
            <a:r>
              <a:rPr lang="zh-TW" altLang="en-US" dirty="0">
                <a:ea typeface="標楷體" panose="03000509000000000000" pitchFamily="65" charset="-120"/>
              </a:rPr>
              <a:t>種嚴重程度的例子</a:t>
            </a:r>
            <a:r>
              <a:rPr lang="en-US" altLang="zh-TW" dirty="0">
                <a:ea typeface="標楷體" panose="03000509000000000000" pitchFamily="65" charset="-120"/>
              </a:rPr>
              <a:t>(0~3</a:t>
            </a:r>
            <a:r>
              <a:rPr lang="zh-TW" altLang="en-US" dirty="0">
                <a:ea typeface="標楷體" panose="03000509000000000000" pitchFamily="65" charset="-120"/>
              </a:rPr>
              <a:t>分</a:t>
            </a:r>
            <a:r>
              <a:rPr lang="en-US" altLang="zh-TW" dirty="0">
                <a:ea typeface="標楷體" panose="03000509000000000000" pitchFamily="65" charset="-120"/>
              </a:rPr>
              <a:t>)</a:t>
            </a:r>
            <a:r>
              <a:rPr lang="zh-TW" altLang="en-US" dirty="0">
                <a:ea typeface="標楷體" panose="03000509000000000000" pitchFamily="65" charset="-120"/>
              </a:rPr>
              <a:t> 給 </a:t>
            </a:r>
            <a:r>
              <a:rPr lang="en-US" altLang="zh-TW" dirty="0">
                <a:ea typeface="標楷體" panose="03000509000000000000" pitchFamily="65" charset="-120"/>
              </a:rPr>
              <a:t>LLM</a:t>
            </a:r>
            <a:r>
              <a:rPr lang="zh-TW" altLang="en-US" dirty="0">
                <a:ea typeface="標楷體" panose="03000509000000000000" pitchFamily="65" charset="-120"/>
              </a:rPr>
              <a:t>，讓 </a:t>
            </a:r>
            <a:r>
              <a:rPr lang="en-US" altLang="zh-TW" dirty="0">
                <a:ea typeface="標楷體" panose="03000509000000000000" pitchFamily="65" charset="-120"/>
              </a:rPr>
              <a:t>LLM </a:t>
            </a:r>
            <a:r>
              <a:rPr lang="zh-TW" altLang="en-US" dirty="0">
                <a:ea typeface="標楷體" panose="03000509000000000000" pitchFamily="65" charset="-120"/>
              </a:rPr>
              <a:t>判斷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盡量挑選完整描述症狀與發生頻率的例子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endParaRPr lang="en-US" altLang="zh-TW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B4A2BF9-D0C4-4490-8AFA-4C26E666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575" y="2491205"/>
            <a:ext cx="7077074" cy="14767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E458A50-A939-47E7-9598-6E9F932F6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" y="2495610"/>
            <a:ext cx="4673151" cy="141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03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先設計分析的 </a:t>
            </a:r>
            <a:r>
              <a:rPr lang="en-US" altLang="zh-TW" dirty="0">
                <a:ea typeface="標楷體" panose="03000509000000000000" pitchFamily="65" charset="-120"/>
              </a:rPr>
              <a:t>prompt</a:t>
            </a: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用 </a:t>
            </a:r>
            <a:r>
              <a:rPr lang="en-US" altLang="zh-TW" dirty="0">
                <a:ea typeface="標楷體" panose="03000509000000000000" pitchFamily="65" charset="-120"/>
              </a:rPr>
              <a:t>GPT-4o </a:t>
            </a:r>
            <a:r>
              <a:rPr lang="zh-TW" altLang="en-US" dirty="0">
                <a:ea typeface="標楷體" panose="03000509000000000000" pitchFamily="65" charset="-120"/>
              </a:rPr>
              <a:t>對 </a:t>
            </a: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zh-TW" altLang="en-US" dirty="0">
                <a:ea typeface="標楷體" panose="03000509000000000000" pitchFamily="65" charset="-120"/>
              </a:rPr>
              <a:t> 訪談內容做分析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查看分析的結果 </a:t>
            </a:r>
            <a:r>
              <a:rPr lang="en-US" altLang="zh-TW" dirty="0">
                <a:ea typeface="標楷體" panose="03000509000000000000" pitchFamily="65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3227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如何用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Prompt Engineering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降低誤差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我目前的 </a:t>
            </a:r>
            <a:r>
              <a:rPr lang="en-US" altLang="zh-TW" dirty="0">
                <a:ea typeface="標楷體" panose="03000509000000000000" pitchFamily="65" charset="-120"/>
              </a:rPr>
              <a:t>prompt:</a:t>
            </a:r>
          </a:p>
          <a:p>
            <a:pPr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6DE1EF3-5353-42E6-8653-A1151AFAE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783069"/>
            <a:ext cx="12192000" cy="485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2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如何用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Prompt Engineering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降低誤差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Chain of Thought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F5F0551-E6C0-4E14-852E-70262E865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7626"/>
            <a:ext cx="12192000" cy="532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4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BC1F06C-F4D6-45F3-A551-65EF7D7E9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351" y="0"/>
            <a:ext cx="6905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6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整理論文數據 問卷分數預測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582E1149-79A3-44C0-8962-638E7DEB2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487720"/>
              </p:ext>
            </p:extLst>
          </p:nvPr>
        </p:nvGraphicFramePr>
        <p:xfrm>
          <a:off x="0" y="1778466"/>
          <a:ext cx="12106925" cy="2726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Worksheet" r:id="rId4" imgW="14935084" imgH="3362389" progId="Excel.Sheet.12">
                  <p:embed/>
                </p:oleObj>
              </mc:Choice>
              <mc:Fallback>
                <p:oleObj name="Worksheet" r:id="rId4" imgW="14935084" imgH="33623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1778466"/>
                        <a:ext cx="12106925" cy="2726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918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是否能請款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9498624-1C77-4165-B4C2-823963602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799" y="0"/>
            <a:ext cx="6763584" cy="6858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8F097B0-FBEF-4075-A76D-88783F704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18" y="58723"/>
            <a:ext cx="4414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89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0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使用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Few shot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Learning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的方法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143227"/>
            <a:ext cx="11870423" cy="5714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將 </a:t>
            </a: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的訪談內容與問卷分數輸入進</a:t>
            </a:r>
            <a:r>
              <a:rPr lang="en-US" altLang="zh-TW" dirty="0">
                <a:ea typeface="標楷體" panose="03000509000000000000" pitchFamily="65" charset="-120"/>
              </a:rPr>
              <a:t> LLM</a:t>
            </a:r>
            <a:r>
              <a:rPr lang="zh-TW" altLang="en-US" dirty="0">
                <a:ea typeface="標楷體" panose="03000509000000000000" pitchFamily="65" charset="-120"/>
              </a:rPr>
              <a:t> 分析原因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每個例子保留問句與回答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對每個例子做分類，分類三類</a:t>
            </a:r>
            <a:r>
              <a:rPr lang="en-US" altLang="zh-TW" dirty="0">
                <a:ea typeface="標楷體" panose="03000509000000000000" pitchFamily="65" charset="-120"/>
              </a:rPr>
              <a:t>: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120000"/>
              </a:lnSpc>
              <a:buFont typeface="+mj-lt"/>
              <a:buAutoNum type="arabicParenR"/>
            </a:pPr>
            <a:r>
              <a:rPr lang="zh-TW" altLang="en-US" dirty="0">
                <a:ea typeface="標楷體" panose="03000509000000000000" pitchFamily="65" charset="-120"/>
              </a:rPr>
              <a:t>完整描述症狀與發生頻率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120000"/>
              </a:lnSpc>
              <a:buFont typeface="+mj-lt"/>
              <a:buAutoNum type="arabicParenR"/>
            </a:pPr>
            <a:r>
              <a:rPr lang="zh-TW" altLang="en-US" dirty="0">
                <a:ea typeface="標楷體" panose="03000509000000000000" pitchFamily="65" charset="-120"/>
              </a:rPr>
              <a:t>完整描述症狀但發生頻率不明確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120000"/>
              </a:lnSpc>
              <a:buFont typeface="+mj-lt"/>
              <a:buAutoNum type="arabicParenR"/>
            </a:pPr>
            <a:r>
              <a:rPr lang="zh-TW" altLang="en-US" dirty="0">
                <a:ea typeface="標楷體" panose="03000509000000000000" pitchFamily="65" charset="-120"/>
              </a:rPr>
              <a:t>未能確定是否描述症狀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使用 </a:t>
            </a:r>
            <a:r>
              <a:rPr lang="en-US" altLang="zh-TW" dirty="0">
                <a:ea typeface="標楷體" panose="03000509000000000000" pitchFamily="65" charset="-120"/>
              </a:rPr>
              <a:t>LLM </a:t>
            </a:r>
            <a:r>
              <a:rPr lang="zh-TW" altLang="en-US" dirty="0">
                <a:ea typeface="標楷體" panose="03000509000000000000" pitchFamily="65" charset="-120"/>
              </a:rPr>
              <a:t>診斷某一個症狀時分成兩階段詢問 </a:t>
            </a:r>
            <a:r>
              <a:rPr lang="en-US" altLang="zh-TW" dirty="0">
                <a:ea typeface="標楷體" panose="03000509000000000000" pitchFamily="65" charset="-120"/>
              </a:rPr>
              <a:t>LLM: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每個症狀挑 </a:t>
            </a:r>
            <a:r>
              <a:rPr lang="en-US" altLang="zh-TW" dirty="0">
                <a:ea typeface="標楷體" panose="03000509000000000000" pitchFamily="65" charset="-120"/>
              </a:rPr>
              <a:t>4 </a:t>
            </a:r>
            <a:r>
              <a:rPr lang="zh-TW" altLang="en-US" dirty="0">
                <a:ea typeface="標楷體" panose="03000509000000000000" pitchFamily="65" charset="-120"/>
              </a:rPr>
              <a:t>種嚴重程度的例子</a:t>
            </a:r>
            <a:r>
              <a:rPr lang="en-US" altLang="zh-TW" dirty="0">
                <a:ea typeface="標楷體" panose="03000509000000000000" pitchFamily="65" charset="-120"/>
              </a:rPr>
              <a:t>(0~3</a:t>
            </a:r>
            <a:r>
              <a:rPr lang="zh-TW" altLang="en-US" dirty="0">
                <a:ea typeface="標楷體" panose="03000509000000000000" pitchFamily="65" charset="-120"/>
              </a:rPr>
              <a:t>分</a:t>
            </a:r>
            <a:r>
              <a:rPr lang="en-US" altLang="zh-TW" dirty="0">
                <a:ea typeface="標楷體" panose="03000509000000000000" pitchFamily="65" charset="-120"/>
              </a:rPr>
              <a:t>)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x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en-US" altLang="zh-TW" dirty="0">
                <a:ea typeface="標楷體" panose="03000509000000000000" pitchFamily="65" charset="-120"/>
              </a:rPr>
              <a:t>3</a:t>
            </a:r>
            <a:r>
              <a:rPr lang="zh-TW" altLang="en-US" dirty="0">
                <a:ea typeface="標楷體" panose="03000509000000000000" pitchFamily="65" charset="-120"/>
              </a:rPr>
              <a:t>類給 </a:t>
            </a:r>
            <a:r>
              <a:rPr lang="en-US" altLang="zh-TW" dirty="0">
                <a:ea typeface="標楷體" panose="03000509000000000000" pitchFamily="65" charset="-120"/>
              </a:rPr>
              <a:t>LLM</a:t>
            </a:r>
            <a:r>
              <a:rPr lang="zh-TW" altLang="en-US" dirty="0">
                <a:ea typeface="標楷體" panose="03000509000000000000" pitchFamily="65" charset="-120"/>
              </a:rPr>
              <a:t>，讓 </a:t>
            </a:r>
            <a:r>
              <a:rPr lang="en-US" altLang="zh-TW" dirty="0">
                <a:ea typeface="標楷體" panose="03000509000000000000" pitchFamily="65" charset="-120"/>
              </a:rPr>
              <a:t>LLM </a:t>
            </a:r>
            <a:r>
              <a:rPr lang="zh-TW" altLang="en-US" dirty="0">
                <a:ea typeface="標楷體" panose="03000509000000000000" pitchFamily="65" charset="-120"/>
              </a:rPr>
              <a:t>判斷屬於哪一類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根據第一階段 </a:t>
            </a:r>
            <a:r>
              <a:rPr lang="en-US" altLang="zh-TW" dirty="0">
                <a:ea typeface="標楷體" panose="03000509000000000000" pitchFamily="65" charset="-120"/>
              </a:rPr>
              <a:t>LLM</a:t>
            </a:r>
            <a:r>
              <a:rPr lang="zh-TW" altLang="en-US" dirty="0">
                <a:ea typeface="標楷體" panose="03000509000000000000" pitchFamily="65" charset="-120"/>
              </a:rPr>
              <a:t> 的輸出類別，挑選該類別 </a:t>
            </a:r>
            <a:r>
              <a:rPr lang="en-US" altLang="zh-TW" dirty="0">
                <a:ea typeface="標楷體" panose="03000509000000000000" pitchFamily="65" charset="-120"/>
              </a:rPr>
              <a:t>4 </a:t>
            </a:r>
            <a:r>
              <a:rPr lang="zh-TW" altLang="en-US" dirty="0">
                <a:ea typeface="標楷體" panose="03000509000000000000" pitchFamily="65" charset="-120"/>
              </a:rPr>
              <a:t>種嚴重程度的例子給 </a:t>
            </a:r>
            <a:r>
              <a:rPr lang="en-US" altLang="zh-TW" dirty="0">
                <a:ea typeface="標楷體" panose="03000509000000000000" pitchFamily="65" charset="-120"/>
              </a:rPr>
              <a:t>LLM </a:t>
            </a:r>
            <a:r>
              <a:rPr lang="zh-TW" altLang="en-US" dirty="0">
                <a:ea typeface="標楷體" panose="03000509000000000000" pitchFamily="65" charset="-120"/>
              </a:rPr>
              <a:t>判斷嚴重程度</a:t>
            </a:r>
            <a:endParaRPr lang="en-US" altLang="zh-TW" dirty="0">
              <a:ea typeface="標楷體" panose="03000509000000000000" pitchFamily="65" charset="-120"/>
            </a:endParaRPr>
          </a:p>
          <a:p>
            <a:pPr lvl="2">
              <a:lnSpc>
                <a:spcPct val="120000"/>
              </a:lnSpc>
            </a:pPr>
            <a:endParaRPr lang="en-US" altLang="zh-TW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B4A2BF9-D0C4-4490-8AFA-4C26E666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33482"/>
            <a:ext cx="5921668" cy="123568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E458A50-A939-47E7-9598-6E9F932F6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835778"/>
            <a:ext cx="3246016" cy="97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15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483</Words>
  <Application>Microsoft Office PowerPoint</Application>
  <PresentationFormat>寬螢幕</PresentationFormat>
  <Paragraphs>80</Paragraphs>
  <Slides>9</Slides>
  <Notes>8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Office 佈景主題</vt:lpstr>
      <vt:lpstr>Worksheet</vt:lpstr>
      <vt:lpstr>2025/09/19 Meeting Report</vt:lpstr>
      <vt:lpstr>使用 Few shot Learning 的方法</vt:lpstr>
      <vt:lpstr>後續</vt:lpstr>
      <vt:lpstr>如何用 Prompt Engineering 降低誤差</vt:lpstr>
      <vt:lpstr>如何用 Prompt Engineering 降低誤差</vt:lpstr>
      <vt:lpstr>PowerPoint 簡報</vt:lpstr>
      <vt:lpstr>整理論文數據 問卷分數預測</vt:lpstr>
      <vt:lpstr>是否能請款</vt:lpstr>
      <vt:lpstr>使用 Few shot Learning 的方法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嘉均 簡</dc:creator>
  <cp:lastModifiedBy>嘉均 簡</cp:lastModifiedBy>
  <cp:revision>23</cp:revision>
  <dcterms:created xsi:type="dcterms:W3CDTF">2025-09-18T17:49:23Z</dcterms:created>
  <dcterms:modified xsi:type="dcterms:W3CDTF">2025-09-19T05:29:01Z</dcterms:modified>
</cp:coreProperties>
</file>