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332" r:id="rId3"/>
    <p:sldId id="334" r:id="rId4"/>
    <p:sldId id="335" r:id="rId5"/>
    <p:sldId id="333" r:id="rId6"/>
    <p:sldId id="318" r:id="rId7"/>
    <p:sldId id="327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59C6C-8FAA-4805-9ACA-A9D4DFE9847D}" type="datetimeFigureOut">
              <a:rPr lang="zh-TW" altLang="en-US" smtClean="0"/>
              <a:t>2025/6/24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03E96-372D-49B0-A32D-A91E3978AD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8013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249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7050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5869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3956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710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557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74A25A-1558-49C6-9254-AF70394D9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7875EA1-F60E-45E4-8D4B-EBED6BF67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93DFDA-F3C2-4BFF-946E-20F68524B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92B1C8-2BFD-4BDD-B225-E2324E700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BC09B8-D8B3-483F-A554-176E78FB5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5678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CEAF74-C184-4FC0-96D3-30F59B14C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78E991-6997-4A4B-B76D-E2F834709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472118-76BA-43BA-8385-5876F665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CB00F2-8D9A-4662-8402-124E4BD3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357CFD-EBEF-49DC-83A6-171DAF03C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208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F78CD3-773B-4F6A-A6DE-B93D6E680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4CE3BC-A9AB-44F5-9567-D59662CB8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594C44-531E-4DC4-AF24-7D9CC0F4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19F611-7242-4EBB-BB59-36A0D02C6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49AB4B-0BFB-40A9-8564-B14D5974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36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7F76AB-A8EB-4C28-962A-CE178DB5A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BB6800-346E-4B60-9273-9D7DD25CF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CAC3CE7-29E1-4F24-AFCB-55C481980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B967D7-A55A-4D8F-9391-2BCD39707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2025/6/24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FA11677-CF5D-475F-B7D8-31236D3C2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7C5CDF-90E4-47C5-BEDC-034BC18E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08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AC3ADB-BBAE-4A81-88C8-3A67A81A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09BE75D-1510-402E-8C22-260E02AD1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997048E-74BD-491E-AA40-519F39D14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24EE29D-E94F-4A52-9DCE-1F2FAEE2C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8FA8F7A-AC67-497C-87C5-4B8AF44A0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974B631-4518-44BC-8FE7-89504EAB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2025/6/24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474DE50-BF22-4BB1-A007-E54A6CD11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1B8D349-FE4C-44D9-808C-BCEFB509B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90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90B9EF-0B4A-41CA-8DA8-75C5D8C34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FF0F529-4B68-45DB-9C20-1D211A6F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2025/6/24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F5C208A-E7D0-4934-81D1-56DE4475B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4CD3454-4824-4EF1-96DE-73920B691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91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7FD98AF-6180-48C6-A0B2-72AACD6C6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2025/6/24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8118E19-9D4C-4616-A8B7-1AA0182C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5BF24C-D726-411B-ADF7-995CB59E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5534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2A26FE-6B78-417F-8253-A8FE504E4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10BDB6-69B2-4E61-889A-318975BDD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C677D5B-1753-4F03-9D4E-EF583557A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1D6756-6309-4D22-9436-E3C53EAC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2025/6/24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0B5960-700A-43EF-B717-5DBFC2289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1B491F-2EB1-46D5-8D43-3743C9A30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5707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167555-DEC0-421E-AFB4-19304590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173C6CF-2C13-42E1-94E2-CE61E77F5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562644F-E06C-48E8-8533-CFD919C94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AC6794-16EC-4066-A131-16646FA03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2025/6/24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4966054-F230-47C0-8C45-DDF119C1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2F60921-E6DD-4B68-9175-81283B49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4073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7B4ABA-71A7-4AE8-AFCE-E645ABEDF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533F43-8277-41A8-83AA-3B6F43376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5CFAB0-3455-4FCC-B468-7675CDBAC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EF3055-7327-422D-A048-EFBC7471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A5C4F5-C46D-4429-8BA1-951F1D8F5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57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87867FE-DD59-429E-A50E-58D0FF6D10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2AA4B8-0E51-4121-A6C5-5C793A90B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054522-C581-4F1C-A31B-190EC4DF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DB1B23-9C53-49B7-B1E5-C91621221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D74F3C-73F7-4C23-B4C3-935775A2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3156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EDBB8C3-B50D-465A-9DF3-96A6625A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95440B-77A4-46E0-8F38-0844DC2FD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C2B530-A76B-482B-AD02-27287DB94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DCE19-B8A6-4C03-BDB3-8A22793A1F01}" type="datetimeFigureOut">
              <a:rPr lang="zh-TW" altLang="en-US" smtClean="0"/>
              <a:t>2025/6/24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AEC7D8-9C87-4A68-8068-E1E3E3934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7BC6BE-B951-4224-BD3E-AF2656F10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6533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Excel_Worksheet.xls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package" Target="../embeddings/Microsoft_Excel_Worksheet2.xlsx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1.xlsx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Excel_Worksheet3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2025/06/24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本周做的實驗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比較訓練模型中 </a:t>
            </a:r>
            <a:r>
              <a:rPr lang="en-US" altLang="zh-TW" sz="2400" dirty="0">
                <a:ea typeface="標楷體" panose="03000509000000000000" pitchFamily="65" charset="-120"/>
              </a:rPr>
              <a:t>multi-task learning </a:t>
            </a:r>
            <a:r>
              <a:rPr lang="zh-TW" altLang="en-US" sz="2400" dirty="0">
                <a:ea typeface="標楷體" panose="03000509000000000000" pitchFamily="65" charset="-120"/>
              </a:rPr>
              <a:t>有無的差異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Cross-Domain </a:t>
            </a:r>
            <a:r>
              <a:rPr lang="zh-TW" altLang="en-US" sz="2400" dirty="0">
                <a:ea typeface="標楷體" panose="03000509000000000000" pitchFamily="65" charset="-120"/>
              </a:rPr>
              <a:t>（交叉資料）實驗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H→A</a:t>
            </a:r>
            <a:r>
              <a:rPr lang="zh-TW" altLang="en-US" sz="2000" dirty="0">
                <a:ea typeface="標楷體" panose="03000509000000000000" pitchFamily="65" charset="-120"/>
              </a:rPr>
              <a:t>：訓練使用人工標註轉錄檔，驗證與測試使用</a:t>
            </a:r>
            <a:r>
              <a:rPr lang="en-US" altLang="zh-TW" sz="2000" dirty="0">
                <a:ea typeface="標楷體" panose="03000509000000000000" pitchFamily="65" charset="-120"/>
              </a:rPr>
              <a:t>ASR</a:t>
            </a:r>
            <a:r>
              <a:rPr lang="zh-TW" altLang="en-US" sz="2000" dirty="0">
                <a:ea typeface="標楷體" panose="03000509000000000000" pitchFamily="65" charset="-120"/>
              </a:rPr>
              <a:t>標註轉錄檔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20DF111-3D83-4C43-9E90-676137E74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77" y="2010562"/>
            <a:ext cx="6013159" cy="252653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8D5B7B1-71A5-4873-9911-AA31EF2BF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852" y="2546838"/>
            <a:ext cx="5043313" cy="101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338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multi-task learning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有無實驗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比較訓練模型中 </a:t>
            </a:r>
            <a:r>
              <a:rPr lang="en-US" altLang="zh-TW" sz="2400" dirty="0">
                <a:ea typeface="標楷體" panose="03000509000000000000" pitchFamily="65" charset="-120"/>
              </a:rPr>
              <a:t>multi-task learning </a:t>
            </a:r>
            <a:r>
              <a:rPr lang="zh-TW" altLang="en-US" sz="2400" dirty="0">
                <a:ea typeface="標楷體" panose="03000509000000000000" pitchFamily="65" charset="-120"/>
              </a:rPr>
              <a:t>有無的差異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不管是使用人工轉錄檔還是語音辨識轉錄檔，都是 </a:t>
            </a:r>
            <a:r>
              <a:rPr lang="en-US" altLang="zh-TW" sz="2400" dirty="0">
                <a:ea typeface="標楷體" panose="03000509000000000000" pitchFamily="65" charset="-120"/>
              </a:rPr>
              <a:t>binary classification </a:t>
            </a:r>
            <a:r>
              <a:rPr lang="zh-TW" altLang="en-US" sz="2400" dirty="0">
                <a:ea typeface="標楷體" panose="03000509000000000000" pitchFamily="65" charset="-120"/>
              </a:rPr>
              <a:t>比 </a:t>
            </a:r>
            <a:r>
              <a:rPr lang="en-US" altLang="zh-TW" sz="2400" dirty="0">
                <a:ea typeface="標楷體" panose="03000509000000000000" pitchFamily="65" charset="-120"/>
              </a:rPr>
              <a:t>multi-task </a:t>
            </a:r>
            <a:r>
              <a:rPr lang="zh-TW" altLang="en-US" sz="2400" dirty="0">
                <a:ea typeface="標楷體" panose="03000509000000000000" pitchFamily="65" charset="-120"/>
              </a:rPr>
              <a:t>好。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18" name="物件 17">
            <a:extLst>
              <a:ext uri="{FF2B5EF4-FFF2-40B4-BE49-F238E27FC236}">
                <a16:creationId xmlns:a16="http://schemas.microsoft.com/office/drawing/2014/main" id="{1545F815-7A83-4B05-BBB2-E38A371362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576695"/>
              </p:ext>
            </p:extLst>
          </p:nvPr>
        </p:nvGraphicFramePr>
        <p:xfrm>
          <a:off x="160796" y="1804798"/>
          <a:ext cx="11826023" cy="3596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Worksheet" r:id="rId4" imgW="9677546" imgH="2943205" progId="Excel.Sheet.12">
                  <p:embed/>
                </p:oleObj>
              </mc:Choice>
              <mc:Fallback>
                <p:oleObj name="Worksheet" r:id="rId4" imgW="9677546" imgH="294320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0796" y="1804798"/>
                        <a:ext cx="11826023" cy="35966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3309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Cross Domain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H→A</a:t>
            </a:r>
            <a:r>
              <a:rPr lang="zh-TW" altLang="en-US" sz="2400" dirty="0">
                <a:ea typeface="標楷體" panose="03000509000000000000" pitchFamily="65" charset="-120"/>
              </a:rPr>
              <a:t>：訓練使用人工標註轉錄檔，驗證與測試使用</a:t>
            </a:r>
            <a:r>
              <a:rPr lang="en-US" altLang="zh-TW" sz="2400" dirty="0">
                <a:ea typeface="標楷體" panose="03000509000000000000" pitchFamily="65" charset="-120"/>
              </a:rPr>
              <a:t>ASR</a:t>
            </a:r>
            <a:r>
              <a:rPr lang="zh-TW" altLang="en-US" sz="2400" dirty="0">
                <a:ea typeface="標楷體" panose="03000509000000000000" pitchFamily="65" charset="-120"/>
              </a:rPr>
              <a:t>標註轉錄檔</a:t>
            </a: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12" name="物件 11">
            <a:extLst>
              <a:ext uri="{FF2B5EF4-FFF2-40B4-BE49-F238E27FC236}">
                <a16:creationId xmlns:a16="http://schemas.microsoft.com/office/drawing/2014/main" id="{F99A9024-7252-4E90-BFCD-14E01515C8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15198"/>
              </p:ext>
            </p:extLst>
          </p:nvPr>
        </p:nvGraphicFramePr>
        <p:xfrm>
          <a:off x="259010" y="1830658"/>
          <a:ext cx="11577640" cy="1264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Worksheet" r:id="rId4" imgW="9677546" imgH="1057138" progId="Excel.Sheet.12">
                  <p:embed/>
                </p:oleObj>
              </mc:Choice>
              <mc:Fallback>
                <p:oleObj name="Worksheet" r:id="rId4" imgW="9677546" imgH="105713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9010" y="1830658"/>
                        <a:ext cx="11577640" cy="1264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物件 14">
            <a:extLst>
              <a:ext uri="{FF2B5EF4-FFF2-40B4-BE49-F238E27FC236}">
                <a16:creationId xmlns:a16="http://schemas.microsoft.com/office/drawing/2014/main" id="{D6089E10-C16B-4837-A3AE-F92722154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619006"/>
              </p:ext>
            </p:extLst>
          </p:nvPr>
        </p:nvGraphicFramePr>
        <p:xfrm>
          <a:off x="259010" y="3469688"/>
          <a:ext cx="11577640" cy="1264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Worksheet" r:id="rId6" imgW="9677546" imgH="1057138" progId="Excel.Sheet.12">
                  <p:embed/>
                </p:oleObj>
              </mc:Choice>
              <mc:Fallback>
                <p:oleObj name="Worksheet" r:id="rId6" imgW="9677546" imgH="105713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9010" y="3469688"/>
                        <a:ext cx="11577640" cy="1264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9392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6"/>
            <a:ext cx="11744588" cy="1015478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接下來的實驗方向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Cross-Domain </a:t>
            </a:r>
            <a:r>
              <a:rPr lang="zh-TW" altLang="en-US" sz="2400" dirty="0">
                <a:ea typeface="標楷體" panose="03000509000000000000" pitchFamily="65" charset="-120"/>
              </a:rPr>
              <a:t>（交叉資料）實驗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H→A</a:t>
            </a:r>
            <a:r>
              <a:rPr lang="zh-TW" altLang="en-US" sz="2000" dirty="0">
                <a:ea typeface="標楷體" panose="03000509000000000000" pitchFamily="65" charset="-120"/>
              </a:rPr>
              <a:t>：訓練使用人工標註轉錄檔，驗證與測試使用</a:t>
            </a:r>
            <a:r>
              <a:rPr lang="en-US" altLang="zh-TW" sz="2000" dirty="0">
                <a:ea typeface="標楷體" panose="03000509000000000000" pitchFamily="65" charset="-120"/>
              </a:rPr>
              <a:t>ASR</a:t>
            </a:r>
            <a:r>
              <a:rPr lang="zh-TW" altLang="en-US" sz="2000" dirty="0">
                <a:ea typeface="標楷體" panose="03000509000000000000" pitchFamily="65" charset="-120"/>
              </a:rPr>
              <a:t>標註轉錄檔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2">
              <a:lnSpc>
                <a:spcPct val="120000"/>
              </a:lnSpc>
            </a:pPr>
            <a:r>
              <a:rPr lang="zh-TW" altLang="en-US" b="1" dirty="0">
                <a:ea typeface="標楷體" panose="03000509000000000000" pitchFamily="65" charset="-120"/>
              </a:rPr>
              <a:t>測試能不能比 </a:t>
            </a:r>
            <a:r>
              <a:rPr lang="en-US" altLang="zh-TW" b="1" dirty="0">
                <a:ea typeface="標楷體" panose="03000509000000000000" pitchFamily="65" charset="-120"/>
              </a:rPr>
              <a:t>A</a:t>
            </a:r>
            <a:r>
              <a:rPr lang="en-US" altLang="zh-TW" sz="2000" b="1" dirty="0">
                <a:ea typeface="標楷體" panose="03000509000000000000" pitchFamily="65" charset="-120"/>
              </a:rPr>
              <a:t>→A</a:t>
            </a:r>
            <a:r>
              <a:rPr lang="zh-TW" altLang="en-US" sz="2000" b="1" dirty="0">
                <a:ea typeface="標楷體" panose="03000509000000000000" pitchFamily="65" charset="-120"/>
              </a:rPr>
              <a:t> 好</a:t>
            </a:r>
            <a:endParaRPr lang="en-US" altLang="zh-TW" b="1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A→H</a:t>
            </a:r>
            <a:r>
              <a:rPr lang="zh-TW" altLang="en-US" sz="2000" dirty="0">
                <a:ea typeface="標楷體" panose="03000509000000000000" pitchFamily="65" charset="-120"/>
              </a:rPr>
              <a:t>：訓練使用</a:t>
            </a:r>
            <a:r>
              <a:rPr lang="en-US" altLang="zh-TW" sz="2000" dirty="0">
                <a:ea typeface="標楷體" panose="03000509000000000000" pitchFamily="65" charset="-120"/>
              </a:rPr>
              <a:t>ASR</a:t>
            </a:r>
            <a:r>
              <a:rPr lang="zh-TW" altLang="en-US" sz="2000" dirty="0">
                <a:ea typeface="標楷體" panose="03000509000000000000" pitchFamily="65" charset="-120"/>
              </a:rPr>
              <a:t>標註轉錄檔，驗證與測試使用人工標註轉錄檔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比較不同的</a:t>
            </a:r>
            <a:r>
              <a:rPr lang="en-US" altLang="zh-TW" sz="2400" dirty="0">
                <a:ea typeface="標楷體" panose="03000509000000000000" pitchFamily="65" charset="-120"/>
              </a:rPr>
              <a:t>ASR</a:t>
            </a:r>
            <a:r>
              <a:rPr lang="zh-TW" altLang="en-US" sz="2400" dirty="0">
                <a:ea typeface="標楷體" panose="03000509000000000000" pitchFamily="65" charset="-120"/>
              </a:rPr>
              <a:t>模型產生的轉錄檔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Whisper: Tiny</a:t>
            </a:r>
            <a:r>
              <a:rPr lang="zh-TW" altLang="en-US" sz="2000" dirty="0">
                <a:ea typeface="標楷體" panose="03000509000000000000" pitchFamily="65" charset="-120"/>
              </a:rPr>
              <a:t>、</a:t>
            </a:r>
            <a:r>
              <a:rPr lang="en-US" altLang="zh-TW" sz="2000" dirty="0">
                <a:ea typeface="標楷體" panose="03000509000000000000" pitchFamily="65" charset="-120"/>
              </a:rPr>
              <a:t>base</a:t>
            </a:r>
            <a:r>
              <a:rPr lang="zh-TW" altLang="en-US" sz="2000" dirty="0">
                <a:ea typeface="標楷體" panose="03000509000000000000" pitchFamily="65" charset="-120"/>
              </a:rPr>
              <a:t>、</a:t>
            </a:r>
            <a:r>
              <a:rPr lang="en-US" altLang="zh-TW" sz="2000" dirty="0">
                <a:ea typeface="標楷體" panose="03000509000000000000" pitchFamily="65" charset="-120"/>
              </a:rPr>
              <a:t>small</a:t>
            </a:r>
            <a:r>
              <a:rPr lang="zh-TW" altLang="en-US" sz="2000" dirty="0">
                <a:ea typeface="標楷體" panose="03000509000000000000" pitchFamily="65" charset="-120"/>
              </a:rPr>
              <a:t>、</a:t>
            </a:r>
            <a:r>
              <a:rPr lang="en-US" altLang="zh-TW" sz="2000" dirty="0">
                <a:ea typeface="標楷體" panose="03000509000000000000" pitchFamily="65" charset="-120"/>
              </a:rPr>
              <a:t>medium</a:t>
            </a:r>
            <a:r>
              <a:rPr lang="zh-TW" altLang="en-US" sz="2000" dirty="0">
                <a:ea typeface="標楷體" panose="03000509000000000000" pitchFamily="65" charset="-120"/>
              </a:rPr>
              <a:t>、</a:t>
            </a:r>
            <a:r>
              <a:rPr lang="en-US" altLang="zh-TW" sz="2000" dirty="0">
                <a:ea typeface="標楷體" panose="03000509000000000000" pitchFamily="65" charset="-120"/>
              </a:rPr>
              <a:t>large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Wav2Vec2.0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NVIDIA </a:t>
            </a:r>
            <a:r>
              <a:rPr lang="en-US" altLang="zh-TW" sz="2000" dirty="0" err="1">
                <a:ea typeface="標楷體" panose="03000509000000000000" pitchFamily="65" charset="-120"/>
              </a:rPr>
              <a:t>NeMo</a:t>
            </a:r>
            <a:r>
              <a:rPr lang="en-US" altLang="zh-TW" sz="2000" dirty="0">
                <a:ea typeface="標楷體" panose="03000509000000000000" pitchFamily="65" charset="-120"/>
              </a:rPr>
              <a:t> Conformer-CTC</a:t>
            </a:r>
          </a:p>
          <a:p>
            <a:pPr lvl="1">
              <a:lnSpc>
                <a:spcPct val="120000"/>
              </a:lnSpc>
            </a:pPr>
            <a:r>
              <a:rPr lang="zh-TW" altLang="en-US" sz="2000" b="1" dirty="0">
                <a:ea typeface="標楷體" panose="03000509000000000000" pitchFamily="65" charset="-120"/>
              </a:rPr>
              <a:t>觀察文字錯誤率</a:t>
            </a:r>
            <a:r>
              <a:rPr lang="en-US" altLang="zh-TW" sz="2000" b="1" dirty="0">
                <a:ea typeface="標楷體" panose="03000509000000000000" pitchFamily="65" charset="-120"/>
              </a:rPr>
              <a:t>(WER)</a:t>
            </a:r>
            <a:r>
              <a:rPr lang="zh-TW" altLang="en-US" sz="2000" b="1" dirty="0">
                <a:ea typeface="標楷體" panose="03000509000000000000" pitchFamily="65" charset="-120"/>
              </a:rPr>
              <a:t>與測試</a:t>
            </a:r>
            <a:r>
              <a:rPr lang="en-US" altLang="zh-TW" sz="2000" b="1" dirty="0">
                <a:ea typeface="標楷體" panose="03000509000000000000" pitchFamily="65" charset="-120"/>
              </a:rPr>
              <a:t>F1</a:t>
            </a:r>
            <a:r>
              <a:rPr lang="zh-TW" altLang="en-US" sz="2000" b="1" dirty="0">
                <a:ea typeface="標楷體" panose="03000509000000000000" pitchFamily="65" charset="-120"/>
              </a:rPr>
              <a:t>的關係</a:t>
            </a:r>
            <a:endParaRPr lang="en-US" altLang="zh-TW" sz="2000" b="1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D6577B5-A498-48E0-B51B-8D8C6969B0D6}"/>
              </a:ext>
            </a:extLst>
          </p:cNvPr>
          <p:cNvGraphicFramePr>
            <a:graphicFrameLocks noGrp="1"/>
          </p:cNvGraphicFramePr>
          <p:nvPr/>
        </p:nvGraphicFramePr>
        <p:xfrm>
          <a:off x="910439" y="2923567"/>
          <a:ext cx="8535568" cy="1010865"/>
        </p:xfrm>
        <a:graphic>
          <a:graphicData uri="http://schemas.openxmlformats.org/drawingml/2006/table">
            <a:tbl>
              <a:tblPr/>
              <a:tblGrid>
                <a:gridCol w="2133892">
                  <a:extLst>
                    <a:ext uri="{9D8B030D-6E8A-4147-A177-3AD203B41FA5}">
                      <a16:colId xmlns:a16="http://schemas.microsoft.com/office/drawing/2014/main" val="2608180151"/>
                    </a:ext>
                  </a:extLst>
                </a:gridCol>
                <a:gridCol w="2133892">
                  <a:extLst>
                    <a:ext uri="{9D8B030D-6E8A-4147-A177-3AD203B41FA5}">
                      <a16:colId xmlns:a16="http://schemas.microsoft.com/office/drawing/2014/main" val="172822924"/>
                    </a:ext>
                  </a:extLst>
                </a:gridCol>
                <a:gridCol w="2133892">
                  <a:extLst>
                    <a:ext uri="{9D8B030D-6E8A-4147-A177-3AD203B41FA5}">
                      <a16:colId xmlns:a16="http://schemas.microsoft.com/office/drawing/2014/main" val="2738443295"/>
                    </a:ext>
                  </a:extLst>
                </a:gridCol>
                <a:gridCol w="2133892">
                  <a:extLst>
                    <a:ext uri="{9D8B030D-6E8A-4147-A177-3AD203B41FA5}">
                      <a16:colId xmlns:a16="http://schemas.microsoft.com/office/drawing/2014/main" val="3684020191"/>
                    </a:ext>
                  </a:extLst>
                </a:gridCol>
              </a:tblGrid>
              <a:tr h="33695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實驗編號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Train set (train split)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Val &amp; Test 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挑參數與模型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11500"/>
                  </a:ext>
                </a:extLst>
              </a:tr>
              <a:tr h="3369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H→A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uman transcript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SR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transcript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val=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829982"/>
                  </a:ext>
                </a:extLst>
              </a:tr>
              <a:tr h="3369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A→H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A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SR transcript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uman transcript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val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=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H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7031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041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實驗步驟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新的實驗資料集，</a:t>
            </a:r>
            <a:r>
              <a:rPr lang="en-US" altLang="zh-TW" sz="2400" dirty="0">
                <a:ea typeface="標楷體" panose="03000509000000000000" pitchFamily="65" charset="-120"/>
              </a:rPr>
              <a:t>DAIC-WOZ </a:t>
            </a:r>
            <a:r>
              <a:rPr lang="zh-TW" altLang="en-US" sz="2400" dirty="0">
                <a:ea typeface="標楷體" panose="03000509000000000000" pitchFamily="65" charset="-120"/>
              </a:rPr>
              <a:t>的 </a:t>
            </a:r>
            <a:r>
              <a:rPr lang="en-US" altLang="zh-TW" sz="2400" dirty="0" err="1">
                <a:ea typeface="標楷體" panose="03000509000000000000" pitchFamily="65" charset="-120"/>
              </a:rPr>
              <a:t>train_split</a:t>
            </a:r>
            <a:r>
              <a:rPr lang="en-US" altLang="zh-TW" sz="2400" dirty="0"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ea typeface="標楷體" panose="03000509000000000000" pitchFamily="65" charset="-120"/>
              </a:rPr>
              <a:t>與 </a:t>
            </a:r>
            <a:r>
              <a:rPr lang="en-US" altLang="zh-TW" sz="2400" dirty="0" err="1">
                <a:ea typeface="標楷體" panose="03000509000000000000" pitchFamily="65" charset="-120"/>
              </a:rPr>
              <a:t>dev_split</a:t>
            </a:r>
            <a:r>
              <a:rPr lang="zh-TW" altLang="en-US" sz="2400" dirty="0">
                <a:ea typeface="標楷體" panose="03000509000000000000" pitchFamily="65" charset="-120"/>
              </a:rPr>
              <a:t> 跟 </a:t>
            </a:r>
            <a:r>
              <a:rPr lang="en-US" altLang="zh-TW" sz="2400" dirty="0" err="1">
                <a:ea typeface="標楷體" panose="03000509000000000000" pitchFamily="65" charset="-120"/>
              </a:rPr>
              <a:t>test_split</a:t>
            </a:r>
            <a:endParaRPr lang="zh-TW" altLang="en-US" sz="24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dirty="0" err="1">
                <a:ea typeface="標楷體" panose="03000509000000000000" pitchFamily="65" charset="-120"/>
              </a:rPr>
              <a:t>Train_split</a:t>
            </a:r>
            <a:r>
              <a:rPr lang="en-US" altLang="zh-TW" dirty="0">
                <a:ea typeface="標楷體" panose="03000509000000000000" pitchFamily="65" charset="-120"/>
              </a:rPr>
              <a:t>: </a:t>
            </a:r>
            <a:r>
              <a:rPr lang="zh-TW" altLang="en-US" dirty="0">
                <a:ea typeface="標楷體" panose="03000509000000000000" pitchFamily="65" charset="-120"/>
              </a:rPr>
              <a:t>總數 </a:t>
            </a:r>
            <a:r>
              <a:rPr lang="en-US" altLang="zh-TW" dirty="0">
                <a:ea typeface="標楷體" panose="03000509000000000000" pitchFamily="65" charset="-120"/>
              </a:rPr>
              <a:t>107</a:t>
            </a:r>
            <a:r>
              <a:rPr lang="zh-TW" altLang="en-US" dirty="0">
                <a:ea typeface="標楷體" panose="03000509000000000000" pitchFamily="65" charset="-120"/>
              </a:rPr>
              <a:t>、憂鬱症 </a:t>
            </a:r>
            <a:r>
              <a:rPr lang="en-US" altLang="zh-TW" dirty="0">
                <a:ea typeface="標楷體" panose="03000509000000000000" pitchFamily="65" charset="-120"/>
              </a:rPr>
              <a:t>31</a:t>
            </a:r>
            <a:r>
              <a:rPr lang="zh-TW" altLang="en-US" dirty="0">
                <a:ea typeface="標楷體" panose="03000509000000000000" pitchFamily="65" charset="-120"/>
              </a:rPr>
              <a:t>、非憂鬱症</a:t>
            </a:r>
            <a:r>
              <a:rPr lang="en-US" altLang="zh-TW" dirty="0">
                <a:ea typeface="標楷體" panose="03000509000000000000" pitchFamily="65" charset="-120"/>
              </a:rPr>
              <a:t>76</a:t>
            </a:r>
            <a:endParaRPr lang="zh-TW" altLang="en-US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400" dirty="0" err="1">
                <a:ea typeface="標楷體" panose="03000509000000000000" pitchFamily="65" charset="-120"/>
              </a:rPr>
              <a:t>Dev_split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ea typeface="標楷體" panose="03000509000000000000" pitchFamily="65" charset="-120"/>
              </a:rPr>
              <a:t> </a:t>
            </a:r>
            <a:r>
              <a:rPr lang="zh-TW" altLang="en-US" dirty="0">
                <a:ea typeface="標楷體" panose="03000509000000000000" pitchFamily="65" charset="-120"/>
              </a:rPr>
              <a:t>總數 </a:t>
            </a:r>
            <a:r>
              <a:rPr lang="en-US" altLang="zh-TW" dirty="0">
                <a:ea typeface="標楷體" panose="03000509000000000000" pitchFamily="65" charset="-120"/>
              </a:rPr>
              <a:t>35</a:t>
            </a:r>
            <a:r>
              <a:rPr lang="zh-TW" altLang="en-US" dirty="0">
                <a:ea typeface="標楷體" panose="03000509000000000000" pitchFamily="65" charset="-120"/>
              </a:rPr>
              <a:t>、憂鬱症 </a:t>
            </a:r>
            <a:r>
              <a:rPr lang="en-US" altLang="zh-TW" dirty="0">
                <a:ea typeface="標楷體" panose="03000509000000000000" pitchFamily="65" charset="-120"/>
              </a:rPr>
              <a:t>12</a:t>
            </a:r>
            <a:r>
              <a:rPr lang="zh-TW" altLang="en-US" dirty="0">
                <a:ea typeface="標楷體" panose="03000509000000000000" pitchFamily="65" charset="-120"/>
              </a:rPr>
              <a:t>、非憂鬱症</a:t>
            </a:r>
            <a:r>
              <a:rPr lang="en-US" altLang="zh-TW" dirty="0">
                <a:ea typeface="標楷體" panose="03000509000000000000" pitchFamily="65" charset="-120"/>
              </a:rPr>
              <a:t>23</a:t>
            </a:r>
          </a:p>
          <a:p>
            <a:pPr lvl="1">
              <a:lnSpc>
                <a:spcPct val="120000"/>
              </a:lnSpc>
            </a:pPr>
            <a:r>
              <a:rPr lang="en-US" altLang="zh-TW" sz="2400" dirty="0" err="1">
                <a:ea typeface="標楷體" panose="03000509000000000000" pitchFamily="65" charset="-120"/>
              </a:rPr>
              <a:t>Test_split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dirty="0">
                <a:ea typeface="標楷體" panose="03000509000000000000" pitchFamily="65" charset="-120"/>
              </a:rPr>
              <a:t>總數 </a:t>
            </a:r>
            <a:r>
              <a:rPr lang="en-US" altLang="zh-TW" dirty="0">
                <a:ea typeface="標楷體" panose="03000509000000000000" pitchFamily="65" charset="-120"/>
              </a:rPr>
              <a:t>47</a:t>
            </a:r>
            <a:r>
              <a:rPr lang="zh-TW" altLang="en-US" dirty="0">
                <a:ea typeface="標楷體" panose="03000509000000000000" pitchFamily="65" charset="-120"/>
              </a:rPr>
              <a:t>、憂鬱症 </a:t>
            </a:r>
            <a:r>
              <a:rPr lang="en-US" altLang="zh-TW" dirty="0">
                <a:ea typeface="標楷體" panose="03000509000000000000" pitchFamily="65" charset="-120"/>
              </a:rPr>
              <a:t>14</a:t>
            </a:r>
            <a:r>
              <a:rPr lang="zh-TW" altLang="en-US" dirty="0">
                <a:ea typeface="標楷體" panose="03000509000000000000" pitchFamily="65" charset="-120"/>
              </a:rPr>
              <a:t>、非憂鬱症</a:t>
            </a:r>
            <a:r>
              <a:rPr lang="en-US" altLang="zh-TW" dirty="0">
                <a:ea typeface="標楷體" panose="03000509000000000000" pitchFamily="65" charset="-120"/>
              </a:rPr>
              <a:t>33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實驗數據將每個方法用 </a:t>
            </a:r>
            <a:r>
              <a:rPr lang="en-US" altLang="zh-TW" sz="2400" dirty="0">
                <a:ea typeface="標楷體" panose="03000509000000000000" pitchFamily="65" charset="-120"/>
              </a:rPr>
              <a:t>6 </a:t>
            </a:r>
            <a:r>
              <a:rPr lang="zh-TW" altLang="en-US" sz="2400" dirty="0">
                <a:ea typeface="標楷體" panose="03000509000000000000" pitchFamily="65" charset="-120"/>
              </a:rPr>
              <a:t>個種子的分數取平均 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7870D25-F271-42AC-8C66-E07CBAC24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594" y="3679511"/>
            <a:ext cx="9085977" cy="303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16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6"/>
            <a:ext cx="11744588" cy="807152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23F40E5-7E92-406C-BF7F-E3786387B2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225" y="825500"/>
          <a:ext cx="11080750" cy="584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Worksheet" r:id="rId4" imgW="9153477" imgH="4829273" progId="Excel.Sheet.12">
                  <p:embed/>
                </p:oleObj>
              </mc:Choice>
              <mc:Fallback>
                <p:oleObj name="Worksheet" r:id="rId4" imgW="9153477" imgH="4829273" progId="Excel.Sheet.12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E23F40E5-7E92-406C-BF7F-E3786387B2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3225" y="825500"/>
                        <a:ext cx="11080750" cy="5846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9956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4692</TotalTime>
  <Words>528</Words>
  <Application>Microsoft Office PowerPoint</Application>
  <PresentationFormat>寬螢幕</PresentationFormat>
  <Paragraphs>116</Paragraphs>
  <Slides>7</Slides>
  <Notes>7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-apple-system</vt:lpstr>
      <vt:lpstr>新細明體</vt:lpstr>
      <vt:lpstr>Arial</vt:lpstr>
      <vt:lpstr>Calibri</vt:lpstr>
      <vt:lpstr>Calibri Light</vt:lpstr>
      <vt:lpstr>Office 佈景主題</vt:lpstr>
      <vt:lpstr>Worksheet</vt:lpstr>
      <vt:lpstr>Microsoft Excel 工作表</vt:lpstr>
      <vt:lpstr>2025/06/24 Meeting Report</vt:lpstr>
      <vt:lpstr>本周做的實驗</vt:lpstr>
      <vt:lpstr>multi-task learning 有無實驗</vt:lpstr>
      <vt:lpstr>Cross Domain 實驗</vt:lpstr>
      <vt:lpstr>接下來的實驗方向</vt:lpstr>
      <vt:lpstr>實驗步驟</vt:lpstr>
      <vt:lpstr>實驗結果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2025/06/24 Meeting Report</dc:title>
  <dc:creator>嘉均 簡</dc:creator>
  <cp:lastModifiedBy>嘉均 簡</cp:lastModifiedBy>
  <cp:revision>11</cp:revision>
  <dcterms:created xsi:type="dcterms:W3CDTF">2025-06-24T01:15:17Z</dcterms:created>
  <dcterms:modified xsi:type="dcterms:W3CDTF">2025-06-27T08:08:35Z</dcterms:modified>
</cp:coreProperties>
</file>