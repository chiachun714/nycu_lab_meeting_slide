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367" r:id="rId3"/>
    <p:sldId id="368" r:id="rId4"/>
    <p:sldId id="369" r:id="rId5"/>
    <p:sldId id="371" r:id="rId6"/>
    <p:sldId id="370" r:id="rId7"/>
    <p:sldId id="366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54" r:id="rId17"/>
    <p:sldId id="357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F744C-C3D7-4081-9DFA-6B95CD506B5A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57EEA-9B0E-4DB5-8CE6-B3EC1C36CD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69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359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482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875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330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408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4424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024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2876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582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157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671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634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300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141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12529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93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4C4AB-BB78-4AD8-8AC6-D878211F2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D602D5-5DF4-459E-834A-39D43DCA3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9DFC97-CF4F-4800-BCE0-EC43FC35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2D1A12-29B9-4914-9679-88A31D0EC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50A44B-360D-4D5D-B988-46F71D85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99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1095FA-A270-45F1-BF3F-BD4D5817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641C69-4203-4894-A117-E96FFF50A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C776DE-D237-49BE-8950-2669D0DC4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94A966-1349-4C4B-A067-4517CB5E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5609E9-2CBB-4E4F-90D9-C0036FBD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25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2ED93-BBF5-4C3A-B52D-3942DBE4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C828A7-7C0A-48BF-8FA4-B75A779D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A10422-3359-424C-AA24-CA136B46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2B0928-86A4-4201-8355-A948E0C2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BBA404-B670-4CE9-9B88-41287009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64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35600B-FFD4-48F9-95D0-3F98D427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CC563E-068E-4AEA-A1D0-CD53499E8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50CC91-598A-400D-A60E-5A80B537E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5D4AAF-BD60-478F-9111-72AE1ECFE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7CF662-3391-4503-BE16-37510120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4A54C3-E12B-4401-A81C-ECE67D94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11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3ADC2-819D-4D07-8AA6-9E97DA96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07E1A6-B0D8-499D-97B0-233B237A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F210AD-8E67-47BD-9E78-67644D933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0D1FDF-FB5D-4B1E-847B-0F88BC111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4E51C28-D92A-457A-B9C8-E85D59B98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60A5D6E-DBB8-4457-B758-0BBDA95D8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350E468-A040-4FE8-B9E8-AA8EC7057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2ACBF7C-2E49-41B7-B55E-FBD3A83E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86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10DE3A-9AE2-4CAA-89EB-A080E0E8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9449E3-843D-42F0-9B03-028AA55C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AF2B59F-F67F-46B9-8B52-2C8140FD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425A62-3C44-456C-9F0E-5F9AB885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66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2FB50F3-B552-4474-9C20-63010B7F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34EA9A-882F-4B5D-A9D7-53313EF1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52C827-A51D-4928-AD2C-F7038889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43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039DAB-0D95-4309-83F8-D2D51FB2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2469B6-ACB7-4D43-8D90-1870E3D02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9A83429-BE8D-454E-965C-DB67A3509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ECCF78-D477-4AC5-8C90-F9D1AA39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F90BB1-3879-4509-9BFB-FFB12BE1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12A0C5-B804-4C30-A37D-4212A604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09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08E5C0-E27E-41AB-BADA-EB2760431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16F7B67-28CF-407A-BEF2-E672DFD7B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39DA6C-AA65-4352-849D-1EF1653CE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B77901-CA33-4593-B879-0C8DD43A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F49CC0-448A-4672-93D6-FD1E6D82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3BBB75-1208-4DAE-A41E-F205D666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17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4933E9-2442-41C1-BE6F-6AB6517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111AC7-935A-477F-8546-53FD48903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A82C1D-F0EF-4A44-9257-AD82DE3F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D9FC00-D9B4-4C9D-B4FE-3F6AE1EA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D43F58-EC8B-47B2-8313-430BAD1C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342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32D0AC2-F1D9-4B06-B884-416FCD153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3A51D72-0BC5-4B51-9615-E76541BB0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D8338B-69C9-4910-96FB-7CDBD508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20733D-F8C2-4170-B85B-C2E1A907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900D9F-1570-42F5-B485-168AD3FE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37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4442477-0EF2-48DD-9E0E-6FB1D949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B717B0-7C23-4663-B6C9-04E34070C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D44F0C-2A35-46FF-A8B1-CDA86C542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1AD12-7FAA-48A7-8895-AFE8BEBD0190}" type="datetimeFigureOut">
              <a:rPr lang="zh-TW" altLang="en-US" smtClean="0"/>
              <a:t>2025/8/14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71741F-9351-4E79-9733-10E25ECDE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BC4D2C-11A7-4491-BEC0-90C458E28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8F9BF-4B1F-43BA-9AFA-60BACD3716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46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notesSlide" Target="../notesSlides/notesSlide2.xml"/><Relationship Id="rId7" Type="http://schemas.openxmlformats.org/officeDocument/2006/relationships/package" Target="../embeddings/Microsoft_Excel_Worksheet.xlsx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package" Target="../embeddings/Microsoft_Excel_Worksheet2.xlsx"/><Relationship Id="rId5" Type="http://schemas.openxmlformats.org/officeDocument/2006/relationships/image" Target="../media/image5.png"/><Relationship Id="rId10" Type="http://schemas.openxmlformats.org/officeDocument/2006/relationships/image" Target="../media/image2.emf"/><Relationship Id="rId4" Type="http://schemas.openxmlformats.org/officeDocument/2006/relationships/image" Target="../media/image4.png"/><Relationship Id="rId9" Type="http://schemas.openxmlformats.org/officeDocument/2006/relationships/package" Target="../embeddings/Microsoft_Excel_Worksheet1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6.xlsx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package" Target="../embeddings/Microsoft_Excel_Worksheet5.xlsx"/><Relationship Id="rId5" Type="http://schemas.openxmlformats.org/officeDocument/2006/relationships/image" Target="../media/image9.emf"/><Relationship Id="rId4" Type="http://schemas.openxmlformats.org/officeDocument/2006/relationships/package" Target="../embeddings/Microsoft_Excel_Worksheet4.xlsx"/><Relationship Id="rId9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jpg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jpg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5.jpg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jpg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7.jpg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jpg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9.jpg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2025/08/14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6662D3F3-4319-45FA-B164-EA604546C9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947" y="2190830"/>
            <a:ext cx="5310183" cy="406069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0C0D8E3-AAE5-4676-B9BB-880C9721A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224" y="2192877"/>
            <a:ext cx="5094455" cy="4148408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的憂鬱症檢測與 </a:t>
            </a:r>
            <a:r>
              <a:rPr lang="zh-TW" alt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多任務學習</a:t>
            </a:r>
            <a:r>
              <a:rPr lang="en-US" altLang="zh-TW" sz="3200" b="1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和 </a:t>
            </a:r>
            <a:r>
              <a:rPr lang="zh-TW" altLang="en-US" sz="3200" b="1" dirty="0">
                <a:solidFill>
                  <a:schemeClr val="accent2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二元分類任務學習</a:t>
            </a:r>
            <a:r>
              <a:rPr lang="en-US" altLang="zh-TW" sz="3200" b="1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比較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334866-5215-4036-B4BA-99656E9DC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00110"/>
            <a:ext cx="4126373" cy="3944984"/>
          </a:xfrm>
          <a:prstGeom prst="rect">
            <a:avLst/>
          </a:prstGeom>
        </p:spPr>
      </p:pic>
      <p:graphicFrame>
        <p:nvGraphicFramePr>
          <p:cNvPr id="18" name="物件 17">
            <a:extLst>
              <a:ext uri="{FF2B5EF4-FFF2-40B4-BE49-F238E27FC236}">
                <a16:creationId xmlns:a16="http://schemas.microsoft.com/office/drawing/2014/main" id="{C3C71935-84C4-4FC8-B064-B3FE6CD1D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50306"/>
              </p:ext>
            </p:extLst>
          </p:nvPr>
        </p:nvGraphicFramePr>
        <p:xfrm>
          <a:off x="8862057" y="1253960"/>
          <a:ext cx="2483448" cy="73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Worksheet" r:id="rId7" imgW="2162266" imgH="638286" progId="Excel.Sheet.12">
                  <p:embed/>
                </p:oleObj>
              </mc:Choice>
              <mc:Fallback>
                <p:oleObj name="Worksheet" r:id="rId7" imgW="2162266" imgH="6382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62057" y="1253960"/>
                        <a:ext cx="2483448" cy="73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物件 19">
            <a:extLst>
              <a:ext uri="{FF2B5EF4-FFF2-40B4-BE49-F238E27FC236}">
                <a16:creationId xmlns:a16="http://schemas.microsoft.com/office/drawing/2014/main" id="{6D9D26D7-62DA-4B2A-9004-4A9355B47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537614"/>
              </p:ext>
            </p:extLst>
          </p:nvPr>
        </p:nvGraphicFramePr>
        <p:xfrm>
          <a:off x="4645799" y="1256007"/>
          <a:ext cx="2483448" cy="73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Worksheet" r:id="rId9" imgW="2162266" imgH="638286" progId="Excel.Sheet.12">
                  <p:embed/>
                </p:oleObj>
              </mc:Choice>
              <mc:Fallback>
                <p:oleObj name="Worksheet" r:id="rId9" imgW="2162266" imgH="6382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5799" y="1256007"/>
                        <a:ext cx="2483448" cy="73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物件 21">
            <a:extLst>
              <a:ext uri="{FF2B5EF4-FFF2-40B4-BE49-F238E27FC236}">
                <a16:creationId xmlns:a16="http://schemas.microsoft.com/office/drawing/2014/main" id="{F19C50A6-6A02-4A46-A019-3726FF271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856212"/>
              </p:ext>
            </p:extLst>
          </p:nvPr>
        </p:nvGraphicFramePr>
        <p:xfrm>
          <a:off x="579824" y="1253960"/>
          <a:ext cx="2483448" cy="73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Worksheet" r:id="rId11" imgW="2162266" imgH="638286" progId="Excel.Sheet.12">
                  <p:embed/>
                </p:oleObj>
              </mc:Choice>
              <mc:Fallback>
                <p:oleObj name="Worksheet" r:id="rId11" imgW="2162266" imgH="6382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9824" y="1253960"/>
                        <a:ext cx="2483448" cy="73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0575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test_split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憂鬱症檢測結果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7C3EF44-E62C-4A60-98F5-0890DEA5D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1" y="902870"/>
            <a:ext cx="11980154" cy="4231983"/>
          </a:xfrm>
          <a:prstGeom prst="rect">
            <a:avLst/>
          </a:prstGeom>
        </p:spPr>
      </p:pic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405AB83B-A281-4313-8037-36DDCA590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850893"/>
              </p:ext>
            </p:extLst>
          </p:nvPr>
        </p:nvGraphicFramePr>
        <p:xfrm>
          <a:off x="234001" y="5265798"/>
          <a:ext cx="11832164" cy="94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Worksheet" r:id="rId5" imgW="15916176" imgH="1266740" progId="Excel.Sheet.12">
                  <p:embed/>
                </p:oleObj>
              </mc:Choice>
              <mc:Fallback>
                <p:oleObj name="Worksheet" r:id="rId5" imgW="15916176" imgH="12667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001" y="5265798"/>
                        <a:ext cx="11832164" cy="942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536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test_split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憂鬱症檢測結果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2C888015-31D5-4899-B104-2CE7986AE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848448"/>
              </p:ext>
            </p:extLst>
          </p:nvPr>
        </p:nvGraphicFramePr>
        <p:xfrm>
          <a:off x="964603" y="2213042"/>
          <a:ext cx="10262791" cy="2575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Worksheet" r:id="rId4" imgW="7553190" imgH="1895547" progId="Excel.Sheet.12">
                  <p:embed/>
                </p:oleObj>
              </mc:Choice>
              <mc:Fallback>
                <p:oleObj name="Worksheet" r:id="rId4" imgW="7553190" imgH="189554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4603" y="2213042"/>
                        <a:ext cx="10262791" cy="2575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4D689B5E-6573-476C-A093-FEC8E76392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Worksheet" r:id="rId6" imgW="4524262" imgH="1895547" progId="Excel.Sheet.12">
                  <p:embed/>
                </p:oleObj>
              </mc:Choice>
              <mc:Fallback>
                <p:oleObj name="Worksheet" r:id="rId6" imgW="4524262" imgH="1895547" progId="Excel.Sheet.12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1EA108E6-50D4-40C1-9A83-06E0E094FC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4AACB7E4-D356-49F7-B1DC-E95CD8B38C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047728"/>
              </p:ext>
            </p:extLst>
          </p:nvPr>
        </p:nvGraphicFramePr>
        <p:xfrm>
          <a:off x="967097" y="5137123"/>
          <a:ext cx="10260297" cy="1151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Worksheet" r:id="rId8" imgW="7553190" imgH="847888" progId="Excel.Sheet.12">
                  <p:embed/>
                </p:oleObj>
              </mc:Choice>
              <mc:Fallback>
                <p:oleObj name="Worksheet" r:id="rId8" imgW="7553190" imgH="84788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7097" y="5137123"/>
                        <a:ext cx="10260297" cy="1151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7388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觀察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55824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4o</a:t>
            </a:r>
            <a:r>
              <a:rPr lang="zh-TW" altLang="en-US" dirty="0">
                <a:ea typeface="標楷體" panose="03000509000000000000" pitchFamily="65" charset="-120"/>
              </a:rPr>
              <a:t> 模型在預測問卷總分偏向拉高總分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問卷分數接近 </a:t>
            </a:r>
            <a:r>
              <a:rPr lang="en-US" altLang="zh-TW" dirty="0">
                <a:ea typeface="標楷體" panose="03000509000000000000" pitchFamily="65" charset="-120"/>
              </a:rPr>
              <a:t>10</a:t>
            </a:r>
            <a:r>
              <a:rPr lang="zh-TW" altLang="en-US" dirty="0">
                <a:ea typeface="標楷體" panose="03000509000000000000" pitchFamily="65" charset="-120"/>
              </a:rPr>
              <a:t> 分的受訪者容易被誤判為憂鬱症患者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4o </a:t>
            </a:r>
            <a:r>
              <a:rPr lang="zh-TW" altLang="en-US" dirty="0">
                <a:ea typeface="標楷體" panose="03000509000000000000" pitchFamily="65" charset="-120"/>
              </a:rPr>
              <a:t>模型總分預測正確的樣本，不代表</a:t>
            </a:r>
            <a:r>
              <a:rPr lang="en-US" altLang="zh-TW" dirty="0">
                <a:ea typeface="標楷體" panose="03000509000000000000" pitchFamily="65" charset="-120"/>
              </a:rPr>
              <a:t>PHQ8</a:t>
            </a:r>
            <a:r>
              <a:rPr lang="zh-TW" altLang="en-US" dirty="0">
                <a:ea typeface="標楷體" panose="03000509000000000000" pitchFamily="65" charset="-120"/>
              </a:rPr>
              <a:t>問卷每題分數預測正確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841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55824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用 </a:t>
            </a:r>
            <a:r>
              <a:rPr lang="en-US" altLang="zh-TW" dirty="0">
                <a:ea typeface="標楷體" panose="03000509000000000000" pitchFamily="65" charset="-120"/>
              </a:rPr>
              <a:t>4o</a:t>
            </a:r>
            <a:r>
              <a:rPr lang="zh-TW" altLang="en-US" dirty="0">
                <a:ea typeface="標楷體" panose="03000509000000000000" pitchFamily="65" charset="-120"/>
              </a:rPr>
              <a:t> 模型預測 </a:t>
            </a:r>
            <a:r>
              <a:rPr lang="en-US" altLang="zh-TW" dirty="0">
                <a:ea typeface="標楷體" panose="03000509000000000000" pitchFamily="65" charset="-120"/>
              </a:rPr>
              <a:t>development split</a:t>
            </a: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找預測 </a:t>
            </a:r>
            <a:r>
              <a:rPr lang="en-US" altLang="zh-TW" dirty="0">
                <a:ea typeface="標楷體" panose="03000509000000000000" pitchFamily="65" charset="-120"/>
              </a:rPr>
              <a:t>phq8 </a:t>
            </a:r>
            <a:r>
              <a:rPr lang="zh-TW" altLang="en-US" dirty="0">
                <a:ea typeface="標楷體" panose="03000509000000000000" pitchFamily="65" charset="-120"/>
              </a:rPr>
              <a:t>問卷總分的論文進行比較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找憂鬱症二元分類的論文進行比較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查看 </a:t>
            </a:r>
            <a:r>
              <a:rPr lang="en-US" altLang="zh-TW" dirty="0">
                <a:ea typeface="標楷體" panose="03000509000000000000" pitchFamily="65" charset="-120"/>
              </a:rPr>
              <a:t>4o</a:t>
            </a:r>
            <a:r>
              <a:rPr lang="zh-TW" altLang="en-US" dirty="0">
                <a:ea typeface="標楷體" panose="03000509000000000000" pitchFamily="65" charset="-120"/>
              </a:rPr>
              <a:t>問卷分數預測的錯誤原因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用 </a:t>
            </a:r>
            <a:r>
              <a:rPr lang="en-US" altLang="zh-TW" dirty="0">
                <a:ea typeface="標楷體" panose="03000509000000000000" pitchFamily="65" charset="-120"/>
              </a:rPr>
              <a:t>o3 </a:t>
            </a:r>
            <a:r>
              <a:rPr lang="zh-TW" altLang="en-US" dirty="0">
                <a:ea typeface="標楷體" panose="03000509000000000000" pitchFamily="65" charset="-120"/>
              </a:rPr>
              <a:t>模型預測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906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整體預測結果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1EA108E6-50D4-40C1-9A83-06E0E094FC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1EA108E6-50D4-40C1-9A83-06E0E094FC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1AC72ED-91BE-42EB-9905-555F37ED9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62473"/>
              </p:ext>
            </p:extLst>
          </p:nvPr>
        </p:nvGraphicFramePr>
        <p:xfrm>
          <a:off x="737532" y="2390714"/>
          <a:ext cx="9723540" cy="3444993"/>
        </p:xfrm>
        <a:graphic>
          <a:graphicData uri="http://schemas.openxmlformats.org/drawingml/2006/table">
            <a:tbl>
              <a:tblPr/>
              <a:tblGrid>
                <a:gridCol w="1620590">
                  <a:extLst>
                    <a:ext uri="{9D8B030D-6E8A-4147-A177-3AD203B41FA5}">
                      <a16:colId xmlns:a16="http://schemas.microsoft.com/office/drawing/2014/main" val="576569478"/>
                    </a:ext>
                  </a:extLst>
                </a:gridCol>
                <a:gridCol w="1620590">
                  <a:extLst>
                    <a:ext uri="{9D8B030D-6E8A-4147-A177-3AD203B41FA5}">
                      <a16:colId xmlns:a16="http://schemas.microsoft.com/office/drawing/2014/main" val="3326194613"/>
                    </a:ext>
                  </a:extLst>
                </a:gridCol>
                <a:gridCol w="1620590">
                  <a:extLst>
                    <a:ext uri="{9D8B030D-6E8A-4147-A177-3AD203B41FA5}">
                      <a16:colId xmlns:a16="http://schemas.microsoft.com/office/drawing/2014/main" val="2138855495"/>
                    </a:ext>
                  </a:extLst>
                </a:gridCol>
                <a:gridCol w="1620590">
                  <a:extLst>
                    <a:ext uri="{9D8B030D-6E8A-4147-A177-3AD203B41FA5}">
                      <a16:colId xmlns:a16="http://schemas.microsoft.com/office/drawing/2014/main" val="2124111824"/>
                    </a:ext>
                  </a:extLst>
                </a:gridCol>
                <a:gridCol w="1620590">
                  <a:extLst>
                    <a:ext uri="{9D8B030D-6E8A-4147-A177-3AD203B41FA5}">
                      <a16:colId xmlns:a16="http://schemas.microsoft.com/office/drawing/2014/main" val="449839996"/>
                    </a:ext>
                  </a:extLst>
                </a:gridCol>
                <a:gridCol w="1620590">
                  <a:extLst>
                    <a:ext uri="{9D8B030D-6E8A-4147-A177-3AD203B41FA5}">
                      <a16:colId xmlns:a16="http://schemas.microsoft.com/office/drawing/2014/main" val="3765299914"/>
                    </a:ext>
                  </a:extLst>
                </a:gridCol>
              </a:tblGrid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PHQ8 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症狀</a:t>
                      </a:r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test level 0 f1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test level 1 f1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test level 2 f1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test level 3 f1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test marco f1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694782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NoInterest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0.8333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0.1053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0.4706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804729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Depressed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0.8947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0.5185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0.1333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0.5714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0.5295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164275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Sleep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0.6452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0.5263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0.3804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325113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Tired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0.4865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0.5217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0.5714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0.5449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0797183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Appetite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0.5424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0.0909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0.1583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569570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Failure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0.7222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0.4706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0.4495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909303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Concentrating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0.7018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0.3636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0.2976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694047"/>
                  </a:ext>
                </a:extLst>
              </a:tr>
              <a:tr h="3827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Moving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0.8529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0.4286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0.3333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0.4037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884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21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NoInterest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1EA108E6-50D4-40C1-9A83-06E0E094F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462418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31BCBCFB-541B-49A2-9BA1-3A1BB957E4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723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65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Depressed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35C84A8-E4E8-4893-BB7E-AADBE8D3C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2278"/>
            <a:ext cx="5852160" cy="4389120"/>
          </a:xfrm>
          <a:prstGeom prst="rect">
            <a:avLst/>
          </a:prstGeom>
        </p:spPr>
      </p:pic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6A317C1F-7ED4-433C-916C-78CA873847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462418"/>
              </p:ext>
            </p:extLst>
          </p:nvPr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Worksheet" r:id="rId5" imgW="4524262" imgH="1895547" progId="Excel.Sheet.12">
                  <p:embed/>
                </p:oleObj>
              </mc:Choice>
              <mc:Fallback>
                <p:oleObj name="Worksheet" r:id="rId5" imgW="4524262" imgH="1895547" progId="Excel.Sheet.12">
                  <p:embed/>
                  <p:pic>
                    <p:nvPicPr>
                      <p:cNvPr id="19" name="物件 18">
                        <a:extLst>
                          <a:ext uri="{FF2B5EF4-FFF2-40B4-BE49-F238E27FC236}">
                            <a16:creationId xmlns:a16="http://schemas.microsoft.com/office/drawing/2014/main" id="{BD054421-F0D2-4130-8B76-451063876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068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Sleep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6A317C1F-7ED4-433C-916C-78CA87384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6A317C1F-7ED4-433C-916C-78CA87384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88AE1550-6474-4F5A-B2FE-FDBB3BCA78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7446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4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Tired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6A317C1F-7ED4-433C-916C-78CA87384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6A317C1F-7ED4-433C-916C-78CA87384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3A8EF8CC-DCB4-48E4-A2E1-72DB2B3E2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2" y="1762946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4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Appetite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6A317C1F-7ED4-433C-916C-78CA87384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6A317C1F-7ED4-433C-916C-78CA87384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E6499BFA-E880-4328-9537-9C90B1B95C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4558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08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Failure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6A317C1F-7ED4-433C-916C-78CA87384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6A317C1F-7ED4-433C-916C-78CA87384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6F79147C-8D14-483D-A75C-6257269D7C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722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93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Concentrating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6A317C1F-7ED4-433C-916C-78CA87384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6A317C1F-7ED4-433C-916C-78CA87384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01FC96F3-1BAB-4F32-9EEE-CAB1E9DF9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8388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18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4o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PHQ8 Moving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預測結果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6A317C1F-7ED4-433C-916C-78CA87384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4635" y="174080"/>
          <a:ext cx="45243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Worksheet" r:id="rId4" imgW="4524262" imgH="1895547" progId="Excel.Sheet.12">
                  <p:embed/>
                </p:oleObj>
              </mc:Choice>
              <mc:Fallback>
                <p:oleObj name="Worksheet" r:id="rId4" imgW="4524262" imgH="1895547" progId="Excel.Sheet.12">
                  <p:embed/>
                  <p:pic>
                    <p:nvPicPr>
                      <p:cNvPr id="6" name="物件 5">
                        <a:extLst>
                          <a:ext uri="{FF2B5EF4-FFF2-40B4-BE49-F238E27FC236}">
                            <a16:creationId xmlns:a16="http://schemas.microsoft.com/office/drawing/2014/main" id="{6A317C1F-7ED4-433C-916C-78CA87384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74635" y="174080"/>
                        <a:ext cx="4524375" cy="189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F7EF814F-B326-4169-B5F6-F53200D0EF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6508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20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Plus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會員各模型使用上限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55824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GPT-4o: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40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3</a:t>
            </a:r>
            <a:r>
              <a:rPr lang="zh-TW" altLang="en-US" dirty="0">
                <a:ea typeface="標楷體" panose="03000509000000000000" pitchFamily="65" charset="-120"/>
              </a:rPr>
              <a:t>小時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/>
              <a:t>GPT-4.1:</a:t>
            </a:r>
            <a:r>
              <a:rPr lang="zh-TW" altLang="en-US" dirty="0"/>
              <a:t> </a:t>
            </a:r>
            <a:r>
              <a:rPr lang="en-US" altLang="zh-TW" dirty="0">
                <a:ea typeface="標楷體" panose="03000509000000000000" pitchFamily="65" charset="-120"/>
              </a:rPr>
              <a:t>40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3</a:t>
            </a:r>
            <a:r>
              <a:rPr lang="zh-TW" altLang="en-US" dirty="0">
                <a:ea typeface="標楷體" panose="03000509000000000000" pitchFamily="65" charset="-120"/>
              </a:rPr>
              <a:t>小時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GPT-o3: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100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</a:t>
            </a:r>
            <a:r>
              <a:rPr lang="zh-TW" altLang="en-US" dirty="0">
                <a:ea typeface="標楷體" panose="03000509000000000000" pitchFamily="65" charset="-120"/>
              </a:rPr>
              <a:t>一周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GPT-o4-mini: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300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</a:t>
            </a:r>
            <a:r>
              <a:rPr lang="zh-TW" altLang="en-US" dirty="0">
                <a:ea typeface="標楷體" panose="03000509000000000000" pitchFamily="65" charset="-120"/>
              </a:rPr>
              <a:t>每日，</a:t>
            </a:r>
            <a:r>
              <a:rPr lang="en-US" altLang="zh-TW" dirty="0">
                <a:ea typeface="標楷體" panose="03000509000000000000" pitchFamily="65" charset="-120"/>
              </a:rPr>
              <a:t>UTC 00:00 </a:t>
            </a:r>
            <a:r>
              <a:rPr lang="zh-TW" altLang="en-US" dirty="0">
                <a:ea typeface="標楷體" panose="03000509000000000000" pitchFamily="65" charset="-120"/>
              </a:rPr>
              <a:t>重置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GPT-o4-mini-high: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100</a:t>
            </a:r>
            <a:r>
              <a:rPr lang="zh-TW" altLang="en-US" dirty="0">
                <a:ea typeface="標楷體" panose="03000509000000000000" pitchFamily="65" charset="-120"/>
              </a:rPr>
              <a:t>則訊息 </a:t>
            </a:r>
            <a:r>
              <a:rPr lang="en-US" altLang="zh-TW" dirty="0">
                <a:ea typeface="標楷體" panose="03000509000000000000" pitchFamily="65" charset="-120"/>
              </a:rPr>
              <a:t>/ </a:t>
            </a:r>
            <a:r>
              <a:rPr lang="zh-TW" altLang="en-US" dirty="0">
                <a:ea typeface="標楷體" panose="03000509000000000000" pitchFamily="65" charset="-120"/>
              </a:rPr>
              <a:t>每日，</a:t>
            </a:r>
            <a:r>
              <a:rPr lang="en-US" altLang="zh-TW" dirty="0">
                <a:ea typeface="標楷體" panose="03000509000000000000" pitchFamily="65" charset="-120"/>
              </a:rPr>
              <a:t>UTC 00:00 </a:t>
            </a:r>
            <a:r>
              <a:rPr lang="zh-TW" altLang="en-US" dirty="0">
                <a:ea typeface="標楷體" panose="03000509000000000000" pitchFamily="65" charset="-120"/>
              </a:rPr>
              <a:t>重置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759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55824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考慮使用 </a:t>
            </a:r>
            <a:r>
              <a:rPr lang="en-US" altLang="zh-TW" dirty="0">
                <a:ea typeface="標楷體" panose="03000509000000000000" pitchFamily="65" charset="-120"/>
              </a:rPr>
              <a:t>GPT-4o</a:t>
            </a:r>
            <a:r>
              <a:rPr lang="zh-TW" altLang="en-US" dirty="0">
                <a:ea typeface="標楷體" panose="03000509000000000000" pitchFamily="65" charset="-120"/>
              </a:rPr>
              <a:t> 與 </a:t>
            </a:r>
            <a:r>
              <a:rPr lang="en-US" altLang="zh-TW" dirty="0">
                <a:ea typeface="標楷體" panose="03000509000000000000" pitchFamily="65" charset="-120"/>
              </a:rPr>
              <a:t>GPT-o4-mini</a:t>
            </a:r>
            <a:r>
              <a:rPr lang="zh-TW" altLang="en-US" dirty="0">
                <a:ea typeface="標楷體" panose="03000509000000000000" pitchFamily="65" charset="-120"/>
              </a:rPr>
              <a:t> 做問卷分數預測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考慮升級至 </a:t>
            </a:r>
            <a:r>
              <a:rPr lang="en-US" altLang="zh-TW" dirty="0">
                <a:ea typeface="標楷體" panose="03000509000000000000" pitchFamily="65" charset="-120"/>
              </a:rPr>
              <a:t>pro</a:t>
            </a:r>
            <a:r>
              <a:rPr lang="zh-TW" altLang="en-US" dirty="0">
                <a:ea typeface="標楷體" panose="03000509000000000000" pitchFamily="65" charset="-120"/>
              </a:rPr>
              <a:t> 會員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86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874</Words>
  <Application>Microsoft Office PowerPoint</Application>
  <PresentationFormat>寬螢幕</PresentationFormat>
  <Paragraphs>215</Paragraphs>
  <Slides>17</Slides>
  <Notes>17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-apple-system</vt:lpstr>
      <vt:lpstr>細明體</vt:lpstr>
      <vt:lpstr>Arial</vt:lpstr>
      <vt:lpstr>Calibri</vt:lpstr>
      <vt:lpstr>Calibri Light</vt:lpstr>
      <vt:lpstr>Office 佈景主題</vt:lpstr>
      <vt:lpstr>Worksheet</vt:lpstr>
      <vt:lpstr>Microsoft Excel Worksheet</vt:lpstr>
      <vt:lpstr>2025/08/14 Meeting Report</vt:lpstr>
      <vt:lpstr>4o 的憂鬱症檢測與 多任務學習 和 二元分類任務學習 比較</vt:lpstr>
      <vt:lpstr>4o 的 test_split 憂鬱症檢測結果</vt:lpstr>
      <vt:lpstr>4o 的 test_split 憂鬱症檢測結果</vt:lpstr>
      <vt:lpstr>觀察</vt:lpstr>
      <vt:lpstr>後續</vt:lpstr>
      <vt:lpstr>4o 的 PHQ8 整體預測結果</vt:lpstr>
      <vt:lpstr>4o 的 PHQ8 NoInterest 預測結果</vt:lpstr>
      <vt:lpstr>4o 的 PHQ8 Depressed 預測結果</vt:lpstr>
      <vt:lpstr>4o 的 PHQ8 Sleep 預測結果</vt:lpstr>
      <vt:lpstr>4o 的 PHQ8 Tired 預測結果</vt:lpstr>
      <vt:lpstr>4o 的 PHQ8 Appetite 預測結果</vt:lpstr>
      <vt:lpstr>4o 的 PHQ8 Failure預測結果</vt:lpstr>
      <vt:lpstr>4o 的 PHQ8 Concentrating 預測結果</vt:lpstr>
      <vt:lpstr>4o 的 PHQ8 Moving 預測結果</vt:lpstr>
      <vt:lpstr>Plus 會員各模型使用上限</vt:lpstr>
      <vt:lpstr>後續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2025/08/05 Meeting Report</dc:title>
  <dc:creator>嘉均 簡</dc:creator>
  <cp:lastModifiedBy>嘉均 簡</cp:lastModifiedBy>
  <cp:revision>21</cp:revision>
  <dcterms:created xsi:type="dcterms:W3CDTF">2025-08-05T01:53:06Z</dcterms:created>
  <dcterms:modified xsi:type="dcterms:W3CDTF">2025-08-14T05:37:46Z</dcterms:modified>
</cp:coreProperties>
</file>