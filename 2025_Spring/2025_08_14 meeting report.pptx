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7" r:id="rId2"/>
    <p:sldId id="367" r:id="rId3"/>
    <p:sldId id="368" r:id="rId4"/>
    <p:sldId id="369" r:id="rId5"/>
    <p:sldId id="371" r:id="rId6"/>
    <p:sldId id="370" r:id="rId7"/>
    <p:sldId id="366" r:id="rId8"/>
    <p:sldId id="358" r:id="rId9"/>
    <p:sldId id="359" r:id="rId10"/>
    <p:sldId id="360" r:id="rId11"/>
    <p:sldId id="361" r:id="rId12"/>
    <p:sldId id="362" r:id="rId13"/>
    <p:sldId id="363" r:id="rId14"/>
    <p:sldId id="364" r:id="rId15"/>
    <p:sldId id="365" r:id="rId16"/>
    <p:sldId id="354" r:id="rId17"/>
    <p:sldId id="357" r:id="rId18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drawings/_rels/vmlDrawing1.v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emf"/><Relationship Id="rId1" Type="http://schemas.openxmlformats.org/officeDocument/2006/relationships/image" Target="../media/image1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7.emf"/></Relationships>
</file>

<file path=ppt/drawings/_rels/vmlDrawing3.v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10.emf"/><Relationship Id="rId1" Type="http://schemas.openxmlformats.org/officeDocument/2006/relationships/image" Target="../media/image9.emf"/></Relationships>
</file>

<file path=ppt/drawings/_rels/vmlDrawing4.vml.rels><?xml version="1.0" encoding="UTF-8" standalone="yes"?>
<Relationships xmlns="http://schemas.openxmlformats.org/package/2006/relationships"><Relationship Id="rId1" Type="http://schemas.openxmlformats.org/officeDocument/2006/relationships/image" Target="../media/image10.emf"/></Relationships>
</file>

<file path=ppt/drawings/_rels/vmlDrawing5.vml.rels><?xml version="1.0" encoding="UTF-8" standalone="yes"?>
<Relationships xmlns="http://schemas.openxmlformats.org/package/2006/relationships"><Relationship Id="rId1" Type="http://schemas.openxmlformats.org/officeDocument/2006/relationships/image" Target="../media/image10.emf"/></Relationships>
</file>

<file path=ppt/drawings/_rels/vmlDrawing6.vml.rels><?xml version="1.0" encoding="UTF-8" standalone="yes"?>
<Relationships xmlns="http://schemas.openxmlformats.org/package/2006/relationships"><Relationship Id="rId1" Type="http://schemas.openxmlformats.org/officeDocument/2006/relationships/image" Target="../media/image10.emf"/></Relationships>
</file>

<file path=ppt/drawings/_rels/vmlDrawing7.vml.rels><?xml version="1.0" encoding="UTF-8" standalone="yes"?>
<Relationships xmlns="http://schemas.openxmlformats.org/package/2006/relationships"><Relationship Id="rId1" Type="http://schemas.openxmlformats.org/officeDocument/2006/relationships/image" Target="../media/image10.emf"/></Relationships>
</file>

<file path=ppt/drawings/_rels/vmlDrawing8.vml.rels><?xml version="1.0" encoding="UTF-8" standalone="yes"?>
<Relationships xmlns="http://schemas.openxmlformats.org/package/2006/relationships"><Relationship Id="rId1" Type="http://schemas.openxmlformats.org/officeDocument/2006/relationships/image" Target="../media/image10.emf"/></Relationships>
</file>

<file path=ppt/drawings/_rels/vmlDrawing9.vml.rels><?xml version="1.0" encoding="UTF-8" standalone="yes"?>
<Relationships xmlns="http://schemas.openxmlformats.org/package/2006/relationships"><Relationship Id="rId1" Type="http://schemas.openxmlformats.org/officeDocument/2006/relationships/image" Target="../media/image10.emf"/></Relationships>
</file>

<file path=ppt/drawings/_rels/vmlDrawing10.vml.rels><?xml version="1.0" encoding="UTF-8" standalone="yes"?>
<Relationships xmlns="http://schemas.openxmlformats.org/package/2006/relationships"><Relationship Id="rId1" Type="http://schemas.openxmlformats.org/officeDocument/2006/relationships/image" Target="../media/image10.emf"/></Relationships>
</file>

<file path=ppt/drawings/_rels/vmlDrawing1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0.emf"/></Relationships>
</file>

<file path=ppt/drawings/_rels/vmlDrawing12.vml.rels><?xml version="1.0" encoding="UTF-8" standalone="yes"?>
<Relationships xmlns="http://schemas.openxmlformats.org/package/2006/relationships"><Relationship Id="rId1" Type="http://schemas.openxmlformats.org/officeDocument/2006/relationships/image" Target="../media/image10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49F744C-C3D7-4081-9DFA-6B95CD506B5A}" type="datetimeFigureOut">
              <a:rPr lang="zh-TW" altLang="en-US" smtClean="0"/>
              <a:t>2026/1/16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457EEA-9B0E-4DB5-8CE6-B3EC1C36CDC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386940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AA43A8-D8AF-4A57-B3C3-ACEB87B86596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040039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一般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learning rate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都會根據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batch size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做一些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scale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的操作。這裏用的是</a:t>
            </a:r>
            <a:r>
              <a:rPr lang="en-US" altLang="zh-TW" b="1" i="0" dirty="0" err="1">
                <a:solidFill>
                  <a:srgbClr val="4A4A4A"/>
                </a:solidFill>
                <a:effectLst/>
                <a:latin typeface="-apple-system"/>
              </a:rPr>
              <a:t>lr</a:t>
            </a:r>
            <a:r>
              <a:rPr lang="en-US" altLang="zh-TW" b="1" i="0" dirty="0">
                <a:solidFill>
                  <a:srgbClr val="4A4A4A"/>
                </a:solidFill>
                <a:effectLst/>
                <a:latin typeface="-apple-system"/>
              </a:rPr>
              <a:t> x </a:t>
            </a:r>
            <a:r>
              <a:rPr lang="en-US" altLang="zh-TW" b="1" i="0" dirty="0" err="1">
                <a:solidFill>
                  <a:srgbClr val="4A4A4A"/>
                </a:solidFill>
                <a:effectLst/>
                <a:latin typeface="-apple-system"/>
              </a:rPr>
              <a:t>batch_size</a:t>
            </a:r>
            <a:r>
              <a:rPr lang="en-US" altLang="zh-TW" b="1" i="0" dirty="0">
                <a:solidFill>
                  <a:srgbClr val="4A4A4A"/>
                </a:solidFill>
                <a:effectLst/>
                <a:latin typeface="-apple-system"/>
              </a:rPr>
              <a:t> / 256</a:t>
            </a:r>
            <a:r>
              <a:rPr lang="zh-TW" altLang="en-US" b="1" i="0" dirty="0">
                <a:solidFill>
                  <a:srgbClr val="4A4A4A"/>
                </a:solidFill>
                <a:effectLst/>
                <a:latin typeface="-apple-system"/>
              </a:rPr>
              <a:t>」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。</a:t>
            </a:r>
            <a:endParaRPr lang="en-US" altLang="zh-TW" b="0" i="0" dirty="0">
              <a:solidFill>
                <a:srgbClr val="4A4A4A"/>
              </a:solidFill>
              <a:effectLst/>
              <a:latin typeface="-apple-system"/>
            </a:endParaRPr>
          </a:p>
          <a:p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Learning rate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小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under-fitting</a:t>
            </a:r>
          </a:p>
          <a:p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Learning rate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大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unstable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F9977A-F9B1-4E82-8DFA-4B4DCD30651E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993597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一般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learning rate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都會根據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batch size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做一些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scale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的操作。這裏用的是</a:t>
            </a:r>
            <a:r>
              <a:rPr lang="en-US" altLang="zh-TW" b="1" i="0" dirty="0" err="1">
                <a:solidFill>
                  <a:srgbClr val="4A4A4A"/>
                </a:solidFill>
                <a:effectLst/>
                <a:latin typeface="-apple-system"/>
              </a:rPr>
              <a:t>lr</a:t>
            </a:r>
            <a:r>
              <a:rPr lang="en-US" altLang="zh-TW" b="1" i="0" dirty="0">
                <a:solidFill>
                  <a:srgbClr val="4A4A4A"/>
                </a:solidFill>
                <a:effectLst/>
                <a:latin typeface="-apple-system"/>
              </a:rPr>
              <a:t> x </a:t>
            </a:r>
            <a:r>
              <a:rPr lang="en-US" altLang="zh-TW" b="1" i="0" dirty="0" err="1">
                <a:solidFill>
                  <a:srgbClr val="4A4A4A"/>
                </a:solidFill>
                <a:effectLst/>
                <a:latin typeface="-apple-system"/>
              </a:rPr>
              <a:t>batch_size</a:t>
            </a:r>
            <a:r>
              <a:rPr lang="en-US" altLang="zh-TW" b="1" i="0" dirty="0">
                <a:solidFill>
                  <a:srgbClr val="4A4A4A"/>
                </a:solidFill>
                <a:effectLst/>
                <a:latin typeface="-apple-system"/>
              </a:rPr>
              <a:t> / 256</a:t>
            </a:r>
            <a:r>
              <a:rPr lang="zh-TW" altLang="en-US" b="1" i="0" dirty="0">
                <a:solidFill>
                  <a:srgbClr val="4A4A4A"/>
                </a:solidFill>
                <a:effectLst/>
                <a:latin typeface="-apple-system"/>
              </a:rPr>
              <a:t>」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。</a:t>
            </a:r>
            <a:endParaRPr lang="en-US" altLang="zh-TW" b="0" i="0" dirty="0">
              <a:solidFill>
                <a:srgbClr val="4A4A4A"/>
              </a:solidFill>
              <a:effectLst/>
              <a:latin typeface="-apple-system"/>
            </a:endParaRPr>
          </a:p>
          <a:p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Learning rate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小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under-fitting</a:t>
            </a:r>
          </a:p>
          <a:p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Learning rate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大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unstable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F9977A-F9B1-4E82-8DFA-4B4DCD30651E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124822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一般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learning rate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都會根據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batch size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做一些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scale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的操作。這裏用的是</a:t>
            </a:r>
            <a:r>
              <a:rPr lang="en-US" altLang="zh-TW" b="1" i="0" dirty="0" err="1">
                <a:solidFill>
                  <a:srgbClr val="4A4A4A"/>
                </a:solidFill>
                <a:effectLst/>
                <a:latin typeface="-apple-system"/>
              </a:rPr>
              <a:t>lr</a:t>
            </a:r>
            <a:r>
              <a:rPr lang="en-US" altLang="zh-TW" b="1" i="0" dirty="0">
                <a:solidFill>
                  <a:srgbClr val="4A4A4A"/>
                </a:solidFill>
                <a:effectLst/>
                <a:latin typeface="-apple-system"/>
              </a:rPr>
              <a:t> x </a:t>
            </a:r>
            <a:r>
              <a:rPr lang="en-US" altLang="zh-TW" b="1" i="0" dirty="0" err="1">
                <a:solidFill>
                  <a:srgbClr val="4A4A4A"/>
                </a:solidFill>
                <a:effectLst/>
                <a:latin typeface="-apple-system"/>
              </a:rPr>
              <a:t>batch_size</a:t>
            </a:r>
            <a:r>
              <a:rPr lang="en-US" altLang="zh-TW" b="1" i="0" dirty="0">
                <a:solidFill>
                  <a:srgbClr val="4A4A4A"/>
                </a:solidFill>
                <a:effectLst/>
                <a:latin typeface="-apple-system"/>
              </a:rPr>
              <a:t> / 256</a:t>
            </a:r>
            <a:r>
              <a:rPr lang="zh-TW" altLang="en-US" b="1" i="0" dirty="0">
                <a:solidFill>
                  <a:srgbClr val="4A4A4A"/>
                </a:solidFill>
                <a:effectLst/>
                <a:latin typeface="-apple-system"/>
              </a:rPr>
              <a:t>」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。</a:t>
            </a:r>
            <a:endParaRPr lang="en-US" altLang="zh-TW" b="0" i="0" dirty="0">
              <a:solidFill>
                <a:srgbClr val="4A4A4A"/>
              </a:solidFill>
              <a:effectLst/>
              <a:latin typeface="-apple-system"/>
            </a:endParaRPr>
          </a:p>
          <a:p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Learning rate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小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under-fitting</a:t>
            </a:r>
          </a:p>
          <a:p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Learning rate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大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unstable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F9977A-F9B1-4E82-8DFA-4B4DCD30651E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078753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一般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learning rate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都會根據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batch size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做一些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scale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的操作。這裏用的是</a:t>
            </a:r>
            <a:r>
              <a:rPr lang="en-US" altLang="zh-TW" b="1" i="0" dirty="0" err="1">
                <a:solidFill>
                  <a:srgbClr val="4A4A4A"/>
                </a:solidFill>
                <a:effectLst/>
                <a:latin typeface="-apple-system"/>
              </a:rPr>
              <a:t>lr</a:t>
            </a:r>
            <a:r>
              <a:rPr lang="en-US" altLang="zh-TW" b="1" i="0" dirty="0">
                <a:solidFill>
                  <a:srgbClr val="4A4A4A"/>
                </a:solidFill>
                <a:effectLst/>
                <a:latin typeface="-apple-system"/>
              </a:rPr>
              <a:t> x </a:t>
            </a:r>
            <a:r>
              <a:rPr lang="en-US" altLang="zh-TW" b="1" i="0" dirty="0" err="1">
                <a:solidFill>
                  <a:srgbClr val="4A4A4A"/>
                </a:solidFill>
                <a:effectLst/>
                <a:latin typeface="-apple-system"/>
              </a:rPr>
              <a:t>batch_size</a:t>
            </a:r>
            <a:r>
              <a:rPr lang="en-US" altLang="zh-TW" b="1" i="0" dirty="0">
                <a:solidFill>
                  <a:srgbClr val="4A4A4A"/>
                </a:solidFill>
                <a:effectLst/>
                <a:latin typeface="-apple-system"/>
              </a:rPr>
              <a:t> / 256</a:t>
            </a:r>
            <a:r>
              <a:rPr lang="zh-TW" altLang="en-US" b="1" i="0" dirty="0">
                <a:solidFill>
                  <a:srgbClr val="4A4A4A"/>
                </a:solidFill>
                <a:effectLst/>
                <a:latin typeface="-apple-system"/>
              </a:rPr>
              <a:t>」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。</a:t>
            </a:r>
            <a:endParaRPr lang="en-US" altLang="zh-TW" b="0" i="0" dirty="0">
              <a:solidFill>
                <a:srgbClr val="4A4A4A"/>
              </a:solidFill>
              <a:effectLst/>
              <a:latin typeface="-apple-system"/>
            </a:endParaRPr>
          </a:p>
          <a:p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Learning rate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小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under-fitting</a:t>
            </a:r>
          </a:p>
          <a:p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Learning rate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大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unstable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F9977A-F9B1-4E82-8DFA-4B4DCD30651E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7933074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一般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learning rate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都會根據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batch size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做一些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scale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的操作。這裏用的是</a:t>
            </a:r>
            <a:r>
              <a:rPr lang="en-US" altLang="zh-TW" b="1" i="0" dirty="0" err="1">
                <a:solidFill>
                  <a:srgbClr val="4A4A4A"/>
                </a:solidFill>
                <a:effectLst/>
                <a:latin typeface="-apple-system"/>
              </a:rPr>
              <a:t>lr</a:t>
            </a:r>
            <a:r>
              <a:rPr lang="en-US" altLang="zh-TW" b="1" i="0" dirty="0">
                <a:solidFill>
                  <a:srgbClr val="4A4A4A"/>
                </a:solidFill>
                <a:effectLst/>
                <a:latin typeface="-apple-system"/>
              </a:rPr>
              <a:t> x </a:t>
            </a:r>
            <a:r>
              <a:rPr lang="en-US" altLang="zh-TW" b="1" i="0" dirty="0" err="1">
                <a:solidFill>
                  <a:srgbClr val="4A4A4A"/>
                </a:solidFill>
                <a:effectLst/>
                <a:latin typeface="-apple-system"/>
              </a:rPr>
              <a:t>batch_size</a:t>
            </a:r>
            <a:r>
              <a:rPr lang="en-US" altLang="zh-TW" b="1" i="0" dirty="0">
                <a:solidFill>
                  <a:srgbClr val="4A4A4A"/>
                </a:solidFill>
                <a:effectLst/>
                <a:latin typeface="-apple-system"/>
              </a:rPr>
              <a:t> / 256</a:t>
            </a:r>
            <a:r>
              <a:rPr lang="zh-TW" altLang="en-US" b="1" i="0" dirty="0">
                <a:solidFill>
                  <a:srgbClr val="4A4A4A"/>
                </a:solidFill>
                <a:effectLst/>
                <a:latin typeface="-apple-system"/>
              </a:rPr>
              <a:t>」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。</a:t>
            </a:r>
            <a:endParaRPr lang="en-US" altLang="zh-TW" b="0" i="0" dirty="0">
              <a:solidFill>
                <a:srgbClr val="4A4A4A"/>
              </a:solidFill>
              <a:effectLst/>
              <a:latin typeface="-apple-system"/>
            </a:endParaRPr>
          </a:p>
          <a:p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Learning rate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小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under-fitting</a:t>
            </a:r>
          </a:p>
          <a:p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Learning rate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大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unstable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F9977A-F9B1-4E82-8DFA-4B4DCD30651E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854085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一般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learning rate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都會根據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batch size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做一些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scale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的操作。這裏用的是</a:t>
            </a:r>
            <a:r>
              <a:rPr lang="en-US" altLang="zh-TW" b="1" i="0" dirty="0" err="1">
                <a:solidFill>
                  <a:srgbClr val="4A4A4A"/>
                </a:solidFill>
                <a:effectLst/>
                <a:latin typeface="-apple-system"/>
              </a:rPr>
              <a:t>lr</a:t>
            </a:r>
            <a:r>
              <a:rPr lang="en-US" altLang="zh-TW" b="1" i="0" dirty="0">
                <a:solidFill>
                  <a:srgbClr val="4A4A4A"/>
                </a:solidFill>
                <a:effectLst/>
                <a:latin typeface="-apple-system"/>
              </a:rPr>
              <a:t> x </a:t>
            </a:r>
            <a:r>
              <a:rPr lang="en-US" altLang="zh-TW" b="1" i="0" dirty="0" err="1">
                <a:solidFill>
                  <a:srgbClr val="4A4A4A"/>
                </a:solidFill>
                <a:effectLst/>
                <a:latin typeface="-apple-system"/>
              </a:rPr>
              <a:t>batch_size</a:t>
            </a:r>
            <a:r>
              <a:rPr lang="en-US" altLang="zh-TW" b="1" i="0" dirty="0">
                <a:solidFill>
                  <a:srgbClr val="4A4A4A"/>
                </a:solidFill>
                <a:effectLst/>
                <a:latin typeface="-apple-system"/>
              </a:rPr>
              <a:t> / 256</a:t>
            </a:r>
            <a:r>
              <a:rPr lang="zh-TW" altLang="en-US" b="1" i="0" dirty="0">
                <a:solidFill>
                  <a:srgbClr val="4A4A4A"/>
                </a:solidFill>
                <a:effectLst/>
                <a:latin typeface="-apple-system"/>
              </a:rPr>
              <a:t>」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。</a:t>
            </a:r>
            <a:endParaRPr lang="en-US" altLang="zh-TW" b="0" i="0" dirty="0">
              <a:solidFill>
                <a:srgbClr val="4A4A4A"/>
              </a:solidFill>
              <a:effectLst/>
              <a:latin typeface="-apple-system"/>
            </a:endParaRPr>
          </a:p>
          <a:p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Learning rate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小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under-fitting</a:t>
            </a:r>
          </a:p>
          <a:p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Learning rate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大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unstable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F9977A-F9B1-4E82-8DFA-4B4DCD30651E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6442486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一般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learning rate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都會根據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batch size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做一些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scale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的操作。這裏用的是</a:t>
            </a:r>
            <a:r>
              <a:rPr lang="en-US" altLang="zh-TW" b="1" i="0" dirty="0" err="1">
                <a:solidFill>
                  <a:srgbClr val="4A4A4A"/>
                </a:solidFill>
                <a:effectLst/>
                <a:latin typeface="-apple-system"/>
              </a:rPr>
              <a:t>lr</a:t>
            </a:r>
            <a:r>
              <a:rPr lang="en-US" altLang="zh-TW" b="1" i="0" dirty="0">
                <a:solidFill>
                  <a:srgbClr val="4A4A4A"/>
                </a:solidFill>
                <a:effectLst/>
                <a:latin typeface="-apple-system"/>
              </a:rPr>
              <a:t> x </a:t>
            </a:r>
            <a:r>
              <a:rPr lang="en-US" altLang="zh-TW" b="1" i="0" dirty="0" err="1">
                <a:solidFill>
                  <a:srgbClr val="4A4A4A"/>
                </a:solidFill>
                <a:effectLst/>
                <a:latin typeface="-apple-system"/>
              </a:rPr>
              <a:t>batch_size</a:t>
            </a:r>
            <a:r>
              <a:rPr lang="en-US" altLang="zh-TW" b="1" i="0" dirty="0">
                <a:solidFill>
                  <a:srgbClr val="4A4A4A"/>
                </a:solidFill>
                <a:effectLst/>
                <a:latin typeface="-apple-system"/>
              </a:rPr>
              <a:t> / 256</a:t>
            </a:r>
            <a:r>
              <a:rPr lang="zh-TW" altLang="en-US" b="1" i="0" dirty="0">
                <a:solidFill>
                  <a:srgbClr val="4A4A4A"/>
                </a:solidFill>
                <a:effectLst/>
                <a:latin typeface="-apple-system"/>
              </a:rPr>
              <a:t>」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。</a:t>
            </a:r>
            <a:endParaRPr lang="en-US" altLang="zh-TW" b="0" i="0" dirty="0">
              <a:solidFill>
                <a:srgbClr val="4A4A4A"/>
              </a:solidFill>
              <a:effectLst/>
              <a:latin typeface="-apple-system"/>
            </a:endParaRPr>
          </a:p>
          <a:p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Learning rate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小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under-fitting</a:t>
            </a:r>
          </a:p>
          <a:p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Learning rate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大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unstable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F9977A-F9B1-4E82-8DFA-4B4DCD30651E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710245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一般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learning rate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都會根據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batch size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做一些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scale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的操作。這裏用的是</a:t>
            </a:r>
            <a:r>
              <a:rPr lang="en-US" altLang="zh-TW" b="1" i="0" dirty="0" err="1">
                <a:solidFill>
                  <a:srgbClr val="4A4A4A"/>
                </a:solidFill>
                <a:effectLst/>
                <a:latin typeface="-apple-system"/>
              </a:rPr>
              <a:t>lr</a:t>
            </a:r>
            <a:r>
              <a:rPr lang="en-US" altLang="zh-TW" b="1" i="0" dirty="0">
                <a:solidFill>
                  <a:srgbClr val="4A4A4A"/>
                </a:solidFill>
                <a:effectLst/>
                <a:latin typeface="-apple-system"/>
              </a:rPr>
              <a:t> x </a:t>
            </a:r>
            <a:r>
              <a:rPr lang="en-US" altLang="zh-TW" b="1" i="0" dirty="0" err="1">
                <a:solidFill>
                  <a:srgbClr val="4A4A4A"/>
                </a:solidFill>
                <a:effectLst/>
                <a:latin typeface="-apple-system"/>
              </a:rPr>
              <a:t>batch_size</a:t>
            </a:r>
            <a:r>
              <a:rPr lang="en-US" altLang="zh-TW" b="1" i="0" dirty="0">
                <a:solidFill>
                  <a:srgbClr val="4A4A4A"/>
                </a:solidFill>
                <a:effectLst/>
                <a:latin typeface="-apple-system"/>
              </a:rPr>
              <a:t> / 256</a:t>
            </a:r>
            <a:r>
              <a:rPr lang="zh-TW" altLang="en-US" b="1" i="0" dirty="0">
                <a:solidFill>
                  <a:srgbClr val="4A4A4A"/>
                </a:solidFill>
                <a:effectLst/>
                <a:latin typeface="-apple-system"/>
              </a:rPr>
              <a:t>」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。</a:t>
            </a:r>
            <a:endParaRPr lang="en-US" altLang="zh-TW" b="0" i="0" dirty="0">
              <a:solidFill>
                <a:srgbClr val="4A4A4A"/>
              </a:solidFill>
              <a:effectLst/>
              <a:latin typeface="-apple-system"/>
            </a:endParaRPr>
          </a:p>
          <a:p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Learning rate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小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under-fitting</a:t>
            </a:r>
          </a:p>
          <a:p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Learning rate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大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unstable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F9977A-F9B1-4E82-8DFA-4B4DCD30651E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4287682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一般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learning rate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都會根據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batch size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做一些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scale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的操作。這裏用的是</a:t>
            </a:r>
            <a:r>
              <a:rPr lang="en-US" altLang="zh-TW" b="1" i="0" dirty="0" err="1">
                <a:solidFill>
                  <a:srgbClr val="4A4A4A"/>
                </a:solidFill>
                <a:effectLst/>
                <a:latin typeface="-apple-system"/>
              </a:rPr>
              <a:t>lr</a:t>
            </a:r>
            <a:r>
              <a:rPr lang="en-US" altLang="zh-TW" b="1" i="0" dirty="0">
                <a:solidFill>
                  <a:srgbClr val="4A4A4A"/>
                </a:solidFill>
                <a:effectLst/>
                <a:latin typeface="-apple-system"/>
              </a:rPr>
              <a:t> x </a:t>
            </a:r>
            <a:r>
              <a:rPr lang="en-US" altLang="zh-TW" b="1" i="0" dirty="0" err="1">
                <a:solidFill>
                  <a:srgbClr val="4A4A4A"/>
                </a:solidFill>
                <a:effectLst/>
                <a:latin typeface="-apple-system"/>
              </a:rPr>
              <a:t>batch_size</a:t>
            </a:r>
            <a:r>
              <a:rPr lang="en-US" altLang="zh-TW" b="1" i="0" dirty="0">
                <a:solidFill>
                  <a:srgbClr val="4A4A4A"/>
                </a:solidFill>
                <a:effectLst/>
                <a:latin typeface="-apple-system"/>
              </a:rPr>
              <a:t> / 256</a:t>
            </a:r>
            <a:r>
              <a:rPr lang="zh-TW" altLang="en-US" b="1" i="0" dirty="0">
                <a:solidFill>
                  <a:srgbClr val="4A4A4A"/>
                </a:solidFill>
                <a:effectLst/>
                <a:latin typeface="-apple-system"/>
              </a:rPr>
              <a:t>」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。</a:t>
            </a:r>
            <a:endParaRPr lang="en-US" altLang="zh-TW" b="0" i="0" dirty="0">
              <a:solidFill>
                <a:srgbClr val="4A4A4A"/>
              </a:solidFill>
              <a:effectLst/>
              <a:latin typeface="-apple-system"/>
            </a:endParaRPr>
          </a:p>
          <a:p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Learning rate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小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under-fitting</a:t>
            </a:r>
          </a:p>
          <a:p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Learning rate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大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unstable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F9977A-F9B1-4E82-8DFA-4B4DCD30651E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495820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一般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learning rate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都會根據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batch size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做一些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scale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的操作。這裏用的是</a:t>
            </a:r>
            <a:r>
              <a:rPr lang="en-US" altLang="zh-TW" b="1" i="0" dirty="0" err="1">
                <a:solidFill>
                  <a:srgbClr val="4A4A4A"/>
                </a:solidFill>
                <a:effectLst/>
                <a:latin typeface="-apple-system"/>
              </a:rPr>
              <a:t>lr</a:t>
            </a:r>
            <a:r>
              <a:rPr lang="en-US" altLang="zh-TW" b="1" i="0" dirty="0">
                <a:solidFill>
                  <a:srgbClr val="4A4A4A"/>
                </a:solidFill>
                <a:effectLst/>
                <a:latin typeface="-apple-system"/>
              </a:rPr>
              <a:t> x </a:t>
            </a:r>
            <a:r>
              <a:rPr lang="en-US" altLang="zh-TW" b="1" i="0" dirty="0" err="1">
                <a:solidFill>
                  <a:srgbClr val="4A4A4A"/>
                </a:solidFill>
                <a:effectLst/>
                <a:latin typeface="-apple-system"/>
              </a:rPr>
              <a:t>batch_size</a:t>
            </a:r>
            <a:r>
              <a:rPr lang="en-US" altLang="zh-TW" b="1" i="0" dirty="0">
                <a:solidFill>
                  <a:srgbClr val="4A4A4A"/>
                </a:solidFill>
                <a:effectLst/>
                <a:latin typeface="-apple-system"/>
              </a:rPr>
              <a:t> / 256</a:t>
            </a:r>
            <a:r>
              <a:rPr lang="zh-TW" altLang="en-US" b="1" i="0" dirty="0">
                <a:solidFill>
                  <a:srgbClr val="4A4A4A"/>
                </a:solidFill>
                <a:effectLst/>
                <a:latin typeface="-apple-system"/>
              </a:rPr>
              <a:t>」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。</a:t>
            </a:r>
            <a:endParaRPr lang="en-US" altLang="zh-TW" b="0" i="0" dirty="0">
              <a:solidFill>
                <a:srgbClr val="4A4A4A"/>
              </a:solidFill>
              <a:effectLst/>
              <a:latin typeface="-apple-system"/>
            </a:endParaRPr>
          </a:p>
          <a:p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Learning rate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小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under-fitting</a:t>
            </a:r>
          </a:p>
          <a:p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Learning rate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大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unstable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F9977A-F9B1-4E82-8DFA-4B4DCD30651E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0615797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一般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learning rate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都會根據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batch size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做一些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scale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的操作。這裏用的是</a:t>
            </a:r>
            <a:r>
              <a:rPr lang="en-US" altLang="zh-TW" b="1" i="0" dirty="0" err="1">
                <a:solidFill>
                  <a:srgbClr val="4A4A4A"/>
                </a:solidFill>
                <a:effectLst/>
                <a:latin typeface="-apple-system"/>
              </a:rPr>
              <a:t>lr</a:t>
            </a:r>
            <a:r>
              <a:rPr lang="en-US" altLang="zh-TW" b="1" i="0" dirty="0">
                <a:solidFill>
                  <a:srgbClr val="4A4A4A"/>
                </a:solidFill>
                <a:effectLst/>
                <a:latin typeface="-apple-system"/>
              </a:rPr>
              <a:t> x </a:t>
            </a:r>
            <a:r>
              <a:rPr lang="en-US" altLang="zh-TW" b="1" i="0" dirty="0" err="1">
                <a:solidFill>
                  <a:srgbClr val="4A4A4A"/>
                </a:solidFill>
                <a:effectLst/>
                <a:latin typeface="-apple-system"/>
              </a:rPr>
              <a:t>batch_size</a:t>
            </a:r>
            <a:r>
              <a:rPr lang="en-US" altLang="zh-TW" b="1" i="0" dirty="0">
                <a:solidFill>
                  <a:srgbClr val="4A4A4A"/>
                </a:solidFill>
                <a:effectLst/>
                <a:latin typeface="-apple-system"/>
              </a:rPr>
              <a:t> / 256</a:t>
            </a:r>
            <a:r>
              <a:rPr lang="zh-TW" altLang="en-US" b="1" i="0" dirty="0">
                <a:solidFill>
                  <a:srgbClr val="4A4A4A"/>
                </a:solidFill>
                <a:effectLst/>
                <a:latin typeface="-apple-system"/>
              </a:rPr>
              <a:t>」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。</a:t>
            </a:r>
            <a:endParaRPr lang="en-US" altLang="zh-TW" b="0" i="0" dirty="0">
              <a:solidFill>
                <a:srgbClr val="4A4A4A"/>
              </a:solidFill>
              <a:effectLst/>
              <a:latin typeface="-apple-system"/>
            </a:endParaRPr>
          </a:p>
          <a:p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Learning rate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小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under-fitting</a:t>
            </a:r>
          </a:p>
          <a:p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Learning rate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大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unstable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F9977A-F9B1-4E82-8DFA-4B4DCD30651E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3467165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一般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learning rate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都會根據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batch size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做一些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scale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的操作。這裏用的是</a:t>
            </a:r>
            <a:r>
              <a:rPr lang="en-US" altLang="zh-TW" b="1" i="0" dirty="0" err="1">
                <a:solidFill>
                  <a:srgbClr val="4A4A4A"/>
                </a:solidFill>
                <a:effectLst/>
                <a:latin typeface="-apple-system"/>
              </a:rPr>
              <a:t>lr</a:t>
            </a:r>
            <a:r>
              <a:rPr lang="en-US" altLang="zh-TW" b="1" i="0" dirty="0">
                <a:solidFill>
                  <a:srgbClr val="4A4A4A"/>
                </a:solidFill>
                <a:effectLst/>
                <a:latin typeface="-apple-system"/>
              </a:rPr>
              <a:t> x </a:t>
            </a:r>
            <a:r>
              <a:rPr lang="en-US" altLang="zh-TW" b="1" i="0" dirty="0" err="1">
                <a:solidFill>
                  <a:srgbClr val="4A4A4A"/>
                </a:solidFill>
                <a:effectLst/>
                <a:latin typeface="-apple-system"/>
              </a:rPr>
              <a:t>batch_size</a:t>
            </a:r>
            <a:r>
              <a:rPr lang="en-US" altLang="zh-TW" b="1" i="0" dirty="0">
                <a:solidFill>
                  <a:srgbClr val="4A4A4A"/>
                </a:solidFill>
                <a:effectLst/>
                <a:latin typeface="-apple-system"/>
              </a:rPr>
              <a:t> / 256</a:t>
            </a:r>
            <a:r>
              <a:rPr lang="zh-TW" altLang="en-US" b="1" i="0" dirty="0">
                <a:solidFill>
                  <a:srgbClr val="4A4A4A"/>
                </a:solidFill>
                <a:effectLst/>
                <a:latin typeface="-apple-system"/>
              </a:rPr>
              <a:t>」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。</a:t>
            </a:r>
            <a:endParaRPr lang="en-US" altLang="zh-TW" b="0" i="0" dirty="0">
              <a:solidFill>
                <a:srgbClr val="4A4A4A"/>
              </a:solidFill>
              <a:effectLst/>
              <a:latin typeface="-apple-system"/>
            </a:endParaRPr>
          </a:p>
          <a:p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Learning rate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小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under-fitting</a:t>
            </a:r>
          </a:p>
          <a:p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Learning rate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大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unstable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F9977A-F9B1-4E82-8DFA-4B4DCD30651E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856345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一般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learning rate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都會根據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batch size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做一些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scale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的操作。這裏用的是</a:t>
            </a:r>
            <a:r>
              <a:rPr lang="en-US" altLang="zh-TW" b="1" i="0" dirty="0" err="1">
                <a:solidFill>
                  <a:srgbClr val="4A4A4A"/>
                </a:solidFill>
                <a:effectLst/>
                <a:latin typeface="-apple-system"/>
              </a:rPr>
              <a:t>lr</a:t>
            </a:r>
            <a:r>
              <a:rPr lang="en-US" altLang="zh-TW" b="1" i="0" dirty="0">
                <a:solidFill>
                  <a:srgbClr val="4A4A4A"/>
                </a:solidFill>
                <a:effectLst/>
                <a:latin typeface="-apple-system"/>
              </a:rPr>
              <a:t> x </a:t>
            </a:r>
            <a:r>
              <a:rPr lang="en-US" altLang="zh-TW" b="1" i="0" dirty="0" err="1">
                <a:solidFill>
                  <a:srgbClr val="4A4A4A"/>
                </a:solidFill>
                <a:effectLst/>
                <a:latin typeface="-apple-system"/>
              </a:rPr>
              <a:t>batch_size</a:t>
            </a:r>
            <a:r>
              <a:rPr lang="en-US" altLang="zh-TW" b="1" i="0" dirty="0">
                <a:solidFill>
                  <a:srgbClr val="4A4A4A"/>
                </a:solidFill>
                <a:effectLst/>
                <a:latin typeface="-apple-system"/>
              </a:rPr>
              <a:t> / 256</a:t>
            </a:r>
            <a:r>
              <a:rPr lang="zh-TW" altLang="en-US" b="1" i="0" dirty="0">
                <a:solidFill>
                  <a:srgbClr val="4A4A4A"/>
                </a:solidFill>
                <a:effectLst/>
                <a:latin typeface="-apple-system"/>
              </a:rPr>
              <a:t>」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。</a:t>
            </a:r>
            <a:endParaRPr lang="en-US" altLang="zh-TW" b="0" i="0" dirty="0">
              <a:solidFill>
                <a:srgbClr val="4A4A4A"/>
              </a:solidFill>
              <a:effectLst/>
              <a:latin typeface="-apple-system"/>
            </a:endParaRPr>
          </a:p>
          <a:p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Learning rate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小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under-fitting</a:t>
            </a:r>
          </a:p>
          <a:p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Learning rate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大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unstable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F9977A-F9B1-4E82-8DFA-4B4DCD30651E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2530036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一般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learning rate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都會根據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batch size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做一些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scale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的操作。這裏用的是</a:t>
            </a:r>
            <a:r>
              <a:rPr lang="en-US" altLang="zh-TW" b="1" i="0" dirty="0" err="1">
                <a:solidFill>
                  <a:srgbClr val="4A4A4A"/>
                </a:solidFill>
                <a:effectLst/>
                <a:latin typeface="-apple-system"/>
              </a:rPr>
              <a:t>lr</a:t>
            </a:r>
            <a:r>
              <a:rPr lang="en-US" altLang="zh-TW" b="1" i="0" dirty="0">
                <a:solidFill>
                  <a:srgbClr val="4A4A4A"/>
                </a:solidFill>
                <a:effectLst/>
                <a:latin typeface="-apple-system"/>
              </a:rPr>
              <a:t> x </a:t>
            </a:r>
            <a:r>
              <a:rPr lang="en-US" altLang="zh-TW" b="1" i="0" dirty="0" err="1">
                <a:solidFill>
                  <a:srgbClr val="4A4A4A"/>
                </a:solidFill>
                <a:effectLst/>
                <a:latin typeface="-apple-system"/>
              </a:rPr>
              <a:t>batch_size</a:t>
            </a:r>
            <a:r>
              <a:rPr lang="en-US" altLang="zh-TW" b="1" i="0" dirty="0">
                <a:solidFill>
                  <a:srgbClr val="4A4A4A"/>
                </a:solidFill>
                <a:effectLst/>
                <a:latin typeface="-apple-system"/>
              </a:rPr>
              <a:t> / 256</a:t>
            </a:r>
            <a:r>
              <a:rPr lang="zh-TW" altLang="en-US" b="1" i="0" dirty="0">
                <a:solidFill>
                  <a:srgbClr val="4A4A4A"/>
                </a:solidFill>
                <a:effectLst/>
                <a:latin typeface="-apple-system"/>
              </a:rPr>
              <a:t>」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。</a:t>
            </a:r>
            <a:endParaRPr lang="en-US" altLang="zh-TW" b="0" i="0" dirty="0">
              <a:solidFill>
                <a:srgbClr val="4A4A4A"/>
              </a:solidFill>
              <a:effectLst/>
              <a:latin typeface="-apple-system"/>
            </a:endParaRPr>
          </a:p>
          <a:p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Learning rate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小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under-fitting</a:t>
            </a:r>
          </a:p>
          <a:p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Learning rate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大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unstable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F9977A-F9B1-4E82-8DFA-4B4DCD30651E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5314189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一般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learning rate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都會根據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batch size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做一些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scale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的操作。這裏用的是</a:t>
            </a:r>
            <a:r>
              <a:rPr lang="en-US" altLang="zh-TW" b="1" i="0" dirty="0" err="1">
                <a:solidFill>
                  <a:srgbClr val="4A4A4A"/>
                </a:solidFill>
                <a:effectLst/>
                <a:latin typeface="-apple-system"/>
              </a:rPr>
              <a:t>lr</a:t>
            </a:r>
            <a:r>
              <a:rPr lang="en-US" altLang="zh-TW" b="1" i="0" dirty="0">
                <a:solidFill>
                  <a:srgbClr val="4A4A4A"/>
                </a:solidFill>
                <a:effectLst/>
                <a:latin typeface="-apple-system"/>
              </a:rPr>
              <a:t> x </a:t>
            </a:r>
            <a:r>
              <a:rPr lang="en-US" altLang="zh-TW" b="1" i="0" dirty="0" err="1">
                <a:solidFill>
                  <a:srgbClr val="4A4A4A"/>
                </a:solidFill>
                <a:effectLst/>
                <a:latin typeface="-apple-system"/>
              </a:rPr>
              <a:t>batch_size</a:t>
            </a:r>
            <a:r>
              <a:rPr lang="en-US" altLang="zh-TW" b="1" i="0" dirty="0">
                <a:solidFill>
                  <a:srgbClr val="4A4A4A"/>
                </a:solidFill>
                <a:effectLst/>
                <a:latin typeface="-apple-system"/>
              </a:rPr>
              <a:t> / 256</a:t>
            </a:r>
            <a:r>
              <a:rPr lang="zh-TW" altLang="en-US" b="1" i="0" dirty="0">
                <a:solidFill>
                  <a:srgbClr val="4A4A4A"/>
                </a:solidFill>
                <a:effectLst/>
                <a:latin typeface="-apple-system"/>
              </a:rPr>
              <a:t>」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。</a:t>
            </a:r>
            <a:endParaRPr lang="en-US" altLang="zh-TW" b="0" i="0" dirty="0">
              <a:solidFill>
                <a:srgbClr val="4A4A4A"/>
              </a:solidFill>
              <a:effectLst/>
              <a:latin typeface="-apple-system"/>
            </a:endParaRPr>
          </a:p>
          <a:p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Learning rate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小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under-fitting</a:t>
            </a:r>
          </a:p>
          <a:p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Learning rate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大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unstable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F9977A-F9B1-4E82-8DFA-4B4DCD30651E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4125290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一般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learning rate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都會根據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batch size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做一些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scale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的操作。這裏用的是</a:t>
            </a:r>
            <a:r>
              <a:rPr lang="en-US" altLang="zh-TW" b="1" i="0" dirty="0" err="1">
                <a:solidFill>
                  <a:srgbClr val="4A4A4A"/>
                </a:solidFill>
                <a:effectLst/>
                <a:latin typeface="-apple-system"/>
              </a:rPr>
              <a:t>lr</a:t>
            </a:r>
            <a:r>
              <a:rPr lang="en-US" altLang="zh-TW" b="1" i="0" dirty="0">
                <a:solidFill>
                  <a:srgbClr val="4A4A4A"/>
                </a:solidFill>
                <a:effectLst/>
                <a:latin typeface="-apple-system"/>
              </a:rPr>
              <a:t> x </a:t>
            </a:r>
            <a:r>
              <a:rPr lang="en-US" altLang="zh-TW" b="1" i="0" dirty="0" err="1">
                <a:solidFill>
                  <a:srgbClr val="4A4A4A"/>
                </a:solidFill>
                <a:effectLst/>
                <a:latin typeface="-apple-system"/>
              </a:rPr>
              <a:t>batch_size</a:t>
            </a:r>
            <a:r>
              <a:rPr lang="en-US" altLang="zh-TW" b="1" i="0" dirty="0">
                <a:solidFill>
                  <a:srgbClr val="4A4A4A"/>
                </a:solidFill>
                <a:effectLst/>
                <a:latin typeface="-apple-system"/>
              </a:rPr>
              <a:t> / 256</a:t>
            </a:r>
            <a:r>
              <a:rPr lang="zh-TW" altLang="en-US" b="1" i="0" dirty="0">
                <a:solidFill>
                  <a:srgbClr val="4A4A4A"/>
                </a:solidFill>
                <a:effectLst/>
                <a:latin typeface="-apple-system"/>
              </a:rPr>
              <a:t>」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。</a:t>
            </a:r>
            <a:endParaRPr lang="en-US" altLang="zh-TW" b="0" i="0" dirty="0">
              <a:solidFill>
                <a:srgbClr val="4A4A4A"/>
              </a:solidFill>
              <a:effectLst/>
              <a:latin typeface="-apple-system"/>
            </a:endParaRPr>
          </a:p>
          <a:p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Learning rate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小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under-fitting</a:t>
            </a:r>
          </a:p>
          <a:p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Learning rate </a:t>
            </a:r>
            <a:r>
              <a:rPr lang="zh-TW" altLang="en-US" b="0" i="0" dirty="0">
                <a:solidFill>
                  <a:srgbClr val="4A4A4A"/>
                </a:solidFill>
                <a:effectLst/>
                <a:latin typeface="-apple-system"/>
              </a:rPr>
              <a:t>大 </a:t>
            </a:r>
            <a:r>
              <a:rPr lang="en-US" altLang="zh-TW" b="0" i="0" dirty="0">
                <a:solidFill>
                  <a:srgbClr val="4A4A4A"/>
                </a:solidFill>
                <a:effectLst/>
                <a:latin typeface="-apple-system"/>
              </a:rPr>
              <a:t>unstable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4F9977A-F9B1-4E82-8DFA-4B4DCD30651E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399399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544C4AB-BB78-4AD8-8AC6-D878211F26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30D602D5-5DF4-459E-834A-39D43DCA34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699DFC97-CF4F-4800-BCE0-EC43FC35E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F1AD12-7FAA-48A7-8895-AFE8BEBD0190}" type="datetimeFigureOut">
              <a:rPr lang="zh-TW" altLang="en-US" smtClean="0"/>
              <a:t>2026/1/16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12D1A12-29B9-4914-9679-88A31D0ECD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350A44B-360D-4D5D-B988-46F71D8525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8F9BF-4B1F-43BA-9AFA-60BACD3716D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309988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D1095FA-A270-45F1-BF3F-BD4D5817E5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7641C69-4203-4894-A117-E96FFF50A6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6C776DE-D237-49BE-8950-2669D0DC4F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F1AD12-7FAA-48A7-8895-AFE8BEBD0190}" type="datetimeFigureOut">
              <a:rPr lang="zh-TW" altLang="en-US" smtClean="0"/>
              <a:t>2026/1/16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894A966-1349-4C4B-A067-4517CB5E49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75609E9-2CBB-4E4F-90D9-C0036FBDA2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8F9BF-4B1F-43BA-9AFA-60BACD3716D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402562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912ED93-BBF5-4C3A-B52D-3942DBE455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CBC828A7-7C0A-48BF-8FA4-B75A779DE5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8A10422-3359-424C-AA24-CA136B4676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F1AD12-7FAA-48A7-8895-AFE8BEBD0190}" type="datetimeFigureOut">
              <a:rPr lang="zh-TW" altLang="en-US" smtClean="0"/>
              <a:t>2026/1/16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72B0928-86A4-4201-8355-A948E0C2C8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8BBA404-B670-4CE9-9B88-41287009E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8F9BF-4B1F-43BA-9AFA-60BACD3716D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16433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435600B-FFD4-48F9-95D0-3F98D427A6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1CC563E-068E-4AEA-A1D0-CD53499E8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E050CC91-598A-400D-A60E-5A80B537E1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585D4AAF-BD60-478F-9111-72AE1ECFE3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F1AD12-7FAA-48A7-8895-AFE8BEBD0190}" type="datetimeFigureOut">
              <a:rPr lang="zh-TW" altLang="en-US" smtClean="0"/>
              <a:t>2026/1/16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987CF662-3391-4503-BE16-3751012075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74A54C3-E12B-4401-A81C-ECE67D942D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8F9BF-4B1F-43BA-9AFA-60BACD3716D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831177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563ADC2-819D-4D07-8AA6-9E97DA96D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707E1A6-B0D8-499D-97B0-233B237A07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C0F210AD-8E67-47BD-9E78-67644D933A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DE0D1FDF-FB5D-4B1E-847B-0F88BC11126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C4E51C28-D92A-457A-B9C8-E85D59B981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E60A5D6E-DBB8-4457-B758-0BBDA95D8E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F1AD12-7FAA-48A7-8895-AFE8BEBD0190}" type="datetimeFigureOut">
              <a:rPr lang="zh-TW" altLang="en-US" smtClean="0"/>
              <a:t>2026/1/16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0350E468-A040-4FE8-B9E8-AA8EC70573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A2ACBF7C-2E49-41B7-B55E-FBD3A83EB3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8F9BF-4B1F-43BA-9AFA-60BACD3716D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008604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210DE3A-9AE2-4CAA-89EB-A080E0E8CC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C69449E3-843D-42F0-9B03-028AA55C4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F1AD12-7FAA-48A7-8895-AFE8BEBD0190}" type="datetimeFigureOut">
              <a:rPr lang="zh-TW" altLang="en-US" smtClean="0"/>
              <a:t>2026/1/16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CAF2B59F-F67F-46B9-8B52-2C8140FD0E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E425A62-3C44-456C-9F0E-5F9AB885EA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8F9BF-4B1F-43BA-9AFA-60BACD3716D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226619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52FB50F3-B552-4474-9C20-63010B7FE9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F1AD12-7FAA-48A7-8895-AFE8BEBD0190}" type="datetimeFigureOut">
              <a:rPr lang="zh-TW" altLang="en-US" smtClean="0"/>
              <a:t>2026/1/16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2034EA9A-882F-4B5D-A9D7-53313EF1EC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852C827-A51D-4928-AD2C-F70388895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8F9BF-4B1F-43BA-9AFA-60BACD3716D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004361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D039DAB-0D95-4309-83F8-D2D51FB21E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12469B6-ACB7-4D43-8D90-1870E3D020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19A83429-BE8D-454E-965C-DB67A35091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BECCF78-D477-4AC5-8C90-F9D1AA39AF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F1AD12-7FAA-48A7-8895-AFE8BEBD0190}" type="datetimeFigureOut">
              <a:rPr lang="zh-TW" altLang="en-US" smtClean="0"/>
              <a:t>2026/1/16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AFF90BB1-3879-4509-9BFB-FFB12BE111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AB12A0C5-B804-4C30-A37D-4212A6040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8F9BF-4B1F-43BA-9AFA-60BACD3716D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330948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708E5C0-E27E-41AB-BADA-EB27604318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316F7B67-28CF-407A-BEF2-E672DFD7B4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A439DA6C-AA65-4352-849D-1EF1653CEB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3B77901-CA33-4593-B879-0C8DD43A3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F1AD12-7FAA-48A7-8895-AFE8BEBD0190}" type="datetimeFigureOut">
              <a:rPr lang="zh-TW" altLang="en-US" smtClean="0"/>
              <a:t>2026/1/16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0EF49CC0-448A-4672-93D6-FD1E6D823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DD3BBB75-1208-4DAE-A41E-F205D6660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8F9BF-4B1F-43BA-9AFA-60BACD3716D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781756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24933E9-2442-41C1-BE6F-6AB65170B9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48111AC7-935A-477F-8546-53FD48903D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CA82C1D-F0EF-4A44-9257-AD82DE3F5B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F1AD12-7FAA-48A7-8895-AFE8BEBD0190}" type="datetimeFigureOut">
              <a:rPr lang="zh-TW" altLang="en-US" smtClean="0"/>
              <a:t>2026/1/16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BD9FC00-D9B4-4C9D-B4FE-3F6AE1EA6E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4D43F58-EC8B-47B2-8313-430BAD1CB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8F9BF-4B1F-43BA-9AFA-60BACD3716D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434210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C32D0AC2-F1D9-4B06-B884-416FCD1530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73A51D72-0BC5-4B51-9615-E76541BB09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3D8338B-69C9-4910-96FB-7CDBD508EC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F1AD12-7FAA-48A7-8895-AFE8BEBD0190}" type="datetimeFigureOut">
              <a:rPr lang="zh-TW" altLang="en-US" smtClean="0"/>
              <a:t>2026/1/16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B20733D-F8C2-4170-B85B-C2E1A9071E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2900D9F-1570-42F5-B485-168AD3FE4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8F9BF-4B1F-43BA-9AFA-60BACD3716D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853762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C4442477-0EF2-48DD-9E0E-6FB1D94907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6B717B0-7C23-4663-B6C9-04E34070C6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AD44F0C-2A35-46FF-A8B1-CDA86C542EF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F1AD12-7FAA-48A7-8895-AFE8BEBD0190}" type="datetimeFigureOut">
              <a:rPr lang="zh-TW" altLang="en-US" smtClean="0"/>
              <a:t>2026/1/16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671741F-9351-4E79-9733-10E25ECDEB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3BC4D2C-11A7-4491-BEC0-90C458E28B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08F9BF-4B1F-43BA-9AFA-60BACD3716D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024614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emf"/><Relationship Id="rId3" Type="http://schemas.openxmlformats.org/officeDocument/2006/relationships/notesSlide" Target="../notesSlides/notesSlide2.xml"/><Relationship Id="rId7" Type="http://schemas.openxmlformats.org/officeDocument/2006/relationships/package" Target="../embeddings/Microsoft_Excel_Worksheet.xlsx"/><Relationship Id="rId12" Type="http://schemas.openxmlformats.org/officeDocument/2006/relationships/image" Target="../media/image3.emf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6.png"/><Relationship Id="rId11" Type="http://schemas.openxmlformats.org/officeDocument/2006/relationships/package" Target="../embeddings/Microsoft_Excel_Worksheet2.xlsx"/><Relationship Id="rId5" Type="http://schemas.openxmlformats.org/officeDocument/2006/relationships/image" Target="../media/image5.png"/><Relationship Id="rId10" Type="http://schemas.openxmlformats.org/officeDocument/2006/relationships/image" Target="../media/image2.emf"/><Relationship Id="rId4" Type="http://schemas.openxmlformats.org/officeDocument/2006/relationships/image" Target="../media/image4.png"/><Relationship Id="rId9" Type="http://schemas.openxmlformats.org/officeDocument/2006/relationships/package" Target="../embeddings/Microsoft_Excel_Worksheet1.xlsx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2.vml"/><Relationship Id="rId6" Type="http://schemas.openxmlformats.org/officeDocument/2006/relationships/image" Target="../media/image7.emf"/><Relationship Id="rId5" Type="http://schemas.openxmlformats.org/officeDocument/2006/relationships/package" Target="../embeddings/Microsoft_Excel_Worksheet3.xlsx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package" Target="../embeddings/Microsoft_Excel_Worksheet6.xlsx"/><Relationship Id="rId3" Type="http://schemas.openxmlformats.org/officeDocument/2006/relationships/notesSlide" Target="../notesSlides/notesSlide4.xml"/><Relationship Id="rId7" Type="http://schemas.openxmlformats.org/officeDocument/2006/relationships/image" Target="../media/image10.emf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3.vml"/><Relationship Id="rId6" Type="http://schemas.openxmlformats.org/officeDocument/2006/relationships/package" Target="../embeddings/Microsoft_Excel_Worksheet5.xlsx"/><Relationship Id="rId5" Type="http://schemas.openxmlformats.org/officeDocument/2006/relationships/image" Target="../media/image9.emf"/><Relationship Id="rId4" Type="http://schemas.openxmlformats.org/officeDocument/2006/relationships/package" Target="../embeddings/Microsoft_Excel_Worksheet4.xlsx"/><Relationship Id="rId9" Type="http://schemas.openxmlformats.org/officeDocument/2006/relationships/image" Target="../media/image11.emf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4.vml"/><Relationship Id="rId5" Type="http://schemas.openxmlformats.org/officeDocument/2006/relationships/image" Target="../media/image10.emf"/><Relationship Id="rId4" Type="http://schemas.openxmlformats.org/officeDocument/2006/relationships/package" Target="../embeddings/Microsoft_Excel_Worksheet5.xlsx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5.vml"/><Relationship Id="rId6" Type="http://schemas.openxmlformats.org/officeDocument/2006/relationships/image" Target="../media/image12.jpg"/><Relationship Id="rId5" Type="http://schemas.openxmlformats.org/officeDocument/2006/relationships/image" Target="../media/image10.emf"/><Relationship Id="rId4" Type="http://schemas.openxmlformats.org/officeDocument/2006/relationships/package" Target="../embeddings/Microsoft_Excel_Worksheet5.xlsx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6.vml"/><Relationship Id="rId6" Type="http://schemas.openxmlformats.org/officeDocument/2006/relationships/image" Target="../media/image10.emf"/><Relationship Id="rId5" Type="http://schemas.openxmlformats.org/officeDocument/2006/relationships/package" Target="../embeddings/Microsoft_Excel_Worksheet5.xlsx"/><Relationship Id="rId4" Type="http://schemas.openxmlformats.org/officeDocument/2006/relationships/image" Target="../media/image13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7.vml"/><Relationship Id="rId6" Type="http://schemas.openxmlformats.org/officeDocument/2006/relationships/image" Target="../media/image14.jpg"/><Relationship Id="rId5" Type="http://schemas.openxmlformats.org/officeDocument/2006/relationships/image" Target="../media/image10.emf"/><Relationship Id="rId4" Type="http://schemas.openxmlformats.org/officeDocument/2006/relationships/package" Target="../embeddings/Microsoft_Excel_Worksheet5.xlsx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8.vml"/><Relationship Id="rId6" Type="http://schemas.openxmlformats.org/officeDocument/2006/relationships/image" Target="../media/image15.jpg"/><Relationship Id="rId5" Type="http://schemas.openxmlformats.org/officeDocument/2006/relationships/image" Target="../media/image10.emf"/><Relationship Id="rId4" Type="http://schemas.openxmlformats.org/officeDocument/2006/relationships/package" Target="../embeddings/Microsoft_Excel_Worksheet5.xlsx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9.vml"/><Relationship Id="rId6" Type="http://schemas.openxmlformats.org/officeDocument/2006/relationships/image" Target="../media/image16.jpg"/><Relationship Id="rId5" Type="http://schemas.openxmlformats.org/officeDocument/2006/relationships/image" Target="../media/image10.emf"/><Relationship Id="rId4" Type="http://schemas.openxmlformats.org/officeDocument/2006/relationships/package" Target="../embeddings/Microsoft_Excel_Worksheet5.xlsx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0.vml"/><Relationship Id="rId6" Type="http://schemas.openxmlformats.org/officeDocument/2006/relationships/image" Target="../media/image17.jpg"/><Relationship Id="rId5" Type="http://schemas.openxmlformats.org/officeDocument/2006/relationships/image" Target="../media/image10.emf"/><Relationship Id="rId4" Type="http://schemas.openxmlformats.org/officeDocument/2006/relationships/package" Target="../embeddings/Microsoft_Excel_Worksheet5.xlsx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1.vml"/><Relationship Id="rId6" Type="http://schemas.openxmlformats.org/officeDocument/2006/relationships/image" Target="../media/image18.jpg"/><Relationship Id="rId5" Type="http://schemas.openxmlformats.org/officeDocument/2006/relationships/image" Target="../media/image10.emf"/><Relationship Id="rId4" Type="http://schemas.openxmlformats.org/officeDocument/2006/relationships/package" Target="../embeddings/Microsoft_Excel_Worksheet5.xlsx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2.vml"/><Relationship Id="rId6" Type="http://schemas.openxmlformats.org/officeDocument/2006/relationships/image" Target="../media/image19.jpg"/><Relationship Id="rId5" Type="http://schemas.openxmlformats.org/officeDocument/2006/relationships/image" Target="../media/image10.emf"/><Relationship Id="rId4" Type="http://schemas.openxmlformats.org/officeDocument/2006/relationships/package" Target="../embeddings/Microsoft_Excel_Worksheet5.xlsx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1F6782A-F7CF-4A5C-9F5E-8B26F42F92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0421" y="1041400"/>
            <a:ext cx="10631155" cy="2387600"/>
          </a:xfrm>
        </p:spPr>
        <p:txBody>
          <a:bodyPr>
            <a:normAutofit/>
          </a:bodyPr>
          <a:lstStyle/>
          <a:p>
            <a:r>
              <a:rPr lang="en-US" altLang="zh-TW" sz="4400" b="1" dirty="0"/>
              <a:t>2025/08/14</a:t>
            </a:r>
            <a:r>
              <a:rPr lang="zh-TW" altLang="en-US" sz="4400" b="1" dirty="0"/>
              <a:t> </a:t>
            </a:r>
            <a:r>
              <a:rPr lang="en-US" altLang="zh-TW" sz="4400" b="1" dirty="0"/>
              <a:t>Meeting Report</a:t>
            </a:r>
            <a:endParaRPr lang="zh-TW" altLang="en-US" sz="4400" dirty="0"/>
          </a:p>
        </p:txBody>
      </p:sp>
    </p:spTree>
    <p:extLst>
      <p:ext uri="{BB962C8B-B14F-4D97-AF65-F5344CB8AC3E}">
        <p14:creationId xmlns:p14="http://schemas.microsoft.com/office/powerpoint/2010/main" val="32759061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圖片 8">
            <a:extLst>
              <a:ext uri="{FF2B5EF4-FFF2-40B4-BE49-F238E27FC236}">
                <a16:creationId xmlns:a16="http://schemas.microsoft.com/office/drawing/2014/main" id="{6662D3F3-4319-45FA-B164-EA604546C9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50947" y="2190830"/>
            <a:ext cx="5310183" cy="4060692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D0C0D8E3-AAE5-4676-B9BB-880C9721A21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1224" y="2192877"/>
            <a:ext cx="5094455" cy="4148408"/>
          </a:xfrm>
          <a:prstGeom prst="rect">
            <a:avLst/>
          </a:prstGeom>
        </p:spPr>
      </p:pic>
      <p:sp>
        <p:nvSpPr>
          <p:cNvPr id="5" name="標題 1">
            <a:extLst>
              <a:ext uri="{FF2B5EF4-FFF2-40B4-BE49-F238E27FC236}">
                <a16:creationId xmlns:a16="http://schemas.microsoft.com/office/drawing/2014/main" id="{52C9CFC8-97B7-40C2-88BC-4B89FD014C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577" y="0"/>
            <a:ext cx="11744588" cy="1325563"/>
          </a:xfrm>
        </p:spPr>
        <p:txBody>
          <a:bodyPr>
            <a:normAutofit/>
          </a:bodyPr>
          <a:lstStyle/>
          <a:p>
            <a:r>
              <a:rPr lang="en-US" altLang="zh-TW" sz="32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4o </a:t>
            </a:r>
            <a:r>
              <a:rPr lang="zh-TW" altLang="en-US" sz="32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的憂鬱症檢測與 </a:t>
            </a:r>
            <a:r>
              <a:rPr lang="zh-TW" altLang="en-US" sz="3200" b="1" dirty="0">
                <a:solidFill>
                  <a:schemeClr val="accent1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多任務學習</a:t>
            </a:r>
            <a:r>
              <a:rPr lang="en-US" altLang="zh-TW" sz="3200" b="1" dirty="0">
                <a:solidFill>
                  <a:schemeClr val="accent1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 </a:t>
            </a:r>
            <a:r>
              <a:rPr lang="zh-TW" altLang="en-US" sz="32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和 </a:t>
            </a:r>
            <a:r>
              <a:rPr lang="zh-TW" altLang="en-US" sz="3200" b="1" dirty="0">
                <a:solidFill>
                  <a:schemeClr val="accent2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二元分類任務學習</a:t>
            </a:r>
            <a:r>
              <a:rPr lang="en-US" altLang="zh-TW" sz="3200" b="1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 </a:t>
            </a:r>
            <a:r>
              <a:rPr lang="zh-TW" altLang="en-US" sz="32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比較</a:t>
            </a:r>
          </a:p>
        </p:txBody>
      </p:sp>
      <p:sp>
        <p:nvSpPr>
          <p:cNvPr id="8" name="內容版面配置區 2">
            <a:extLst>
              <a:ext uri="{FF2B5EF4-FFF2-40B4-BE49-F238E27FC236}">
                <a16:creationId xmlns:a16="http://schemas.microsoft.com/office/drawing/2014/main" id="{C790674B-9EC5-4D00-A32E-9E8F49D8D015}"/>
              </a:ext>
            </a:extLst>
          </p:cNvPr>
          <p:cNvSpPr txBox="1">
            <a:spLocks/>
          </p:cNvSpPr>
          <p:nvPr/>
        </p:nvSpPr>
        <p:spPr>
          <a:xfrm>
            <a:off x="838199" y="1456508"/>
            <a:ext cx="10515600" cy="53134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14400" lvl="2" indent="0">
              <a:lnSpc>
                <a:spcPct val="100000"/>
              </a:lnSpc>
              <a:buNone/>
            </a:pPr>
            <a:endParaRPr lang="en-US" altLang="zh-TW" dirty="0">
              <a:ea typeface="標楷體" panose="03000509000000000000" pitchFamily="65" charset="-120"/>
            </a:endParaRPr>
          </a:p>
          <a:p>
            <a:pPr>
              <a:lnSpc>
                <a:spcPct val="100000"/>
              </a:lnSpc>
            </a:pPr>
            <a:endParaRPr lang="en-US" altLang="zh-TW" sz="2400" dirty="0">
              <a:ea typeface="標楷體" panose="03000509000000000000" pitchFamily="65" charset="-120"/>
            </a:endParaRPr>
          </a:p>
          <a:p>
            <a:pPr>
              <a:lnSpc>
                <a:spcPct val="100000"/>
              </a:lnSpc>
            </a:pPr>
            <a:endParaRPr lang="en-US" altLang="zh-TW" sz="2400" dirty="0">
              <a:ea typeface="標楷體" panose="03000509000000000000" pitchFamily="65" charset="-120"/>
            </a:endParaRPr>
          </a:p>
          <a:p>
            <a:pPr>
              <a:lnSpc>
                <a:spcPct val="100000"/>
              </a:lnSpc>
            </a:pPr>
            <a:endParaRPr lang="en-US" altLang="zh-TW" sz="2400" dirty="0">
              <a:ea typeface="標楷體" panose="03000509000000000000" pitchFamily="65" charset="-120"/>
            </a:endParaRPr>
          </a:p>
          <a:p>
            <a:pPr>
              <a:lnSpc>
                <a:spcPct val="100000"/>
              </a:lnSpc>
            </a:pPr>
            <a:endParaRPr lang="en-US" altLang="zh-TW" sz="2400" dirty="0">
              <a:ea typeface="標楷體" panose="03000509000000000000" pitchFamily="65" charset="-12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altLang="zh-TW" sz="2400" dirty="0">
              <a:ea typeface="標楷體" panose="03000509000000000000" pitchFamily="65" charset="-120"/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F8334866-5215-4036-B4BA-99656E9DCAB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300110"/>
            <a:ext cx="4126373" cy="3944984"/>
          </a:xfrm>
          <a:prstGeom prst="rect">
            <a:avLst/>
          </a:prstGeom>
        </p:spPr>
      </p:pic>
      <p:graphicFrame>
        <p:nvGraphicFramePr>
          <p:cNvPr id="18" name="物件 17">
            <a:extLst>
              <a:ext uri="{FF2B5EF4-FFF2-40B4-BE49-F238E27FC236}">
                <a16:creationId xmlns:a16="http://schemas.microsoft.com/office/drawing/2014/main" id="{C3C71935-84C4-4FC8-B064-B3FE6CD1D6C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1550306"/>
              </p:ext>
            </p:extLst>
          </p:nvPr>
        </p:nvGraphicFramePr>
        <p:xfrm>
          <a:off x="8862057" y="1253960"/>
          <a:ext cx="2483448" cy="733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68" name="Worksheet" r:id="rId7" imgW="2162266" imgH="638286" progId="Excel.Sheet.12">
                  <p:embed/>
                </p:oleObj>
              </mc:Choice>
              <mc:Fallback>
                <p:oleObj name="Worksheet" r:id="rId7" imgW="2162266" imgH="638286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8862057" y="1253960"/>
                        <a:ext cx="2483448" cy="733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" name="物件 19">
            <a:extLst>
              <a:ext uri="{FF2B5EF4-FFF2-40B4-BE49-F238E27FC236}">
                <a16:creationId xmlns:a16="http://schemas.microsoft.com/office/drawing/2014/main" id="{6D9D26D7-62DA-4B2A-9004-4A9355B4781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36537614"/>
              </p:ext>
            </p:extLst>
          </p:nvPr>
        </p:nvGraphicFramePr>
        <p:xfrm>
          <a:off x="4645799" y="1256007"/>
          <a:ext cx="2483448" cy="733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69" name="Worksheet" r:id="rId9" imgW="2162266" imgH="638286" progId="Excel.Sheet.12">
                  <p:embed/>
                </p:oleObj>
              </mc:Choice>
              <mc:Fallback>
                <p:oleObj name="Worksheet" r:id="rId9" imgW="2162266" imgH="638286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4645799" y="1256007"/>
                        <a:ext cx="2483448" cy="733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" name="物件 21">
            <a:extLst>
              <a:ext uri="{FF2B5EF4-FFF2-40B4-BE49-F238E27FC236}">
                <a16:creationId xmlns:a16="http://schemas.microsoft.com/office/drawing/2014/main" id="{F19C50A6-6A02-4A46-A019-3726FF2710C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01856212"/>
              </p:ext>
            </p:extLst>
          </p:nvPr>
        </p:nvGraphicFramePr>
        <p:xfrm>
          <a:off x="579824" y="1253960"/>
          <a:ext cx="2483448" cy="733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70" name="Worksheet" r:id="rId11" imgW="2162266" imgH="638286" progId="Excel.Sheet.12">
                  <p:embed/>
                </p:oleObj>
              </mc:Choice>
              <mc:Fallback>
                <p:oleObj name="Worksheet" r:id="rId11" imgW="2162266" imgH="638286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579824" y="1253960"/>
                        <a:ext cx="2483448" cy="733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9405756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52C9CFC8-97B7-40C2-88BC-4B89FD014C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577" y="0"/>
            <a:ext cx="11744588" cy="1325563"/>
          </a:xfrm>
        </p:spPr>
        <p:txBody>
          <a:bodyPr>
            <a:normAutofit/>
          </a:bodyPr>
          <a:lstStyle/>
          <a:p>
            <a:r>
              <a:rPr lang="en-US" altLang="zh-TW" sz="32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4o </a:t>
            </a:r>
            <a:r>
              <a:rPr lang="zh-TW" altLang="en-US" sz="32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的 </a:t>
            </a:r>
            <a:r>
              <a:rPr lang="en-US" altLang="zh-TW" sz="3200" dirty="0" err="1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test_split</a:t>
            </a:r>
            <a:r>
              <a:rPr lang="en-US" altLang="zh-TW" sz="32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 </a:t>
            </a:r>
            <a:r>
              <a:rPr lang="zh-TW" altLang="en-US" sz="32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憂鬱症檢測結果</a:t>
            </a:r>
          </a:p>
        </p:txBody>
      </p:sp>
      <p:sp>
        <p:nvSpPr>
          <p:cNvPr id="8" name="內容版面配置區 2">
            <a:extLst>
              <a:ext uri="{FF2B5EF4-FFF2-40B4-BE49-F238E27FC236}">
                <a16:creationId xmlns:a16="http://schemas.microsoft.com/office/drawing/2014/main" id="{C790674B-9EC5-4D00-A32E-9E8F49D8D015}"/>
              </a:ext>
            </a:extLst>
          </p:cNvPr>
          <p:cNvSpPr txBox="1">
            <a:spLocks/>
          </p:cNvSpPr>
          <p:nvPr/>
        </p:nvSpPr>
        <p:spPr>
          <a:xfrm>
            <a:off x="838199" y="1456508"/>
            <a:ext cx="10515600" cy="53134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14400" lvl="2" indent="0">
              <a:lnSpc>
                <a:spcPct val="100000"/>
              </a:lnSpc>
              <a:buNone/>
            </a:pPr>
            <a:endParaRPr lang="en-US" altLang="zh-TW" dirty="0">
              <a:ea typeface="標楷體" panose="03000509000000000000" pitchFamily="65" charset="-120"/>
            </a:endParaRPr>
          </a:p>
          <a:p>
            <a:pPr>
              <a:lnSpc>
                <a:spcPct val="100000"/>
              </a:lnSpc>
            </a:pPr>
            <a:endParaRPr lang="en-US" altLang="zh-TW" sz="2400" dirty="0">
              <a:ea typeface="標楷體" panose="03000509000000000000" pitchFamily="65" charset="-120"/>
            </a:endParaRPr>
          </a:p>
          <a:p>
            <a:pPr>
              <a:lnSpc>
                <a:spcPct val="100000"/>
              </a:lnSpc>
            </a:pPr>
            <a:endParaRPr lang="en-US" altLang="zh-TW" sz="2400" dirty="0">
              <a:ea typeface="標楷體" panose="03000509000000000000" pitchFamily="65" charset="-120"/>
            </a:endParaRPr>
          </a:p>
          <a:p>
            <a:pPr>
              <a:lnSpc>
                <a:spcPct val="100000"/>
              </a:lnSpc>
            </a:pPr>
            <a:endParaRPr lang="en-US" altLang="zh-TW" sz="2400" dirty="0">
              <a:ea typeface="標楷體" panose="03000509000000000000" pitchFamily="65" charset="-120"/>
            </a:endParaRPr>
          </a:p>
          <a:p>
            <a:pPr>
              <a:lnSpc>
                <a:spcPct val="100000"/>
              </a:lnSpc>
            </a:pPr>
            <a:endParaRPr lang="en-US" altLang="zh-TW" sz="2400" dirty="0">
              <a:ea typeface="標楷體" panose="03000509000000000000" pitchFamily="65" charset="-12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altLang="zh-TW" sz="2400" dirty="0">
              <a:ea typeface="標楷體" panose="03000509000000000000" pitchFamily="65" charset="-120"/>
            </a:endParaRP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27C3EF44-E62C-4A60-98F5-0890DEA5D3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11" y="902870"/>
            <a:ext cx="11980154" cy="4231983"/>
          </a:xfrm>
          <a:prstGeom prst="rect">
            <a:avLst/>
          </a:prstGeom>
        </p:spPr>
      </p:pic>
      <p:graphicFrame>
        <p:nvGraphicFramePr>
          <p:cNvPr id="3" name="物件 2">
            <a:extLst>
              <a:ext uri="{FF2B5EF4-FFF2-40B4-BE49-F238E27FC236}">
                <a16:creationId xmlns:a16="http://schemas.microsoft.com/office/drawing/2014/main" id="{405AB83B-A281-4313-8037-36DDCA59005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21850893"/>
              </p:ext>
            </p:extLst>
          </p:nvPr>
        </p:nvGraphicFramePr>
        <p:xfrm>
          <a:off x="234001" y="5265798"/>
          <a:ext cx="11832164" cy="94287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272" name="Worksheet" r:id="rId5" imgW="15916176" imgH="1266740" progId="Excel.Sheet.12">
                  <p:embed/>
                </p:oleObj>
              </mc:Choice>
              <mc:Fallback>
                <p:oleObj name="Worksheet" r:id="rId5" imgW="15916176" imgH="126674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34001" y="5265798"/>
                        <a:ext cx="11832164" cy="94287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2553698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52C9CFC8-97B7-40C2-88BC-4B89FD014C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577" y="0"/>
            <a:ext cx="11744588" cy="1325563"/>
          </a:xfrm>
        </p:spPr>
        <p:txBody>
          <a:bodyPr>
            <a:normAutofit/>
          </a:bodyPr>
          <a:lstStyle/>
          <a:p>
            <a:r>
              <a:rPr lang="en-US" altLang="zh-TW" sz="32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4o </a:t>
            </a:r>
            <a:r>
              <a:rPr lang="zh-TW" altLang="en-US" sz="32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的 </a:t>
            </a:r>
            <a:r>
              <a:rPr lang="en-US" altLang="zh-TW" sz="3200" dirty="0" err="1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test_split</a:t>
            </a:r>
            <a:r>
              <a:rPr lang="en-US" altLang="zh-TW" sz="32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 </a:t>
            </a:r>
            <a:r>
              <a:rPr lang="zh-TW" altLang="en-US" sz="32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憂鬱症檢測結果</a:t>
            </a:r>
          </a:p>
        </p:txBody>
      </p:sp>
      <p:sp>
        <p:nvSpPr>
          <p:cNvPr id="8" name="內容版面配置區 2">
            <a:extLst>
              <a:ext uri="{FF2B5EF4-FFF2-40B4-BE49-F238E27FC236}">
                <a16:creationId xmlns:a16="http://schemas.microsoft.com/office/drawing/2014/main" id="{C790674B-9EC5-4D00-A32E-9E8F49D8D015}"/>
              </a:ext>
            </a:extLst>
          </p:cNvPr>
          <p:cNvSpPr txBox="1">
            <a:spLocks/>
          </p:cNvSpPr>
          <p:nvPr/>
        </p:nvSpPr>
        <p:spPr>
          <a:xfrm>
            <a:off x="838199" y="1456508"/>
            <a:ext cx="10515600" cy="53134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14400" lvl="2" indent="0">
              <a:lnSpc>
                <a:spcPct val="100000"/>
              </a:lnSpc>
              <a:buNone/>
            </a:pPr>
            <a:endParaRPr lang="en-US" altLang="zh-TW" dirty="0">
              <a:ea typeface="標楷體" panose="03000509000000000000" pitchFamily="65" charset="-120"/>
            </a:endParaRPr>
          </a:p>
          <a:p>
            <a:pPr>
              <a:lnSpc>
                <a:spcPct val="100000"/>
              </a:lnSpc>
            </a:pPr>
            <a:endParaRPr lang="en-US" altLang="zh-TW" sz="2400" dirty="0">
              <a:ea typeface="標楷體" panose="03000509000000000000" pitchFamily="65" charset="-120"/>
            </a:endParaRPr>
          </a:p>
          <a:p>
            <a:pPr>
              <a:lnSpc>
                <a:spcPct val="100000"/>
              </a:lnSpc>
            </a:pPr>
            <a:endParaRPr lang="en-US" altLang="zh-TW" sz="2400" dirty="0">
              <a:ea typeface="標楷體" panose="03000509000000000000" pitchFamily="65" charset="-120"/>
            </a:endParaRPr>
          </a:p>
          <a:p>
            <a:pPr>
              <a:lnSpc>
                <a:spcPct val="100000"/>
              </a:lnSpc>
            </a:pPr>
            <a:endParaRPr lang="en-US" altLang="zh-TW" sz="2400" dirty="0">
              <a:ea typeface="標楷體" panose="03000509000000000000" pitchFamily="65" charset="-120"/>
            </a:endParaRPr>
          </a:p>
          <a:p>
            <a:pPr>
              <a:lnSpc>
                <a:spcPct val="100000"/>
              </a:lnSpc>
            </a:pPr>
            <a:endParaRPr lang="en-US" altLang="zh-TW" sz="2400" dirty="0">
              <a:ea typeface="標楷體" panose="03000509000000000000" pitchFamily="65" charset="-12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altLang="zh-TW" sz="2400" dirty="0">
              <a:ea typeface="標楷體" panose="03000509000000000000" pitchFamily="65" charset="-120"/>
            </a:endParaRPr>
          </a:p>
        </p:txBody>
      </p:sp>
      <p:graphicFrame>
        <p:nvGraphicFramePr>
          <p:cNvPr id="2" name="物件 1">
            <a:extLst>
              <a:ext uri="{FF2B5EF4-FFF2-40B4-BE49-F238E27FC236}">
                <a16:creationId xmlns:a16="http://schemas.microsoft.com/office/drawing/2014/main" id="{2C888015-31D5-4899-B104-2CE7986AE29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06848448"/>
              </p:ext>
            </p:extLst>
          </p:nvPr>
        </p:nvGraphicFramePr>
        <p:xfrm>
          <a:off x="964603" y="2213042"/>
          <a:ext cx="10262791" cy="257540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13" name="Worksheet" r:id="rId4" imgW="7553190" imgH="1895547" progId="Excel.Sheet.12">
                  <p:embed/>
                </p:oleObj>
              </mc:Choice>
              <mc:Fallback>
                <p:oleObj name="Worksheet" r:id="rId4" imgW="7553190" imgH="1895547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964603" y="2213042"/>
                        <a:ext cx="10262791" cy="257540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物件 6">
            <a:extLst>
              <a:ext uri="{FF2B5EF4-FFF2-40B4-BE49-F238E27FC236}">
                <a16:creationId xmlns:a16="http://schemas.microsoft.com/office/drawing/2014/main" id="{4D689B5E-6573-476C-A093-FEC8E76392D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474635" y="174080"/>
          <a:ext cx="4524375" cy="1895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14" name="Worksheet" r:id="rId6" imgW="4524262" imgH="1895547" progId="Excel.Sheet.12">
                  <p:embed/>
                </p:oleObj>
              </mc:Choice>
              <mc:Fallback>
                <p:oleObj name="Worksheet" r:id="rId6" imgW="4524262" imgH="1895547" progId="Excel.Sheet.12">
                  <p:embed/>
                  <p:pic>
                    <p:nvPicPr>
                      <p:cNvPr id="7" name="物件 6">
                        <a:extLst>
                          <a:ext uri="{FF2B5EF4-FFF2-40B4-BE49-F238E27FC236}">
                            <a16:creationId xmlns:a16="http://schemas.microsoft.com/office/drawing/2014/main" id="{1EA108E6-50D4-40C1-9A83-06E0E094FCC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7474635" y="174080"/>
                        <a:ext cx="4524375" cy="18954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物件 5">
            <a:extLst>
              <a:ext uri="{FF2B5EF4-FFF2-40B4-BE49-F238E27FC236}">
                <a16:creationId xmlns:a16="http://schemas.microsoft.com/office/drawing/2014/main" id="{4AACB7E4-D356-49F7-B1DC-E95CD8B38C5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91047728"/>
              </p:ext>
            </p:extLst>
          </p:nvPr>
        </p:nvGraphicFramePr>
        <p:xfrm>
          <a:off x="967097" y="5137123"/>
          <a:ext cx="10260297" cy="115153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15" name="Worksheet" r:id="rId8" imgW="7553190" imgH="847888" progId="Excel.Sheet.12">
                  <p:embed/>
                </p:oleObj>
              </mc:Choice>
              <mc:Fallback>
                <p:oleObj name="Worksheet" r:id="rId8" imgW="7553190" imgH="847888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967097" y="5137123"/>
                        <a:ext cx="10260297" cy="115153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5673889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52C9CFC8-97B7-40C2-88BC-4B89FD014C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577" y="0"/>
            <a:ext cx="11744588" cy="1325563"/>
          </a:xfrm>
        </p:spPr>
        <p:txBody>
          <a:bodyPr>
            <a:normAutofit/>
          </a:bodyPr>
          <a:lstStyle/>
          <a:p>
            <a:r>
              <a:rPr lang="zh-TW" altLang="en-US" sz="32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觀察</a:t>
            </a:r>
          </a:p>
        </p:txBody>
      </p:sp>
      <p:sp>
        <p:nvSpPr>
          <p:cNvPr id="8" name="內容版面配置區 2">
            <a:extLst>
              <a:ext uri="{FF2B5EF4-FFF2-40B4-BE49-F238E27FC236}">
                <a16:creationId xmlns:a16="http://schemas.microsoft.com/office/drawing/2014/main" id="{C790674B-9EC5-4D00-A32E-9E8F49D8D015}"/>
              </a:ext>
            </a:extLst>
          </p:cNvPr>
          <p:cNvSpPr txBox="1">
            <a:spLocks/>
          </p:cNvSpPr>
          <p:nvPr/>
        </p:nvSpPr>
        <p:spPr>
          <a:xfrm>
            <a:off x="838199" y="1456508"/>
            <a:ext cx="10515600" cy="53134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14400" lvl="2" indent="0">
              <a:lnSpc>
                <a:spcPct val="100000"/>
              </a:lnSpc>
              <a:buNone/>
            </a:pPr>
            <a:endParaRPr lang="en-US" altLang="zh-TW" dirty="0">
              <a:ea typeface="標楷體" panose="03000509000000000000" pitchFamily="65" charset="-120"/>
            </a:endParaRPr>
          </a:p>
          <a:p>
            <a:pPr>
              <a:lnSpc>
                <a:spcPct val="100000"/>
              </a:lnSpc>
            </a:pPr>
            <a:endParaRPr lang="en-US" altLang="zh-TW" sz="2400" dirty="0">
              <a:ea typeface="標楷體" panose="03000509000000000000" pitchFamily="65" charset="-120"/>
            </a:endParaRPr>
          </a:p>
          <a:p>
            <a:pPr>
              <a:lnSpc>
                <a:spcPct val="100000"/>
              </a:lnSpc>
            </a:pPr>
            <a:endParaRPr lang="en-US" altLang="zh-TW" sz="2400" dirty="0">
              <a:ea typeface="標楷體" panose="03000509000000000000" pitchFamily="65" charset="-120"/>
            </a:endParaRPr>
          </a:p>
          <a:p>
            <a:pPr>
              <a:lnSpc>
                <a:spcPct val="100000"/>
              </a:lnSpc>
            </a:pPr>
            <a:endParaRPr lang="en-US" altLang="zh-TW" sz="2400" dirty="0">
              <a:ea typeface="標楷體" panose="03000509000000000000" pitchFamily="65" charset="-120"/>
            </a:endParaRPr>
          </a:p>
          <a:p>
            <a:pPr>
              <a:lnSpc>
                <a:spcPct val="100000"/>
              </a:lnSpc>
            </a:pPr>
            <a:endParaRPr lang="en-US" altLang="zh-TW" sz="2400" dirty="0">
              <a:ea typeface="標楷體" panose="03000509000000000000" pitchFamily="65" charset="-12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altLang="zh-TW" sz="2400" dirty="0">
              <a:ea typeface="標楷體" panose="03000509000000000000" pitchFamily="65" charset="-120"/>
            </a:endParaRPr>
          </a:p>
        </p:txBody>
      </p:sp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32562B24-0CD0-40F3-AA22-8769F801AEE1}"/>
              </a:ext>
            </a:extLst>
          </p:cNvPr>
          <p:cNvSpPr txBox="1">
            <a:spLocks/>
          </p:cNvSpPr>
          <p:nvPr/>
        </p:nvSpPr>
        <p:spPr>
          <a:xfrm>
            <a:off x="321577" y="1255824"/>
            <a:ext cx="11870423" cy="5714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</a:pPr>
            <a:r>
              <a:rPr lang="en-US" altLang="zh-TW" dirty="0">
                <a:ea typeface="標楷體" panose="03000509000000000000" pitchFamily="65" charset="-120"/>
              </a:rPr>
              <a:t>4o</a:t>
            </a:r>
            <a:r>
              <a:rPr lang="zh-TW" altLang="en-US" dirty="0">
                <a:ea typeface="標楷體" panose="03000509000000000000" pitchFamily="65" charset="-120"/>
              </a:rPr>
              <a:t> 模型在預測問卷總分偏向拉高總分</a:t>
            </a:r>
            <a:endParaRPr lang="en-US" altLang="zh-TW" dirty="0">
              <a:ea typeface="標楷體" panose="03000509000000000000" pitchFamily="65" charset="-120"/>
            </a:endParaRPr>
          </a:p>
          <a:p>
            <a:pPr>
              <a:lnSpc>
                <a:spcPct val="120000"/>
              </a:lnSpc>
            </a:pPr>
            <a:r>
              <a:rPr lang="zh-TW" altLang="en-US" dirty="0">
                <a:ea typeface="標楷體" panose="03000509000000000000" pitchFamily="65" charset="-120"/>
              </a:rPr>
              <a:t>問卷分數接近 </a:t>
            </a:r>
            <a:r>
              <a:rPr lang="en-US" altLang="zh-TW" dirty="0">
                <a:ea typeface="標楷體" panose="03000509000000000000" pitchFamily="65" charset="-120"/>
              </a:rPr>
              <a:t>10</a:t>
            </a:r>
            <a:r>
              <a:rPr lang="zh-TW" altLang="en-US" dirty="0">
                <a:ea typeface="標楷體" panose="03000509000000000000" pitchFamily="65" charset="-120"/>
              </a:rPr>
              <a:t> 分的受訪者容易被誤判為憂鬱症患者</a:t>
            </a:r>
            <a:endParaRPr lang="en-US" altLang="zh-TW" dirty="0">
              <a:ea typeface="標楷體" panose="03000509000000000000" pitchFamily="65" charset="-120"/>
            </a:endParaRPr>
          </a:p>
          <a:p>
            <a:pPr>
              <a:lnSpc>
                <a:spcPct val="120000"/>
              </a:lnSpc>
            </a:pPr>
            <a:r>
              <a:rPr lang="en-US" altLang="zh-TW" dirty="0">
                <a:ea typeface="標楷體" panose="03000509000000000000" pitchFamily="65" charset="-120"/>
              </a:rPr>
              <a:t>4o </a:t>
            </a:r>
            <a:r>
              <a:rPr lang="zh-TW" altLang="en-US" dirty="0">
                <a:ea typeface="標楷體" panose="03000509000000000000" pitchFamily="65" charset="-120"/>
              </a:rPr>
              <a:t>模型總分預測正確的樣本，不代表</a:t>
            </a:r>
            <a:r>
              <a:rPr lang="en-US" altLang="zh-TW" dirty="0">
                <a:ea typeface="標楷體" panose="03000509000000000000" pitchFamily="65" charset="-120"/>
              </a:rPr>
              <a:t>PHQ8</a:t>
            </a:r>
            <a:r>
              <a:rPr lang="zh-TW" altLang="en-US" dirty="0">
                <a:ea typeface="標楷體" panose="03000509000000000000" pitchFamily="65" charset="-120"/>
              </a:rPr>
              <a:t>問卷每題分數預測正確</a:t>
            </a:r>
            <a:endParaRPr lang="en-US" altLang="zh-TW" dirty="0">
              <a:ea typeface="標楷體" panose="03000509000000000000" pitchFamily="65" charset="-120"/>
            </a:endParaRPr>
          </a:p>
          <a:p>
            <a:pPr>
              <a:lnSpc>
                <a:spcPct val="120000"/>
              </a:lnSpc>
            </a:pPr>
            <a:endParaRPr lang="en-US" altLang="zh-TW" dirty="0"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4984159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52C9CFC8-97B7-40C2-88BC-4B89FD014C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577" y="0"/>
            <a:ext cx="11744588" cy="1325563"/>
          </a:xfrm>
        </p:spPr>
        <p:txBody>
          <a:bodyPr>
            <a:normAutofit/>
          </a:bodyPr>
          <a:lstStyle/>
          <a:p>
            <a:r>
              <a:rPr lang="zh-TW" altLang="en-US" sz="32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後續</a:t>
            </a:r>
          </a:p>
        </p:txBody>
      </p:sp>
      <p:sp>
        <p:nvSpPr>
          <p:cNvPr id="8" name="內容版面配置區 2">
            <a:extLst>
              <a:ext uri="{FF2B5EF4-FFF2-40B4-BE49-F238E27FC236}">
                <a16:creationId xmlns:a16="http://schemas.microsoft.com/office/drawing/2014/main" id="{C790674B-9EC5-4D00-A32E-9E8F49D8D015}"/>
              </a:ext>
            </a:extLst>
          </p:cNvPr>
          <p:cNvSpPr txBox="1">
            <a:spLocks/>
          </p:cNvSpPr>
          <p:nvPr/>
        </p:nvSpPr>
        <p:spPr>
          <a:xfrm>
            <a:off x="838199" y="1456508"/>
            <a:ext cx="10515600" cy="53134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14400" lvl="2" indent="0">
              <a:lnSpc>
                <a:spcPct val="100000"/>
              </a:lnSpc>
              <a:buNone/>
            </a:pPr>
            <a:endParaRPr lang="en-US" altLang="zh-TW" dirty="0">
              <a:ea typeface="標楷體" panose="03000509000000000000" pitchFamily="65" charset="-120"/>
            </a:endParaRPr>
          </a:p>
          <a:p>
            <a:pPr>
              <a:lnSpc>
                <a:spcPct val="100000"/>
              </a:lnSpc>
            </a:pPr>
            <a:endParaRPr lang="en-US" altLang="zh-TW" sz="2400" dirty="0">
              <a:ea typeface="標楷體" panose="03000509000000000000" pitchFamily="65" charset="-120"/>
            </a:endParaRPr>
          </a:p>
          <a:p>
            <a:pPr>
              <a:lnSpc>
                <a:spcPct val="100000"/>
              </a:lnSpc>
            </a:pPr>
            <a:endParaRPr lang="en-US" altLang="zh-TW" sz="2400" dirty="0">
              <a:ea typeface="標楷體" panose="03000509000000000000" pitchFamily="65" charset="-120"/>
            </a:endParaRPr>
          </a:p>
          <a:p>
            <a:pPr>
              <a:lnSpc>
                <a:spcPct val="100000"/>
              </a:lnSpc>
            </a:pPr>
            <a:endParaRPr lang="en-US" altLang="zh-TW" sz="2400" dirty="0">
              <a:ea typeface="標楷體" panose="03000509000000000000" pitchFamily="65" charset="-120"/>
            </a:endParaRPr>
          </a:p>
          <a:p>
            <a:pPr>
              <a:lnSpc>
                <a:spcPct val="100000"/>
              </a:lnSpc>
            </a:pPr>
            <a:endParaRPr lang="en-US" altLang="zh-TW" sz="2400" dirty="0">
              <a:ea typeface="標楷體" panose="03000509000000000000" pitchFamily="65" charset="-12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altLang="zh-TW" sz="2400" dirty="0">
              <a:ea typeface="標楷體" panose="03000509000000000000" pitchFamily="65" charset="-120"/>
            </a:endParaRPr>
          </a:p>
        </p:txBody>
      </p:sp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32562B24-0CD0-40F3-AA22-8769F801AEE1}"/>
              </a:ext>
            </a:extLst>
          </p:cNvPr>
          <p:cNvSpPr txBox="1">
            <a:spLocks/>
          </p:cNvSpPr>
          <p:nvPr/>
        </p:nvSpPr>
        <p:spPr>
          <a:xfrm>
            <a:off x="321577" y="1255824"/>
            <a:ext cx="11870423" cy="5714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</a:pPr>
            <a:r>
              <a:rPr lang="zh-TW" altLang="en-US" dirty="0">
                <a:ea typeface="標楷體" panose="03000509000000000000" pitchFamily="65" charset="-120"/>
              </a:rPr>
              <a:t>用 </a:t>
            </a:r>
            <a:r>
              <a:rPr lang="en-US" altLang="zh-TW" dirty="0">
                <a:ea typeface="標楷體" panose="03000509000000000000" pitchFamily="65" charset="-120"/>
              </a:rPr>
              <a:t>4o</a:t>
            </a:r>
            <a:r>
              <a:rPr lang="zh-TW" altLang="en-US" dirty="0">
                <a:ea typeface="標楷體" panose="03000509000000000000" pitchFamily="65" charset="-120"/>
              </a:rPr>
              <a:t> 模型預測 </a:t>
            </a:r>
            <a:r>
              <a:rPr lang="en-US" altLang="zh-TW" dirty="0">
                <a:ea typeface="標楷體" panose="03000509000000000000" pitchFamily="65" charset="-120"/>
              </a:rPr>
              <a:t>development split</a:t>
            </a:r>
          </a:p>
          <a:p>
            <a:pPr>
              <a:lnSpc>
                <a:spcPct val="120000"/>
              </a:lnSpc>
            </a:pPr>
            <a:r>
              <a:rPr lang="zh-TW" altLang="en-US" dirty="0">
                <a:ea typeface="標楷體" panose="03000509000000000000" pitchFamily="65" charset="-120"/>
              </a:rPr>
              <a:t>找預測 </a:t>
            </a:r>
            <a:r>
              <a:rPr lang="en-US" altLang="zh-TW" dirty="0">
                <a:ea typeface="標楷體" panose="03000509000000000000" pitchFamily="65" charset="-120"/>
              </a:rPr>
              <a:t>phq8 </a:t>
            </a:r>
            <a:r>
              <a:rPr lang="zh-TW" altLang="en-US" dirty="0">
                <a:ea typeface="標楷體" panose="03000509000000000000" pitchFamily="65" charset="-120"/>
              </a:rPr>
              <a:t>問卷總分的論文進行比較</a:t>
            </a:r>
            <a:endParaRPr lang="en-US" altLang="zh-TW" dirty="0">
              <a:ea typeface="標楷體" panose="03000509000000000000" pitchFamily="65" charset="-120"/>
            </a:endParaRPr>
          </a:p>
          <a:p>
            <a:pPr>
              <a:lnSpc>
                <a:spcPct val="120000"/>
              </a:lnSpc>
            </a:pPr>
            <a:r>
              <a:rPr lang="zh-TW" altLang="en-US" dirty="0">
                <a:ea typeface="標楷體" panose="03000509000000000000" pitchFamily="65" charset="-120"/>
              </a:rPr>
              <a:t>找憂鬱症二元分類的論文進行比較</a:t>
            </a:r>
            <a:endParaRPr lang="en-US" altLang="zh-TW" dirty="0">
              <a:ea typeface="標楷體" panose="03000509000000000000" pitchFamily="65" charset="-120"/>
            </a:endParaRPr>
          </a:p>
          <a:p>
            <a:pPr>
              <a:lnSpc>
                <a:spcPct val="120000"/>
              </a:lnSpc>
            </a:pPr>
            <a:r>
              <a:rPr lang="zh-TW" altLang="en-US" dirty="0">
                <a:ea typeface="標楷體" panose="03000509000000000000" pitchFamily="65" charset="-120"/>
              </a:rPr>
              <a:t>查看 </a:t>
            </a:r>
            <a:r>
              <a:rPr lang="en-US" altLang="zh-TW" dirty="0">
                <a:ea typeface="標楷體" panose="03000509000000000000" pitchFamily="65" charset="-120"/>
              </a:rPr>
              <a:t>4o</a:t>
            </a:r>
            <a:r>
              <a:rPr lang="zh-TW" altLang="en-US" dirty="0">
                <a:ea typeface="標楷體" panose="03000509000000000000" pitchFamily="65" charset="-120"/>
              </a:rPr>
              <a:t>問卷分數預測的錯誤原因</a:t>
            </a:r>
            <a:endParaRPr lang="en-US" altLang="zh-TW" dirty="0">
              <a:ea typeface="標楷體" panose="03000509000000000000" pitchFamily="65" charset="-120"/>
            </a:endParaRPr>
          </a:p>
          <a:p>
            <a:pPr>
              <a:lnSpc>
                <a:spcPct val="120000"/>
              </a:lnSpc>
            </a:pPr>
            <a:r>
              <a:rPr lang="zh-TW" altLang="en-US" dirty="0">
                <a:ea typeface="標楷體" panose="03000509000000000000" pitchFamily="65" charset="-120"/>
              </a:rPr>
              <a:t>用 </a:t>
            </a:r>
            <a:r>
              <a:rPr lang="en-US" altLang="zh-TW" dirty="0">
                <a:ea typeface="標楷體" panose="03000509000000000000" pitchFamily="65" charset="-120"/>
              </a:rPr>
              <a:t>o3 </a:t>
            </a:r>
            <a:r>
              <a:rPr lang="zh-TW" altLang="en-US" dirty="0">
                <a:ea typeface="標楷體" panose="03000509000000000000" pitchFamily="65" charset="-120"/>
              </a:rPr>
              <a:t>模型預測</a:t>
            </a:r>
            <a:endParaRPr lang="en-US" altLang="zh-TW" dirty="0"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8990681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52C9CFC8-97B7-40C2-88BC-4B89FD014C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577" y="0"/>
            <a:ext cx="11744588" cy="1325563"/>
          </a:xfrm>
        </p:spPr>
        <p:txBody>
          <a:bodyPr>
            <a:normAutofit/>
          </a:bodyPr>
          <a:lstStyle/>
          <a:p>
            <a:r>
              <a:rPr lang="en-US" altLang="zh-TW" sz="32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4o </a:t>
            </a:r>
            <a:r>
              <a:rPr lang="zh-TW" altLang="en-US" sz="32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的</a:t>
            </a:r>
            <a:r>
              <a:rPr lang="en-US" altLang="zh-TW" sz="32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 PHQ8 </a:t>
            </a:r>
            <a:r>
              <a:rPr lang="zh-TW" altLang="en-US" sz="32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整體預測結果</a:t>
            </a:r>
          </a:p>
        </p:txBody>
      </p:sp>
      <p:sp>
        <p:nvSpPr>
          <p:cNvPr id="8" name="內容版面配置區 2">
            <a:extLst>
              <a:ext uri="{FF2B5EF4-FFF2-40B4-BE49-F238E27FC236}">
                <a16:creationId xmlns:a16="http://schemas.microsoft.com/office/drawing/2014/main" id="{C790674B-9EC5-4D00-A32E-9E8F49D8D015}"/>
              </a:ext>
            </a:extLst>
          </p:cNvPr>
          <p:cNvSpPr txBox="1">
            <a:spLocks/>
          </p:cNvSpPr>
          <p:nvPr/>
        </p:nvSpPr>
        <p:spPr>
          <a:xfrm>
            <a:off x="838199" y="1456508"/>
            <a:ext cx="10515600" cy="53134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14400" lvl="2" indent="0">
              <a:lnSpc>
                <a:spcPct val="100000"/>
              </a:lnSpc>
              <a:buNone/>
            </a:pPr>
            <a:endParaRPr lang="en-US" altLang="zh-TW" dirty="0">
              <a:ea typeface="標楷體" panose="03000509000000000000" pitchFamily="65" charset="-120"/>
            </a:endParaRPr>
          </a:p>
          <a:p>
            <a:pPr>
              <a:lnSpc>
                <a:spcPct val="100000"/>
              </a:lnSpc>
            </a:pPr>
            <a:endParaRPr lang="en-US" altLang="zh-TW" sz="2400" dirty="0">
              <a:ea typeface="標楷體" panose="03000509000000000000" pitchFamily="65" charset="-120"/>
            </a:endParaRPr>
          </a:p>
          <a:p>
            <a:pPr>
              <a:lnSpc>
                <a:spcPct val="100000"/>
              </a:lnSpc>
            </a:pPr>
            <a:endParaRPr lang="en-US" altLang="zh-TW" sz="2400" dirty="0">
              <a:ea typeface="標楷體" panose="03000509000000000000" pitchFamily="65" charset="-120"/>
            </a:endParaRPr>
          </a:p>
          <a:p>
            <a:pPr>
              <a:lnSpc>
                <a:spcPct val="100000"/>
              </a:lnSpc>
            </a:pPr>
            <a:endParaRPr lang="en-US" altLang="zh-TW" sz="2400" dirty="0">
              <a:ea typeface="標楷體" panose="03000509000000000000" pitchFamily="65" charset="-120"/>
            </a:endParaRPr>
          </a:p>
          <a:p>
            <a:pPr>
              <a:lnSpc>
                <a:spcPct val="100000"/>
              </a:lnSpc>
            </a:pPr>
            <a:endParaRPr lang="en-US" altLang="zh-TW" sz="2400" dirty="0">
              <a:ea typeface="標楷體" panose="03000509000000000000" pitchFamily="65" charset="-12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altLang="zh-TW" sz="2400" dirty="0">
              <a:ea typeface="標楷體" panose="03000509000000000000" pitchFamily="65" charset="-120"/>
            </a:endParaRPr>
          </a:p>
        </p:txBody>
      </p:sp>
      <p:graphicFrame>
        <p:nvGraphicFramePr>
          <p:cNvPr id="7" name="物件 6">
            <a:extLst>
              <a:ext uri="{FF2B5EF4-FFF2-40B4-BE49-F238E27FC236}">
                <a16:creationId xmlns:a16="http://schemas.microsoft.com/office/drawing/2014/main" id="{1EA108E6-50D4-40C1-9A83-06E0E094FCC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474635" y="174080"/>
          <a:ext cx="4524375" cy="1895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179" name="Worksheet" r:id="rId4" imgW="4524262" imgH="1895547" progId="Excel.Sheet.12">
                  <p:embed/>
                </p:oleObj>
              </mc:Choice>
              <mc:Fallback>
                <p:oleObj name="Worksheet" r:id="rId4" imgW="4524262" imgH="1895547" progId="Excel.Sheet.12">
                  <p:embed/>
                  <p:pic>
                    <p:nvPicPr>
                      <p:cNvPr id="7" name="物件 6">
                        <a:extLst>
                          <a:ext uri="{FF2B5EF4-FFF2-40B4-BE49-F238E27FC236}">
                            <a16:creationId xmlns:a16="http://schemas.microsoft.com/office/drawing/2014/main" id="{1EA108E6-50D4-40C1-9A83-06E0E094FCC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7474635" y="174080"/>
                        <a:ext cx="4524375" cy="18954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81AC72ED-91BE-42EB-9905-555F37ED90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562473"/>
              </p:ext>
            </p:extLst>
          </p:nvPr>
        </p:nvGraphicFramePr>
        <p:xfrm>
          <a:off x="737532" y="2390714"/>
          <a:ext cx="9723540" cy="3444993"/>
        </p:xfrm>
        <a:graphic>
          <a:graphicData uri="http://schemas.openxmlformats.org/drawingml/2006/table">
            <a:tbl>
              <a:tblPr/>
              <a:tblGrid>
                <a:gridCol w="1620590">
                  <a:extLst>
                    <a:ext uri="{9D8B030D-6E8A-4147-A177-3AD203B41FA5}">
                      <a16:colId xmlns:a16="http://schemas.microsoft.com/office/drawing/2014/main" val="576569478"/>
                    </a:ext>
                  </a:extLst>
                </a:gridCol>
                <a:gridCol w="1620590">
                  <a:extLst>
                    <a:ext uri="{9D8B030D-6E8A-4147-A177-3AD203B41FA5}">
                      <a16:colId xmlns:a16="http://schemas.microsoft.com/office/drawing/2014/main" val="3326194613"/>
                    </a:ext>
                  </a:extLst>
                </a:gridCol>
                <a:gridCol w="1620590">
                  <a:extLst>
                    <a:ext uri="{9D8B030D-6E8A-4147-A177-3AD203B41FA5}">
                      <a16:colId xmlns:a16="http://schemas.microsoft.com/office/drawing/2014/main" val="2138855495"/>
                    </a:ext>
                  </a:extLst>
                </a:gridCol>
                <a:gridCol w="1620590">
                  <a:extLst>
                    <a:ext uri="{9D8B030D-6E8A-4147-A177-3AD203B41FA5}">
                      <a16:colId xmlns:a16="http://schemas.microsoft.com/office/drawing/2014/main" val="2124111824"/>
                    </a:ext>
                  </a:extLst>
                </a:gridCol>
                <a:gridCol w="1620590">
                  <a:extLst>
                    <a:ext uri="{9D8B030D-6E8A-4147-A177-3AD203B41FA5}">
                      <a16:colId xmlns:a16="http://schemas.microsoft.com/office/drawing/2014/main" val="449839996"/>
                    </a:ext>
                  </a:extLst>
                </a:gridCol>
                <a:gridCol w="1620590">
                  <a:extLst>
                    <a:ext uri="{9D8B030D-6E8A-4147-A177-3AD203B41FA5}">
                      <a16:colId xmlns:a16="http://schemas.microsoft.com/office/drawing/2014/main" val="3765299914"/>
                    </a:ext>
                  </a:extLst>
                </a:gridCol>
              </a:tblGrid>
              <a:tr h="382777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新細明體" panose="02020500000000000000" pitchFamily="18" charset="-120"/>
                        </a:rPr>
                        <a:t>PHQ8 </a:t>
                      </a:r>
                      <a:r>
                        <a:rPr lang="zh-TW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細明體" panose="02020509000000000000" pitchFamily="49" charset="-120"/>
                          <a:ea typeface="細明體" panose="02020509000000000000" pitchFamily="49" charset="-120"/>
                        </a:rPr>
                        <a:t>症狀</a:t>
                      </a:r>
                      <a:endParaRPr lang="zh-TW" alt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  <a:ea typeface="新細明體" panose="02020500000000000000" pitchFamily="18" charset="-12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新細明體" panose="02020500000000000000" pitchFamily="18" charset="-120"/>
                        </a:rPr>
                        <a:t>test level 0 f1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新細明體" panose="02020500000000000000" pitchFamily="18" charset="-120"/>
                        </a:rPr>
                        <a:t>test level 1 f1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新細明體" panose="02020500000000000000" pitchFamily="18" charset="-120"/>
                        </a:rPr>
                        <a:t>test level 2 f1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新細明體" panose="02020500000000000000" pitchFamily="18" charset="-120"/>
                        </a:rPr>
                        <a:t>test level 3 f1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新細明體" panose="02020500000000000000" pitchFamily="18" charset="-120"/>
                        </a:rPr>
                        <a:t>test marco f1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90694782"/>
                  </a:ext>
                </a:extLst>
              </a:tr>
              <a:tr h="382777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新細明體" panose="02020500000000000000" pitchFamily="18" charset="-120"/>
                        </a:rPr>
                        <a:t>NoInterest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新細明體" panose="02020500000000000000" pitchFamily="18" charset="-120"/>
                        </a:rPr>
                        <a:t>0.8333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新細明體" panose="02020500000000000000" pitchFamily="18" charset="-120"/>
                        </a:rPr>
                        <a:t>0.1053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新細明體" panose="02020500000000000000" pitchFamily="18" charset="-120"/>
                        </a:rPr>
                        <a:t>0.4706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新細明體" panose="02020500000000000000" pitchFamily="18" charset="-120"/>
                        </a:rPr>
                        <a:t>0.2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新細明體" panose="02020500000000000000" pitchFamily="18" charset="-120"/>
                        </a:rPr>
                        <a:t>0.4023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31804729"/>
                  </a:ext>
                </a:extLst>
              </a:tr>
              <a:tr h="382777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新細明體" panose="02020500000000000000" pitchFamily="18" charset="-120"/>
                        </a:rPr>
                        <a:t>Depressed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新細明體" panose="02020500000000000000" pitchFamily="18" charset="-120"/>
                        </a:rPr>
                        <a:t>0.8947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新細明體" panose="02020500000000000000" pitchFamily="18" charset="-120"/>
                        </a:rPr>
                        <a:t>0.5185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新細明體" panose="02020500000000000000" pitchFamily="18" charset="-120"/>
                        </a:rPr>
                        <a:t>0.1333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新細明體" panose="02020500000000000000" pitchFamily="18" charset="-120"/>
                        </a:rPr>
                        <a:t>0.5714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新細明體" panose="02020500000000000000" pitchFamily="18" charset="-120"/>
                        </a:rPr>
                        <a:t>0.5295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0164275"/>
                  </a:ext>
                </a:extLst>
              </a:tr>
              <a:tr h="382777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新細明體" panose="02020500000000000000" pitchFamily="18" charset="-120"/>
                        </a:rPr>
                        <a:t>Sleep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新細明體" panose="02020500000000000000" pitchFamily="18" charset="-120"/>
                        </a:rPr>
                        <a:t>0.6452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新細明體" panose="02020500000000000000" pitchFamily="18" charset="-120"/>
                        </a:rPr>
                        <a:t>0.1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新細明體" panose="02020500000000000000" pitchFamily="18" charset="-120"/>
                        </a:rPr>
                        <a:t>0.25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新細明體" panose="02020500000000000000" pitchFamily="18" charset="-120"/>
                        </a:rPr>
                        <a:t>0.5263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新細明體" panose="02020500000000000000" pitchFamily="18" charset="-120"/>
                        </a:rPr>
                        <a:t>0.3804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2325113"/>
                  </a:ext>
                </a:extLst>
              </a:tr>
              <a:tr h="382777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新細明體" panose="02020500000000000000" pitchFamily="18" charset="-120"/>
                        </a:rPr>
                        <a:t>Tired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新細明體" panose="02020500000000000000" pitchFamily="18" charset="-120"/>
                        </a:rPr>
                        <a:t>0.6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新細明體" panose="02020500000000000000" pitchFamily="18" charset="-120"/>
                        </a:rPr>
                        <a:t>0.4865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新細明體" panose="02020500000000000000" pitchFamily="18" charset="-120"/>
                        </a:rPr>
                        <a:t>0.5217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新細明體" panose="02020500000000000000" pitchFamily="18" charset="-120"/>
                        </a:rPr>
                        <a:t>0.5714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新細明體" panose="02020500000000000000" pitchFamily="18" charset="-120"/>
                        </a:rPr>
                        <a:t>0.5449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60797183"/>
                  </a:ext>
                </a:extLst>
              </a:tr>
              <a:tr h="382777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新細明體" panose="02020500000000000000" pitchFamily="18" charset="-120"/>
                        </a:rPr>
                        <a:t>Appetite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新細明體" panose="02020500000000000000" pitchFamily="18" charset="-120"/>
                        </a:rPr>
                        <a:t>0.5424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新細明體" panose="02020500000000000000" pitchFamily="18" charset="-120"/>
                        </a:rPr>
                        <a:t>0.0909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新細明體" panose="02020500000000000000" pitchFamily="18" charset="-12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新細明體" panose="02020500000000000000" pitchFamily="18" charset="-12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新細明體" panose="02020500000000000000" pitchFamily="18" charset="-120"/>
                        </a:rPr>
                        <a:t>0.1583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40569570"/>
                  </a:ext>
                </a:extLst>
              </a:tr>
              <a:tr h="382777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新細明體" panose="02020500000000000000" pitchFamily="18" charset="-120"/>
                        </a:rPr>
                        <a:t>Failure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新細明體" panose="02020500000000000000" pitchFamily="18" charset="-120"/>
                        </a:rPr>
                        <a:t>0.7222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新細明體" panose="02020500000000000000" pitchFamily="18" charset="-120"/>
                        </a:rPr>
                        <a:t>0.125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新細明體" panose="02020500000000000000" pitchFamily="18" charset="-120"/>
                        </a:rPr>
                        <a:t>0.48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新細明體" panose="02020500000000000000" pitchFamily="18" charset="-120"/>
                        </a:rPr>
                        <a:t>0.4706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新細明體" panose="02020500000000000000" pitchFamily="18" charset="-120"/>
                        </a:rPr>
                        <a:t>0.4495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98909303"/>
                  </a:ext>
                </a:extLst>
              </a:tr>
              <a:tr h="382777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新細明體" panose="02020500000000000000" pitchFamily="18" charset="-120"/>
                        </a:rPr>
                        <a:t>Concentrating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新細明體" panose="02020500000000000000" pitchFamily="18" charset="-120"/>
                        </a:rPr>
                        <a:t>0.7018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新細明體" panose="02020500000000000000" pitchFamily="18" charset="-120"/>
                        </a:rPr>
                        <a:t>0.125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新細明體" panose="02020500000000000000" pitchFamily="18" charset="-12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新細明體" panose="02020500000000000000" pitchFamily="18" charset="-120"/>
                        </a:rPr>
                        <a:t>0.3636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新細明體" panose="02020500000000000000" pitchFamily="18" charset="-120"/>
                        </a:rPr>
                        <a:t>0.2976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3694047"/>
                  </a:ext>
                </a:extLst>
              </a:tr>
              <a:tr h="382777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新細明體" panose="02020500000000000000" pitchFamily="18" charset="-120"/>
                        </a:rPr>
                        <a:t>Moving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新細明體" panose="02020500000000000000" pitchFamily="18" charset="-120"/>
                        </a:rPr>
                        <a:t>0.8529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新細明體" panose="02020500000000000000" pitchFamily="18" charset="-120"/>
                        </a:rPr>
                        <a:t>0.4286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新細明體" panose="02020500000000000000" pitchFamily="18" charset="-12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新細明體" panose="02020500000000000000" pitchFamily="18" charset="-120"/>
                        </a:rPr>
                        <a:t>0.3333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新細明體" panose="02020500000000000000" pitchFamily="18" charset="-120"/>
                        </a:rPr>
                        <a:t>0.4037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88847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342137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52C9CFC8-97B7-40C2-88BC-4B89FD014C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577" y="0"/>
            <a:ext cx="11744588" cy="1325563"/>
          </a:xfrm>
        </p:spPr>
        <p:txBody>
          <a:bodyPr>
            <a:normAutofit/>
          </a:bodyPr>
          <a:lstStyle/>
          <a:p>
            <a:r>
              <a:rPr lang="en-US" altLang="zh-TW" sz="32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4o </a:t>
            </a:r>
            <a:r>
              <a:rPr lang="zh-TW" altLang="en-US" sz="32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的</a:t>
            </a:r>
            <a:r>
              <a:rPr lang="en-US" altLang="zh-TW" sz="32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 PHQ8 </a:t>
            </a:r>
            <a:r>
              <a:rPr lang="en-US" altLang="zh-TW" sz="3200" dirty="0" err="1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NoInterest</a:t>
            </a:r>
            <a:r>
              <a:rPr lang="en-US" altLang="zh-TW" sz="32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 </a:t>
            </a:r>
            <a:r>
              <a:rPr lang="zh-TW" altLang="en-US" sz="32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預測結果</a:t>
            </a:r>
          </a:p>
        </p:txBody>
      </p:sp>
      <p:sp>
        <p:nvSpPr>
          <p:cNvPr id="8" name="內容版面配置區 2">
            <a:extLst>
              <a:ext uri="{FF2B5EF4-FFF2-40B4-BE49-F238E27FC236}">
                <a16:creationId xmlns:a16="http://schemas.microsoft.com/office/drawing/2014/main" id="{C790674B-9EC5-4D00-A32E-9E8F49D8D015}"/>
              </a:ext>
            </a:extLst>
          </p:cNvPr>
          <p:cNvSpPr txBox="1">
            <a:spLocks/>
          </p:cNvSpPr>
          <p:nvPr/>
        </p:nvSpPr>
        <p:spPr>
          <a:xfrm>
            <a:off x="838199" y="1456508"/>
            <a:ext cx="10515600" cy="53134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14400" lvl="2" indent="0">
              <a:lnSpc>
                <a:spcPct val="100000"/>
              </a:lnSpc>
              <a:buNone/>
            </a:pPr>
            <a:endParaRPr lang="en-US" altLang="zh-TW" dirty="0">
              <a:ea typeface="標楷體" panose="03000509000000000000" pitchFamily="65" charset="-120"/>
            </a:endParaRPr>
          </a:p>
          <a:p>
            <a:pPr>
              <a:lnSpc>
                <a:spcPct val="100000"/>
              </a:lnSpc>
            </a:pPr>
            <a:endParaRPr lang="en-US" altLang="zh-TW" sz="2400" dirty="0">
              <a:ea typeface="標楷體" panose="03000509000000000000" pitchFamily="65" charset="-120"/>
            </a:endParaRPr>
          </a:p>
          <a:p>
            <a:pPr>
              <a:lnSpc>
                <a:spcPct val="100000"/>
              </a:lnSpc>
            </a:pPr>
            <a:endParaRPr lang="en-US" altLang="zh-TW" sz="2400" dirty="0">
              <a:ea typeface="標楷體" panose="03000509000000000000" pitchFamily="65" charset="-120"/>
            </a:endParaRPr>
          </a:p>
          <a:p>
            <a:pPr>
              <a:lnSpc>
                <a:spcPct val="100000"/>
              </a:lnSpc>
            </a:pPr>
            <a:endParaRPr lang="en-US" altLang="zh-TW" sz="2400" dirty="0">
              <a:ea typeface="標楷體" panose="03000509000000000000" pitchFamily="65" charset="-120"/>
            </a:endParaRPr>
          </a:p>
          <a:p>
            <a:pPr>
              <a:lnSpc>
                <a:spcPct val="100000"/>
              </a:lnSpc>
            </a:pPr>
            <a:endParaRPr lang="en-US" altLang="zh-TW" sz="2400" dirty="0">
              <a:ea typeface="標楷體" panose="03000509000000000000" pitchFamily="65" charset="-12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altLang="zh-TW" sz="2400" dirty="0">
              <a:ea typeface="標楷體" panose="03000509000000000000" pitchFamily="65" charset="-120"/>
            </a:endParaRPr>
          </a:p>
        </p:txBody>
      </p:sp>
      <p:graphicFrame>
        <p:nvGraphicFramePr>
          <p:cNvPr id="7" name="物件 6">
            <a:extLst>
              <a:ext uri="{FF2B5EF4-FFF2-40B4-BE49-F238E27FC236}">
                <a16:creationId xmlns:a16="http://schemas.microsoft.com/office/drawing/2014/main" id="{1EA108E6-50D4-40C1-9A83-06E0E094FCC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00462418"/>
              </p:ext>
            </p:extLst>
          </p:nvPr>
        </p:nvGraphicFramePr>
        <p:xfrm>
          <a:off x="7474635" y="174080"/>
          <a:ext cx="4524375" cy="1895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5" name="Worksheet" r:id="rId4" imgW="4524262" imgH="1895547" progId="Excel.Sheet.12">
                  <p:embed/>
                </p:oleObj>
              </mc:Choice>
              <mc:Fallback>
                <p:oleObj name="Worksheet" r:id="rId4" imgW="4524262" imgH="1895547" progId="Excel.Sheet.12">
                  <p:embed/>
                  <p:pic>
                    <p:nvPicPr>
                      <p:cNvPr id="19" name="物件 18">
                        <a:extLst>
                          <a:ext uri="{FF2B5EF4-FFF2-40B4-BE49-F238E27FC236}">
                            <a16:creationId xmlns:a16="http://schemas.microsoft.com/office/drawing/2014/main" id="{BD054421-F0D2-4130-8B76-45106387643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7474635" y="174080"/>
                        <a:ext cx="4524375" cy="18954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9" name="圖片 8">
            <a:extLst>
              <a:ext uri="{FF2B5EF4-FFF2-40B4-BE49-F238E27FC236}">
                <a16:creationId xmlns:a16="http://schemas.microsoft.com/office/drawing/2014/main" id="{31BCBCFB-541B-49A2-9BA1-3A1BB957E4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28723"/>
            <a:ext cx="5852160" cy="4389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46651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52C9CFC8-97B7-40C2-88BC-4B89FD014C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577" y="0"/>
            <a:ext cx="11744588" cy="1325563"/>
          </a:xfrm>
        </p:spPr>
        <p:txBody>
          <a:bodyPr>
            <a:normAutofit/>
          </a:bodyPr>
          <a:lstStyle/>
          <a:p>
            <a:r>
              <a:rPr lang="en-US" altLang="zh-TW" sz="32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4o </a:t>
            </a:r>
            <a:r>
              <a:rPr lang="zh-TW" altLang="en-US" sz="32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的</a:t>
            </a:r>
            <a:r>
              <a:rPr lang="en-US" altLang="zh-TW" sz="32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 PHQ8 Depressed </a:t>
            </a:r>
            <a:r>
              <a:rPr lang="zh-TW" altLang="en-US" sz="32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預測結果</a:t>
            </a:r>
          </a:p>
        </p:txBody>
      </p:sp>
      <p:sp>
        <p:nvSpPr>
          <p:cNvPr id="8" name="內容版面配置區 2">
            <a:extLst>
              <a:ext uri="{FF2B5EF4-FFF2-40B4-BE49-F238E27FC236}">
                <a16:creationId xmlns:a16="http://schemas.microsoft.com/office/drawing/2014/main" id="{C790674B-9EC5-4D00-A32E-9E8F49D8D015}"/>
              </a:ext>
            </a:extLst>
          </p:cNvPr>
          <p:cNvSpPr txBox="1">
            <a:spLocks/>
          </p:cNvSpPr>
          <p:nvPr/>
        </p:nvSpPr>
        <p:spPr>
          <a:xfrm>
            <a:off x="838199" y="1456508"/>
            <a:ext cx="10515600" cy="53134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14400" lvl="2" indent="0">
              <a:lnSpc>
                <a:spcPct val="100000"/>
              </a:lnSpc>
              <a:buNone/>
            </a:pPr>
            <a:endParaRPr lang="en-US" altLang="zh-TW" dirty="0">
              <a:ea typeface="標楷體" panose="03000509000000000000" pitchFamily="65" charset="-120"/>
            </a:endParaRPr>
          </a:p>
          <a:p>
            <a:pPr>
              <a:lnSpc>
                <a:spcPct val="100000"/>
              </a:lnSpc>
            </a:pPr>
            <a:endParaRPr lang="en-US" altLang="zh-TW" sz="2400" dirty="0">
              <a:ea typeface="標楷體" panose="03000509000000000000" pitchFamily="65" charset="-120"/>
            </a:endParaRPr>
          </a:p>
          <a:p>
            <a:pPr>
              <a:lnSpc>
                <a:spcPct val="100000"/>
              </a:lnSpc>
            </a:pPr>
            <a:endParaRPr lang="en-US" altLang="zh-TW" sz="2400" dirty="0">
              <a:ea typeface="標楷體" panose="03000509000000000000" pitchFamily="65" charset="-120"/>
            </a:endParaRPr>
          </a:p>
          <a:p>
            <a:pPr>
              <a:lnSpc>
                <a:spcPct val="100000"/>
              </a:lnSpc>
            </a:pPr>
            <a:endParaRPr lang="en-US" altLang="zh-TW" sz="2400" dirty="0">
              <a:ea typeface="標楷體" panose="03000509000000000000" pitchFamily="65" charset="-120"/>
            </a:endParaRPr>
          </a:p>
          <a:p>
            <a:pPr>
              <a:lnSpc>
                <a:spcPct val="100000"/>
              </a:lnSpc>
            </a:pPr>
            <a:endParaRPr lang="en-US" altLang="zh-TW" sz="2400" dirty="0">
              <a:ea typeface="標楷體" panose="03000509000000000000" pitchFamily="65" charset="-12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altLang="zh-TW" sz="2400" dirty="0">
              <a:ea typeface="標楷體" panose="03000509000000000000" pitchFamily="65" charset="-12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135C84A8-E4E8-4893-BB7E-AADBE8D3CA1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62278"/>
            <a:ext cx="5852160" cy="4389120"/>
          </a:xfrm>
          <a:prstGeom prst="rect">
            <a:avLst/>
          </a:prstGeom>
        </p:spPr>
      </p:pic>
      <p:graphicFrame>
        <p:nvGraphicFramePr>
          <p:cNvPr id="6" name="物件 5">
            <a:extLst>
              <a:ext uri="{FF2B5EF4-FFF2-40B4-BE49-F238E27FC236}">
                <a16:creationId xmlns:a16="http://schemas.microsoft.com/office/drawing/2014/main" id="{6A317C1F-7ED4-433C-916C-78CA873847F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00462418"/>
              </p:ext>
            </p:extLst>
          </p:nvPr>
        </p:nvGraphicFramePr>
        <p:xfrm>
          <a:off x="7474635" y="174080"/>
          <a:ext cx="4524375" cy="1895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9" name="Worksheet" r:id="rId5" imgW="4524262" imgH="1895547" progId="Excel.Sheet.12">
                  <p:embed/>
                </p:oleObj>
              </mc:Choice>
              <mc:Fallback>
                <p:oleObj name="Worksheet" r:id="rId5" imgW="4524262" imgH="1895547" progId="Excel.Sheet.12">
                  <p:embed/>
                  <p:pic>
                    <p:nvPicPr>
                      <p:cNvPr id="19" name="物件 18">
                        <a:extLst>
                          <a:ext uri="{FF2B5EF4-FFF2-40B4-BE49-F238E27FC236}">
                            <a16:creationId xmlns:a16="http://schemas.microsoft.com/office/drawing/2014/main" id="{BD054421-F0D2-4130-8B76-45106387643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7474635" y="174080"/>
                        <a:ext cx="4524375" cy="18954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2706852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52C9CFC8-97B7-40C2-88BC-4B89FD014C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577" y="0"/>
            <a:ext cx="11744588" cy="1325563"/>
          </a:xfrm>
        </p:spPr>
        <p:txBody>
          <a:bodyPr>
            <a:normAutofit/>
          </a:bodyPr>
          <a:lstStyle/>
          <a:p>
            <a:r>
              <a:rPr lang="en-US" altLang="zh-TW" sz="32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4o </a:t>
            </a:r>
            <a:r>
              <a:rPr lang="zh-TW" altLang="en-US" sz="32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的</a:t>
            </a:r>
            <a:r>
              <a:rPr lang="en-US" altLang="zh-TW" sz="32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 PHQ8 Sleep </a:t>
            </a:r>
            <a:r>
              <a:rPr lang="zh-TW" altLang="en-US" sz="32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預測結果</a:t>
            </a:r>
          </a:p>
        </p:txBody>
      </p:sp>
      <p:sp>
        <p:nvSpPr>
          <p:cNvPr id="8" name="內容版面配置區 2">
            <a:extLst>
              <a:ext uri="{FF2B5EF4-FFF2-40B4-BE49-F238E27FC236}">
                <a16:creationId xmlns:a16="http://schemas.microsoft.com/office/drawing/2014/main" id="{C790674B-9EC5-4D00-A32E-9E8F49D8D015}"/>
              </a:ext>
            </a:extLst>
          </p:cNvPr>
          <p:cNvSpPr txBox="1">
            <a:spLocks/>
          </p:cNvSpPr>
          <p:nvPr/>
        </p:nvSpPr>
        <p:spPr>
          <a:xfrm>
            <a:off x="838199" y="1456508"/>
            <a:ext cx="10515600" cy="53134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14400" lvl="2" indent="0">
              <a:lnSpc>
                <a:spcPct val="100000"/>
              </a:lnSpc>
              <a:buNone/>
            </a:pPr>
            <a:endParaRPr lang="en-US" altLang="zh-TW" dirty="0">
              <a:ea typeface="標楷體" panose="03000509000000000000" pitchFamily="65" charset="-120"/>
            </a:endParaRPr>
          </a:p>
          <a:p>
            <a:pPr>
              <a:lnSpc>
                <a:spcPct val="100000"/>
              </a:lnSpc>
            </a:pPr>
            <a:endParaRPr lang="en-US" altLang="zh-TW" sz="2400" dirty="0">
              <a:ea typeface="標楷體" panose="03000509000000000000" pitchFamily="65" charset="-120"/>
            </a:endParaRPr>
          </a:p>
          <a:p>
            <a:pPr>
              <a:lnSpc>
                <a:spcPct val="100000"/>
              </a:lnSpc>
            </a:pPr>
            <a:endParaRPr lang="en-US" altLang="zh-TW" sz="2400" dirty="0">
              <a:ea typeface="標楷體" panose="03000509000000000000" pitchFamily="65" charset="-120"/>
            </a:endParaRPr>
          </a:p>
          <a:p>
            <a:pPr>
              <a:lnSpc>
                <a:spcPct val="100000"/>
              </a:lnSpc>
            </a:pPr>
            <a:endParaRPr lang="en-US" altLang="zh-TW" sz="2400" dirty="0">
              <a:ea typeface="標楷體" panose="03000509000000000000" pitchFamily="65" charset="-120"/>
            </a:endParaRPr>
          </a:p>
          <a:p>
            <a:pPr>
              <a:lnSpc>
                <a:spcPct val="100000"/>
              </a:lnSpc>
            </a:pPr>
            <a:endParaRPr lang="en-US" altLang="zh-TW" sz="2400" dirty="0">
              <a:ea typeface="標楷體" panose="03000509000000000000" pitchFamily="65" charset="-12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altLang="zh-TW" sz="2400" dirty="0">
              <a:ea typeface="標楷體" panose="03000509000000000000" pitchFamily="65" charset="-120"/>
            </a:endParaRPr>
          </a:p>
        </p:txBody>
      </p:sp>
      <p:graphicFrame>
        <p:nvGraphicFramePr>
          <p:cNvPr id="6" name="物件 5">
            <a:extLst>
              <a:ext uri="{FF2B5EF4-FFF2-40B4-BE49-F238E27FC236}">
                <a16:creationId xmlns:a16="http://schemas.microsoft.com/office/drawing/2014/main" id="{6A317C1F-7ED4-433C-916C-78CA873847F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474635" y="174080"/>
          <a:ext cx="4524375" cy="1895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83" name="Worksheet" r:id="rId4" imgW="4524262" imgH="1895547" progId="Excel.Sheet.12">
                  <p:embed/>
                </p:oleObj>
              </mc:Choice>
              <mc:Fallback>
                <p:oleObj name="Worksheet" r:id="rId4" imgW="4524262" imgH="1895547" progId="Excel.Sheet.12">
                  <p:embed/>
                  <p:pic>
                    <p:nvPicPr>
                      <p:cNvPr id="6" name="物件 5">
                        <a:extLst>
                          <a:ext uri="{FF2B5EF4-FFF2-40B4-BE49-F238E27FC236}">
                            <a16:creationId xmlns:a16="http://schemas.microsoft.com/office/drawing/2014/main" id="{6A317C1F-7ED4-433C-916C-78CA873847F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7474635" y="174080"/>
                        <a:ext cx="4524375" cy="18954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圖片 3">
            <a:extLst>
              <a:ext uri="{FF2B5EF4-FFF2-40B4-BE49-F238E27FC236}">
                <a16:creationId xmlns:a16="http://schemas.microsoft.com/office/drawing/2014/main" id="{88AE1550-6474-4F5A-B2FE-FDBB3BCA78A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87446"/>
            <a:ext cx="5852160" cy="4389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17460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52C9CFC8-97B7-40C2-88BC-4B89FD014C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577" y="0"/>
            <a:ext cx="11744588" cy="1325563"/>
          </a:xfrm>
        </p:spPr>
        <p:txBody>
          <a:bodyPr>
            <a:normAutofit/>
          </a:bodyPr>
          <a:lstStyle/>
          <a:p>
            <a:r>
              <a:rPr lang="en-US" altLang="zh-TW" sz="32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4o </a:t>
            </a:r>
            <a:r>
              <a:rPr lang="zh-TW" altLang="en-US" sz="32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的</a:t>
            </a:r>
            <a:r>
              <a:rPr lang="en-US" altLang="zh-TW" sz="32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 PHQ8 Tired </a:t>
            </a:r>
            <a:r>
              <a:rPr lang="zh-TW" altLang="en-US" sz="32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預測結果</a:t>
            </a:r>
          </a:p>
        </p:txBody>
      </p:sp>
      <p:sp>
        <p:nvSpPr>
          <p:cNvPr id="8" name="內容版面配置區 2">
            <a:extLst>
              <a:ext uri="{FF2B5EF4-FFF2-40B4-BE49-F238E27FC236}">
                <a16:creationId xmlns:a16="http://schemas.microsoft.com/office/drawing/2014/main" id="{C790674B-9EC5-4D00-A32E-9E8F49D8D015}"/>
              </a:ext>
            </a:extLst>
          </p:cNvPr>
          <p:cNvSpPr txBox="1">
            <a:spLocks/>
          </p:cNvSpPr>
          <p:nvPr/>
        </p:nvSpPr>
        <p:spPr>
          <a:xfrm>
            <a:off x="838199" y="1456508"/>
            <a:ext cx="10515600" cy="53134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14400" lvl="2" indent="0">
              <a:lnSpc>
                <a:spcPct val="100000"/>
              </a:lnSpc>
              <a:buNone/>
            </a:pPr>
            <a:endParaRPr lang="en-US" altLang="zh-TW" dirty="0">
              <a:ea typeface="標楷體" panose="03000509000000000000" pitchFamily="65" charset="-120"/>
            </a:endParaRPr>
          </a:p>
          <a:p>
            <a:pPr>
              <a:lnSpc>
                <a:spcPct val="100000"/>
              </a:lnSpc>
            </a:pPr>
            <a:endParaRPr lang="en-US" altLang="zh-TW" sz="2400" dirty="0">
              <a:ea typeface="標楷體" panose="03000509000000000000" pitchFamily="65" charset="-120"/>
            </a:endParaRPr>
          </a:p>
          <a:p>
            <a:pPr>
              <a:lnSpc>
                <a:spcPct val="100000"/>
              </a:lnSpc>
            </a:pPr>
            <a:endParaRPr lang="en-US" altLang="zh-TW" sz="2400" dirty="0">
              <a:ea typeface="標楷體" panose="03000509000000000000" pitchFamily="65" charset="-120"/>
            </a:endParaRPr>
          </a:p>
          <a:p>
            <a:pPr>
              <a:lnSpc>
                <a:spcPct val="100000"/>
              </a:lnSpc>
            </a:pPr>
            <a:endParaRPr lang="en-US" altLang="zh-TW" sz="2400" dirty="0">
              <a:ea typeface="標楷體" panose="03000509000000000000" pitchFamily="65" charset="-120"/>
            </a:endParaRPr>
          </a:p>
          <a:p>
            <a:pPr>
              <a:lnSpc>
                <a:spcPct val="100000"/>
              </a:lnSpc>
            </a:pPr>
            <a:endParaRPr lang="en-US" altLang="zh-TW" sz="2400" dirty="0">
              <a:ea typeface="標楷體" panose="03000509000000000000" pitchFamily="65" charset="-12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altLang="zh-TW" sz="2400" dirty="0">
              <a:ea typeface="標楷體" panose="03000509000000000000" pitchFamily="65" charset="-120"/>
            </a:endParaRPr>
          </a:p>
        </p:txBody>
      </p:sp>
      <p:graphicFrame>
        <p:nvGraphicFramePr>
          <p:cNvPr id="6" name="物件 5">
            <a:extLst>
              <a:ext uri="{FF2B5EF4-FFF2-40B4-BE49-F238E27FC236}">
                <a16:creationId xmlns:a16="http://schemas.microsoft.com/office/drawing/2014/main" id="{6A317C1F-7ED4-433C-916C-78CA873847F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474635" y="174080"/>
          <a:ext cx="4524375" cy="1895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07" name="Worksheet" r:id="rId4" imgW="4524262" imgH="1895547" progId="Excel.Sheet.12">
                  <p:embed/>
                </p:oleObj>
              </mc:Choice>
              <mc:Fallback>
                <p:oleObj name="Worksheet" r:id="rId4" imgW="4524262" imgH="1895547" progId="Excel.Sheet.12">
                  <p:embed/>
                  <p:pic>
                    <p:nvPicPr>
                      <p:cNvPr id="6" name="物件 5">
                        <a:extLst>
                          <a:ext uri="{FF2B5EF4-FFF2-40B4-BE49-F238E27FC236}">
                            <a16:creationId xmlns:a16="http://schemas.microsoft.com/office/drawing/2014/main" id="{6A317C1F-7ED4-433C-916C-78CA873847F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7474635" y="174080"/>
                        <a:ext cx="4524375" cy="18954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圖片 2">
            <a:extLst>
              <a:ext uri="{FF2B5EF4-FFF2-40B4-BE49-F238E27FC236}">
                <a16:creationId xmlns:a16="http://schemas.microsoft.com/office/drawing/2014/main" id="{3A8EF8CC-DCB4-48E4-A2E1-72DB2B3E224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82" y="1762946"/>
            <a:ext cx="5852160" cy="4389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8421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52C9CFC8-97B7-40C2-88BC-4B89FD014C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577" y="0"/>
            <a:ext cx="11744588" cy="1325563"/>
          </a:xfrm>
        </p:spPr>
        <p:txBody>
          <a:bodyPr>
            <a:normAutofit/>
          </a:bodyPr>
          <a:lstStyle/>
          <a:p>
            <a:r>
              <a:rPr lang="en-US" altLang="zh-TW" sz="32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4o </a:t>
            </a:r>
            <a:r>
              <a:rPr lang="zh-TW" altLang="en-US" sz="32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的</a:t>
            </a:r>
            <a:r>
              <a:rPr lang="en-US" altLang="zh-TW" sz="32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 PHQ8 Appetite </a:t>
            </a:r>
            <a:r>
              <a:rPr lang="zh-TW" altLang="en-US" sz="32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預測結果</a:t>
            </a:r>
          </a:p>
        </p:txBody>
      </p:sp>
      <p:sp>
        <p:nvSpPr>
          <p:cNvPr id="8" name="內容版面配置區 2">
            <a:extLst>
              <a:ext uri="{FF2B5EF4-FFF2-40B4-BE49-F238E27FC236}">
                <a16:creationId xmlns:a16="http://schemas.microsoft.com/office/drawing/2014/main" id="{C790674B-9EC5-4D00-A32E-9E8F49D8D015}"/>
              </a:ext>
            </a:extLst>
          </p:cNvPr>
          <p:cNvSpPr txBox="1">
            <a:spLocks/>
          </p:cNvSpPr>
          <p:nvPr/>
        </p:nvSpPr>
        <p:spPr>
          <a:xfrm>
            <a:off x="838199" y="1456508"/>
            <a:ext cx="10515600" cy="53134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14400" lvl="2" indent="0">
              <a:lnSpc>
                <a:spcPct val="100000"/>
              </a:lnSpc>
              <a:buNone/>
            </a:pPr>
            <a:endParaRPr lang="en-US" altLang="zh-TW" dirty="0">
              <a:ea typeface="標楷體" panose="03000509000000000000" pitchFamily="65" charset="-120"/>
            </a:endParaRPr>
          </a:p>
          <a:p>
            <a:pPr>
              <a:lnSpc>
                <a:spcPct val="100000"/>
              </a:lnSpc>
            </a:pPr>
            <a:endParaRPr lang="en-US" altLang="zh-TW" sz="2400" dirty="0">
              <a:ea typeface="標楷體" panose="03000509000000000000" pitchFamily="65" charset="-120"/>
            </a:endParaRPr>
          </a:p>
          <a:p>
            <a:pPr>
              <a:lnSpc>
                <a:spcPct val="100000"/>
              </a:lnSpc>
            </a:pPr>
            <a:endParaRPr lang="en-US" altLang="zh-TW" sz="2400" dirty="0">
              <a:ea typeface="標楷體" panose="03000509000000000000" pitchFamily="65" charset="-120"/>
            </a:endParaRPr>
          </a:p>
          <a:p>
            <a:pPr>
              <a:lnSpc>
                <a:spcPct val="100000"/>
              </a:lnSpc>
            </a:pPr>
            <a:endParaRPr lang="en-US" altLang="zh-TW" sz="2400" dirty="0">
              <a:ea typeface="標楷體" panose="03000509000000000000" pitchFamily="65" charset="-120"/>
            </a:endParaRPr>
          </a:p>
          <a:p>
            <a:pPr>
              <a:lnSpc>
                <a:spcPct val="100000"/>
              </a:lnSpc>
            </a:pPr>
            <a:endParaRPr lang="en-US" altLang="zh-TW" sz="2400" dirty="0">
              <a:ea typeface="標楷體" panose="03000509000000000000" pitchFamily="65" charset="-12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altLang="zh-TW" sz="2400" dirty="0">
              <a:ea typeface="標楷體" panose="03000509000000000000" pitchFamily="65" charset="-120"/>
            </a:endParaRPr>
          </a:p>
        </p:txBody>
      </p:sp>
      <p:graphicFrame>
        <p:nvGraphicFramePr>
          <p:cNvPr id="6" name="物件 5">
            <a:extLst>
              <a:ext uri="{FF2B5EF4-FFF2-40B4-BE49-F238E27FC236}">
                <a16:creationId xmlns:a16="http://schemas.microsoft.com/office/drawing/2014/main" id="{6A317C1F-7ED4-433C-916C-78CA873847F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474635" y="174080"/>
          <a:ext cx="4524375" cy="1895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31" name="Worksheet" r:id="rId4" imgW="4524262" imgH="1895547" progId="Excel.Sheet.12">
                  <p:embed/>
                </p:oleObj>
              </mc:Choice>
              <mc:Fallback>
                <p:oleObj name="Worksheet" r:id="rId4" imgW="4524262" imgH="1895547" progId="Excel.Sheet.12">
                  <p:embed/>
                  <p:pic>
                    <p:nvPicPr>
                      <p:cNvPr id="6" name="物件 5">
                        <a:extLst>
                          <a:ext uri="{FF2B5EF4-FFF2-40B4-BE49-F238E27FC236}">
                            <a16:creationId xmlns:a16="http://schemas.microsoft.com/office/drawing/2014/main" id="{6A317C1F-7ED4-433C-916C-78CA873847F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7474635" y="174080"/>
                        <a:ext cx="4524375" cy="18954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圖片 3">
            <a:extLst>
              <a:ext uri="{FF2B5EF4-FFF2-40B4-BE49-F238E27FC236}">
                <a16:creationId xmlns:a16="http://schemas.microsoft.com/office/drawing/2014/main" id="{E6499BFA-E880-4328-9537-9C90B1B95CC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54558"/>
            <a:ext cx="5852160" cy="4389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79082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52C9CFC8-97B7-40C2-88BC-4B89FD014C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577" y="0"/>
            <a:ext cx="11744588" cy="1325563"/>
          </a:xfrm>
        </p:spPr>
        <p:txBody>
          <a:bodyPr>
            <a:normAutofit/>
          </a:bodyPr>
          <a:lstStyle/>
          <a:p>
            <a:r>
              <a:rPr lang="en-US" altLang="zh-TW" sz="32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4o </a:t>
            </a:r>
            <a:r>
              <a:rPr lang="zh-TW" altLang="en-US" sz="32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的</a:t>
            </a:r>
            <a:r>
              <a:rPr lang="en-US" altLang="zh-TW" sz="32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 PHQ8 Failure</a:t>
            </a:r>
            <a:r>
              <a:rPr lang="zh-TW" altLang="en-US" sz="32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預測結果</a:t>
            </a:r>
          </a:p>
        </p:txBody>
      </p:sp>
      <p:sp>
        <p:nvSpPr>
          <p:cNvPr id="8" name="內容版面配置區 2">
            <a:extLst>
              <a:ext uri="{FF2B5EF4-FFF2-40B4-BE49-F238E27FC236}">
                <a16:creationId xmlns:a16="http://schemas.microsoft.com/office/drawing/2014/main" id="{C790674B-9EC5-4D00-A32E-9E8F49D8D015}"/>
              </a:ext>
            </a:extLst>
          </p:cNvPr>
          <p:cNvSpPr txBox="1">
            <a:spLocks/>
          </p:cNvSpPr>
          <p:nvPr/>
        </p:nvSpPr>
        <p:spPr>
          <a:xfrm>
            <a:off x="838199" y="1456508"/>
            <a:ext cx="10515600" cy="53134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14400" lvl="2" indent="0">
              <a:lnSpc>
                <a:spcPct val="100000"/>
              </a:lnSpc>
              <a:buNone/>
            </a:pPr>
            <a:endParaRPr lang="en-US" altLang="zh-TW" dirty="0">
              <a:ea typeface="標楷體" panose="03000509000000000000" pitchFamily="65" charset="-120"/>
            </a:endParaRPr>
          </a:p>
          <a:p>
            <a:pPr>
              <a:lnSpc>
                <a:spcPct val="100000"/>
              </a:lnSpc>
            </a:pPr>
            <a:endParaRPr lang="en-US" altLang="zh-TW" sz="2400" dirty="0">
              <a:ea typeface="標楷體" panose="03000509000000000000" pitchFamily="65" charset="-120"/>
            </a:endParaRPr>
          </a:p>
          <a:p>
            <a:pPr>
              <a:lnSpc>
                <a:spcPct val="100000"/>
              </a:lnSpc>
            </a:pPr>
            <a:endParaRPr lang="en-US" altLang="zh-TW" sz="2400" dirty="0">
              <a:ea typeface="標楷體" panose="03000509000000000000" pitchFamily="65" charset="-120"/>
            </a:endParaRPr>
          </a:p>
          <a:p>
            <a:pPr>
              <a:lnSpc>
                <a:spcPct val="100000"/>
              </a:lnSpc>
            </a:pPr>
            <a:endParaRPr lang="en-US" altLang="zh-TW" sz="2400" dirty="0">
              <a:ea typeface="標楷體" panose="03000509000000000000" pitchFamily="65" charset="-120"/>
            </a:endParaRPr>
          </a:p>
          <a:p>
            <a:pPr>
              <a:lnSpc>
                <a:spcPct val="100000"/>
              </a:lnSpc>
            </a:pPr>
            <a:endParaRPr lang="en-US" altLang="zh-TW" sz="2400" dirty="0">
              <a:ea typeface="標楷體" panose="03000509000000000000" pitchFamily="65" charset="-12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altLang="zh-TW" sz="2400" dirty="0">
              <a:ea typeface="標楷體" panose="03000509000000000000" pitchFamily="65" charset="-120"/>
            </a:endParaRPr>
          </a:p>
        </p:txBody>
      </p:sp>
      <p:graphicFrame>
        <p:nvGraphicFramePr>
          <p:cNvPr id="6" name="物件 5">
            <a:extLst>
              <a:ext uri="{FF2B5EF4-FFF2-40B4-BE49-F238E27FC236}">
                <a16:creationId xmlns:a16="http://schemas.microsoft.com/office/drawing/2014/main" id="{6A317C1F-7ED4-433C-916C-78CA873847F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474635" y="174080"/>
          <a:ext cx="4524375" cy="1895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156" name="Worksheet" r:id="rId4" imgW="4524262" imgH="1895547" progId="Excel.Sheet.12">
                  <p:embed/>
                </p:oleObj>
              </mc:Choice>
              <mc:Fallback>
                <p:oleObj name="Worksheet" r:id="rId4" imgW="4524262" imgH="1895547" progId="Excel.Sheet.12">
                  <p:embed/>
                  <p:pic>
                    <p:nvPicPr>
                      <p:cNvPr id="6" name="物件 5">
                        <a:extLst>
                          <a:ext uri="{FF2B5EF4-FFF2-40B4-BE49-F238E27FC236}">
                            <a16:creationId xmlns:a16="http://schemas.microsoft.com/office/drawing/2014/main" id="{6A317C1F-7ED4-433C-916C-78CA873847F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7474635" y="174080"/>
                        <a:ext cx="4524375" cy="18954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圖片 2">
            <a:extLst>
              <a:ext uri="{FF2B5EF4-FFF2-40B4-BE49-F238E27FC236}">
                <a16:creationId xmlns:a16="http://schemas.microsoft.com/office/drawing/2014/main" id="{6F79147C-8D14-483D-A75C-6257269D7C1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28722"/>
            <a:ext cx="5852160" cy="4389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29938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52C9CFC8-97B7-40C2-88BC-4B89FD014C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577" y="0"/>
            <a:ext cx="11744588" cy="1325563"/>
          </a:xfrm>
        </p:spPr>
        <p:txBody>
          <a:bodyPr>
            <a:normAutofit/>
          </a:bodyPr>
          <a:lstStyle/>
          <a:p>
            <a:r>
              <a:rPr lang="en-US" altLang="zh-TW" sz="32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4o </a:t>
            </a:r>
            <a:r>
              <a:rPr lang="zh-TW" altLang="en-US" sz="32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的</a:t>
            </a:r>
            <a:r>
              <a:rPr lang="en-US" altLang="zh-TW" sz="32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 PHQ8 Concentrating </a:t>
            </a:r>
            <a:r>
              <a:rPr lang="zh-TW" altLang="en-US" sz="32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預測結果</a:t>
            </a:r>
          </a:p>
        </p:txBody>
      </p:sp>
      <p:sp>
        <p:nvSpPr>
          <p:cNvPr id="8" name="內容版面配置區 2">
            <a:extLst>
              <a:ext uri="{FF2B5EF4-FFF2-40B4-BE49-F238E27FC236}">
                <a16:creationId xmlns:a16="http://schemas.microsoft.com/office/drawing/2014/main" id="{C790674B-9EC5-4D00-A32E-9E8F49D8D015}"/>
              </a:ext>
            </a:extLst>
          </p:cNvPr>
          <p:cNvSpPr txBox="1">
            <a:spLocks/>
          </p:cNvSpPr>
          <p:nvPr/>
        </p:nvSpPr>
        <p:spPr>
          <a:xfrm>
            <a:off x="838199" y="1456508"/>
            <a:ext cx="10515600" cy="53134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14400" lvl="2" indent="0">
              <a:lnSpc>
                <a:spcPct val="100000"/>
              </a:lnSpc>
              <a:buNone/>
            </a:pPr>
            <a:endParaRPr lang="en-US" altLang="zh-TW" dirty="0">
              <a:ea typeface="標楷體" panose="03000509000000000000" pitchFamily="65" charset="-120"/>
            </a:endParaRPr>
          </a:p>
          <a:p>
            <a:pPr>
              <a:lnSpc>
                <a:spcPct val="100000"/>
              </a:lnSpc>
            </a:pPr>
            <a:endParaRPr lang="en-US" altLang="zh-TW" sz="2400" dirty="0">
              <a:ea typeface="標楷體" panose="03000509000000000000" pitchFamily="65" charset="-120"/>
            </a:endParaRPr>
          </a:p>
          <a:p>
            <a:pPr>
              <a:lnSpc>
                <a:spcPct val="100000"/>
              </a:lnSpc>
            </a:pPr>
            <a:endParaRPr lang="en-US" altLang="zh-TW" sz="2400" dirty="0">
              <a:ea typeface="標楷體" panose="03000509000000000000" pitchFamily="65" charset="-120"/>
            </a:endParaRPr>
          </a:p>
          <a:p>
            <a:pPr>
              <a:lnSpc>
                <a:spcPct val="100000"/>
              </a:lnSpc>
            </a:pPr>
            <a:endParaRPr lang="en-US" altLang="zh-TW" sz="2400" dirty="0">
              <a:ea typeface="標楷體" panose="03000509000000000000" pitchFamily="65" charset="-120"/>
            </a:endParaRPr>
          </a:p>
          <a:p>
            <a:pPr>
              <a:lnSpc>
                <a:spcPct val="100000"/>
              </a:lnSpc>
            </a:pPr>
            <a:endParaRPr lang="en-US" altLang="zh-TW" sz="2400" dirty="0">
              <a:ea typeface="標楷體" panose="03000509000000000000" pitchFamily="65" charset="-12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altLang="zh-TW" sz="2400" dirty="0">
              <a:ea typeface="標楷體" panose="03000509000000000000" pitchFamily="65" charset="-120"/>
            </a:endParaRPr>
          </a:p>
        </p:txBody>
      </p:sp>
      <p:graphicFrame>
        <p:nvGraphicFramePr>
          <p:cNvPr id="6" name="物件 5">
            <a:extLst>
              <a:ext uri="{FF2B5EF4-FFF2-40B4-BE49-F238E27FC236}">
                <a16:creationId xmlns:a16="http://schemas.microsoft.com/office/drawing/2014/main" id="{6A317C1F-7ED4-433C-916C-78CA873847F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474635" y="174080"/>
          <a:ext cx="4524375" cy="1895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226" name="Worksheet" r:id="rId4" imgW="4524262" imgH="1895547" progId="Excel.Sheet.12">
                  <p:embed/>
                </p:oleObj>
              </mc:Choice>
              <mc:Fallback>
                <p:oleObj name="Worksheet" r:id="rId4" imgW="4524262" imgH="1895547" progId="Excel.Sheet.12">
                  <p:embed/>
                  <p:pic>
                    <p:nvPicPr>
                      <p:cNvPr id="6" name="物件 5">
                        <a:extLst>
                          <a:ext uri="{FF2B5EF4-FFF2-40B4-BE49-F238E27FC236}">
                            <a16:creationId xmlns:a16="http://schemas.microsoft.com/office/drawing/2014/main" id="{6A317C1F-7ED4-433C-916C-78CA873847F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7474635" y="174080"/>
                        <a:ext cx="4524375" cy="18954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" name="圖片 3">
            <a:extLst>
              <a:ext uri="{FF2B5EF4-FFF2-40B4-BE49-F238E27FC236}">
                <a16:creationId xmlns:a16="http://schemas.microsoft.com/office/drawing/2014/main" id="{01FC96F3-1BAB-4F32-9EEE-CAB1E9DF9AC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78388"/>
            <a:ext cx="5852160" cy="4389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47182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52C9CFC8-97B7-40C2-88BC-4B89FD014C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577" y="0"/>
            <a:ext cx="11744588" cy="1325563"/>
          </a:xfrm>
        </p:spPr>
        <p:txBody>
          <a:bodyPr>
            <a:normAutofit/>
          </a:bodyPr>
          <a:lstStyle/>
          <a:p>
            <a:r>
              <a:rPr lang="en-US" altLang="zh-TW" sz="32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4o </a:t>
            </a:r>
            <a:r>
              <a:rPr lang="zh-TW" altLang="en-US" sz="32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的</a:t>
            </a:r>
            <a:r>
              <a:rPr lang="en-US" altLang="zh-TW" sz="32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 PHQ8 Moving </a:t>
            </a:r>
            <a:r>
              <a:rPr lang="zh-TW" altLang="en-US" sz="32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預測結果</a:t>
            </a:r>
          </a:p>
        </p:txBody>
      </p:sp>
      <p:sp>
        <p:nvSpPr>
          <p:cNvPr id="8" name="內容版面配置區 2">
            <a:extLst>
              <a:ext uri="{FF2B5EF4-FFF2-40B4-BE49-F238E27FC236}">
                <a16:creationId xmlns:a16="http://schemas.microsoft.com/office/drawing/2014/main" id="{C790674B-9EC5-4D00-A32E-9E8F49D8D015}"/>
              </a:ext>
            </a:extLst>
          </p:cNvPr>
          <p:cNvSpPr txBox="1">
            <a:spLocks/>
          </p:cNvSpPr>
          <p:nvPr/>
        </p:nvSpPr>
        <p:spPr>
          <a:xfrm>
            <a:off x="838199" y="1456508"/>
            <a:ext cx="10515600" cy="53134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14400" lvl="2" indent="0">
              <a:lnSpc>
                <a:spcPct val="100000"/>
              </a:lnSpc>
              <a:buNone/>
            </a:pPr>
            <a:endParaRPr lang="en-US" altLang="zh-TW" dirty="0">
              <a:ea typeface="標楷體" panose="03000509000000000000" pitchFamily="65" charset="-120"/>
            </a:endParaRPr>
          </a:p>
          <a:p>
            <a:pPr>
              <a:lnSpc>
                <a:spcPct val="100000"/>
              </a:lnSpc>
            </a:pPr>
            <a:endParaRPr lang="en-US" altLang="zh-TW" sz="2400" dirty="0">
              <a:ea typeface="標楷體" panose="03000509000000000000" pitchFamily="65" charset="-120"/>
            </a:endParaRPr>
          </a:p>
          <a:p>
            <a:pPr>
              <a:lnSpc>
                <a:spcPct val="100000"/>
              </a:lnSpc>
            </a:pPr>
            <a:endParaRPr lang="en-US" altLang="zh-TW" sz="2400" dirty="0">
              <a:ea typeface="標楷體" panose="03000509000000000000" pitchFamily="65" charset="-120"/>
            </a:endParaRPr>
          </a:p>
          <a:p>
            <a:pPr>
              <a:lnSpc>
                <a:spcPct val="100000"/>
              </a:lnSpc>
            </a:pPr>
            <a:endParaRPr lang="en-US" altLang="zh-TW" sz="2400" dirty="0">
              <a:ea typeface="標楷體" panose="03000509000000000000" pitchFamily="65" charset="-120"/>
            </a:endParaRPr>
          </a:p>
          <a:p>
            <a:pPr>
              <a:lnSpc>
                <a:spcPct val="100000"/>
              </a:lnSpc>
            </a:pPr>
            <a:endParaRPr lang="en-US" altLang="zh-TW" sz="2400" dirty="0">
              <a:ea typeface="標楷體" panose="03000509000000000000" pitchFamily="65" charset="-12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altLang="zh-TW" sz="2400" dirty="0">
              <a:ea typeface="標楷體" panose="03000509000000000000" pitchFamily="65" charset="-120"/>
            </a:endParaRPr>
          </a:p>
        </p:txBody>
      </p:sp>
      <p:graphicFrame>
        <p:nvGraphicFramePr>
          <p:cNvPr id="6" name="物件 5">
            <a:extLst>
              <a:ext uri="{FF2B5EF4-FFF2-40B4-BE49-F238E27FC236}">
                <a16:creationId xmlns:a16="http://schemas.microsoft.com/office/drawing/2014/main" id="{6A317C1F-7ED4-433C-916C-78CA873847F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7474635" y="174080"/>
          <a:ext cx="4524375" cy="1895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202" name="Worksheet" r:id="rId4" imgW="4524262" imgH="1895547" progId="Excel.Sheet.12">
                  <p:embed/>
                </p:oleObj>
              </mc:Choice>
              <mc:Fallback>
                <p:oleObj name="Worksheet" r:id="rId4" imgW="4524262" imgH="1895547" progId="Excel.Sheet.12">
                  <p:embed/>
                  <p:pic>
                    <p:nvPicPr>
                      <p:cNvPr id="6" name="物件 5">
                        <a:extLst>
                          <a:ext uri="{FF2B5EF4-FFF2-40B4-BE49-F238E27FC236}">
                            <a16:creationId xmlns:a16="http://schemas.microsoft.com/office/drawing/2014/main" id="{6A317C1F-7ED4-433C-916C-78CA873847F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7474635" y="174080"/>
                        <a:ext cx="4524375" cy="18954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圖片 2">
            <a:extLst>
              <a:ext uri="{FF2B5EF4-FFF2-40B4-BE49-F238E27FC236}">
                <a16:creationId xmlns:a16="http://schemas.microsoft.com/office/drawing/2014/main" id="{F7EF814F-B326-4169-B5F6-F53200D0EFD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56508"/>
            <a:ext cx="5852160" cy="4389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44200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52C9CFC8-97B7-40C2-88BC-4B89FD014C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577" y="0"/>
            <a:ext cx="11744588" cy="1325563"/>
          </a:xfrm>
        </p:spPr>
        <p:txBody>
          <a:bodyPr>
            <a:normAutofit/>
          </a:bodyPr>
          <a:lstStyle/>
          <a:p>
            <a:r>
              <a:rPr lang="en-US" altLang="zh-TW" sz="32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Plus </a:t>
            </a:r>
            <a:r>
              <a:rPr lang="zh-TW" altLang="en-US" sz="32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會員各模型使用上限</a:t>
            </a:r>
          </a:p>
        </p:txBody>
      </p:sp>
      <p:sp>
        <p:nvSpPr>
          <p:cNvPr id="8" name="內容版面配置區 2">
            <a:extLst>
              <a:ext uri="{FF2B5EF4-FFF2-40B4-BE49-F238E27FC236}">
                <a16:creationId xmlns:a16="http://schemas.microsoft.com/office/drawing/2014/main" id="{C790674B-9EC5-4D00-A32E-9E8F49D8D015}"/>
              </a:ext>
            </a:extLst>
          </p:cNvPr>
          <p:cNvSpPr txBox="1">
            <a:spLocks/>
          </p:cNvSpPr>
          <p:nvPr/>
        </p:nvSpPr>
        <p:spPr>
          <a:xfrm>
            <a:off x="838199" y="1456508"/>
            <a:ext cx="10515600" cy="53134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14400" lvl="2" indent="0">
              <a:lnSpc>
                <a:spcPct val="100000"/>
              </a:lnSpc>
              <a:buNone/>
            </a:pPr>
            <a:endParaRPr lang="en-US" altLang="zh-TW" dirty="0">
              <a:ea typeface="標楷體" panose="03000509000000000000" pitchFamily="65" charset="-120"/>
            </a:endParaRPr>
          </a:p>
          <a:p>
            <a:pPr>
              <a:lnSpc>
                <a:spcPct val="100000"/>
              </a:lnSpc>
            </a:pPr>
            <a:endParaRPr lang="en-US" altLang="zh-TW" sz="2400" dirty="0">
              <a:ea typeface="標楷體" panose="03000509000000000000" pitchFamily="65" charset="-120"/>
            </a:endParaRPr>
          </a:p>
          <a:p>
            <a:pPr>
              <a:lnSpc>
                <a:spcPct val="100000"/>
              </a:lnSpc>
            </a:pPr>
            <a:endParaRPr lang="en-US" altLang="zh-TW" sz="2400" dirty="0">
              <a:ea typeface="標楷體" panose="03000509000000000000" pitchFamily="65" charset="-120"/>
            </a:endParaRPr>
          </a:p>
          <a:p>
            <a:pPr>
              <a:lnSpc>
                <a:spcPct val="100000"/>
              </a:lnSpc>
            </a:pPr>
            <a:endParaRPr lang="en-US" altLang="zh-TW" sz="2400" dirty="0">
              <a:ea typeface="標楷體" panose="03000509000000000000" pitchFamily="65" charset="-120"/>
            </a:endParaRPr>
          </a:p>
          <a:p>
            <a:pPr>
              <a:lnSpc>
                <a:spcPct val="100000"/>
              </a:lnSpc>
            </a:pPr>
            <a:endParaRPr lang="en-US" altLang="zh-TW" sz="2400" dirty="0">
              <a:ea typeface="標楷體" panose="03000509000000000000" pitchFamily="65" charset="-12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altLang="zh-TW" sz="2400" dirty="0">
              <a:ea typeface="標楷體" panose="03000509000000000000" pitchFamily="65" charset="-120"/>
            </a:endParaRPr>
          </a:p>
        </p:txBody>
      </p:sp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32562B24-0CD0-40F3-AA22-8769F801AEE1}"/>
              </a:ext>
            </a:extLst>
          </p:cNvPr>
          <p:cNvSpPr txBox="1">
            <a:spLocks/>
          </p:cNvSpPr>
          <p:nvPr/>
        </p:nvSpPr>
        <p:spPr>
          <a:xfrm>
            <a:off x="321577" y="1255824"/>
            <a:ext cx="11870423" cy="5714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</a:pPr>
            <a:r>
              <a:rPr lang="en-US" altLang="zh-TW" dirty="0">
                <a:ea typeface="標楷體" panose="03000509000000000000" pitchFamily="65" charset="-120"/>
              </a:rPr>
              <a:t>GPT-4o:</a:t>
            </a:r>
            <a:r>
              <a:rPr lang="zh-TW" altLang="en-US" dirty="0">
                <a:ea typeface="標楷體" panose="03000509000000000000" pitchFamily="65" charset="-120"/>
              </a:rPr>
              <a:t> </a:t>
            </a:r>
            <a:r>
              <a:rPr lang="en-US" altLang="zh-TW" dirty="0">
                <a:ea typeface="標楷體" panose="03000509000000000000" pitchFamily="65" charset="-120"/>
              </a:rPr>
              <a:t>40</a:t>
            </a:r>
            <a:r>
              <a:rPr lang="zh-TW" altLang="en-US" dirty="0">
                <a:ea typeface="標楷體" panose="03000509000000000000" pitchFamily="65" charset="-120"/>
              </a:rPr>
              <a:t>則訊息 </a:t>
            </a:r>
            <a:r>
              <a:rPr lang="en-US" altLang="zh-TW" dirty="0">
                <a:ea typeface="標楷體" panose="03000509000000000000" pitchFamily="65" charset="-120"/>
              </a:rPr>
              <a:t>/ 3</a:t>
            </a:r>
            <a:r>
              <a:rPr lang="zh-TW" altLang="en-US" dirty="0">
                <a:ea typeface="標楷體" panose="03000509000000000000" pitchFamily="65" charset="-120"/>
              </a:rPr>
              <a:t>小時</a:t>
            </a:r>
            <a:endParaRPr lang="en-US" altLang="zh-TW" dirty="0">
              <a:ea typeface="標楷體" panose="03000509000000000000" pitchFamily="65" charset="-120"/>
            </a:endParaRPr>
          </a:p>
          <a:p>
            <a:pPr>
              <a:lnSpc>
                <a:spcPct val="120000"/>
              </a:lnSpc>
            </a:pPr>
            <a:r>
              <a:rPr lang="en-US" altLang="zh-TW" dirty="0"/>
              <a:t>GPT-4.1:</a:t>
            </a:r>
            <a:r>
              <a:rPr lang="zh-TW" altLang="en-US" dirty="0"/>
              <a:t> </a:t>
            </a:r>
            <a:r>
              <a:rPr lang="en-US" altLang="zh-TW" dirty="0">
                <a:ea typeface="標楷體" panose="03000509000000000000" pitchFamily="65" charset="-120"/>
              </a:rPr>
              <a:t>40</a:t>
            </a:r>
            <a:r>
              <a:rPr lang="zh-TW" altLang="en-US" dirty="0">
                <a:ea typeface="標楷體" panose="03000509000000000000" pitchFamily="65" charset="-120"/>
              </a:rPr>
              <a:t>則訊息 </a:t>
            </a:r>
            <a:r>
              <a:rPr lang="en-US" altLang="zh-TW" dirty="0">
                <a:ea typeface="標楷體" panose="03000509000000000000" pitchFamily="65" charset="-120"/>
              </a:rPr>
              <a:t>/ 3</a:t>
            </a:r>
            <a:r>
              <a:rPr lang="zh-TW" altLang="en-US" dirty="0">
                <a:ea typeface="標楷體" panose="03000509000000000000" pitchFamily="65" charset="-120"/>
              </a:rPr>
              <a:t>小時</a:t>
            </a:r>
            <a:endParaRPr lang="en-US" altLang="zh-TW" dirty="0">
              <a:ea typeface="標楷體" panose="03000509000000000000" pitchFamily="65" charset="-120"/>
            </a:endParaRPr>
          </a:p>
          <a:p>
            <a:pPr>
              <a:lnSpc>
                <a:spcPct val="120000"/>
              </a:lnSpc>
            </a:pPr>
            <a:r>
              <a:rPr lang="en-US" altLang="zh-TW" dirty="0">
                <a:ea typeface="標楷體" panose="03000509000000000000" pitchFamily="65" charset="-120"/>
              </a:rPr>
              <a:t>GPT-o3:</a:t>
            </a:r>
            <a:r>
              <a:rPr lang="zh-TW" altLang="en-US" dirty="0">
                <a:ea typeface="標楷體" panose="03000509000000000000" pitchFamily="65" charset="-120"/>
              </a:rPr>
              <a:t> </a:t>
            </a:r>
            <a:r>
              <a:rPr lang="en-US" altLang="zh-TW" dirty="0">
                <a:ea typeface="標楷體" panose="03000509000000000000" pitchFamily="65" charset="-120"/>
              </a:rPr>
              <a:t>100</a:t>
            </a:r>
            <a:r>
              <a:rPr lang="zh-TW" altLang="en-US" dirty="0">
                <a:ea typeface="標楷體" panose="03000509000000000000" pitchFamily="65" charset="-120"/>
              </a:rPr>
              <a:t>則訊息 </a:t>
            </a:r>
            <a:r>
              <a:rPr lang="en-US" altLang="zh-TW" dirty="0">
                <a:ea typeface="標楷體" panose="03000509000000000000" pitchFamily="65" charset="-120"/>
              </a:rPr>
              <a:t>/ </a:t>
            </a:r>
            <a:r>
              <a:rPr lang="zh-TW" altLang="en-US" dirty="0">
                <a:ea typeface="標楷體" panose="03000509000000000000" pitchFamily="65" charset="-120"/>
              </a:rPr>
              <a:t>一周</a:t>
            </a:r>
            <a:endParaRPr lang="en-US" altLang="zh-TW" dirty="0">
              <a:ea typeface="標楷體" panose="03000509000000000000" pitchFamily="65" charset="-120"/>
            </a:endParaRPr>
          </a:p>
          <a:p>
            <a:pPr>
              <a:lnSpc>
                <a:spcPct val="120000"/>
              </a:lnSpc>
            </a:pPr>
            <a:r>
              <a:rPr lang="en-US" altLang="zh-TW" dirty="0">
                <a:ea typeface="標楷體" panose="03000509000000000000" pitchFamily="65" charset="-120"/>
              </a:rPr>
              <a:t>GPT-o4-mini:</a:t>
            </a:r>
            <a:r>
              <a:rPr lang="zh-TW" altLang="en-US" dirty="0">
                <a:ea typeface="標楷體" panose="03000509000000000000" pitchFamily="65" charset="-120"/>
              </a:rPr>
              <a:t> </a:t>
            </a:r>
            <a:r>
              <a:rPr lang="en-US" altLang="zh-TW" dirty="0">
                <a:ea typeface="標楷體" panose="03000509000000000000" pitchFamily="65" charset="-120"/>
              </a:rPr>
              <a:t>300</a:t>
            </a:r>
            <a:r>
              <a:rPr lang="zh-TW" altLang="en-US" dirty="0">
                <a:ea typeface="標楷體" panose="03000509000000000000" pitchFamily="65" charset="-120"/>
              </a:rPr>
              <a:t>則訊息 </a:t>
            </a:r>
            <a:r>
              <a:rPr lang="en-US" altLang="zh-TW" dirty="0">
                <a:ea typeface="標楷體" panose="03000509000000000000" pitchFamily="65" charset="-120"/>
              </a:rPr>
              <a:t>/ </a:t>
            </a:r>
            <a:r>
              <a:rPr lang="zh-TW" altLang="en-US" dirty="0">
                <a:ea typeface="標楷體" panose="03000509000000000000" pitchFamily="65" charset="-120"/>
              </a:rPr>
              <a:t>每日，</a:t>
            </a:r>
            <a:r>
              <a:rPr lang="en-US" altLang="zh-TW" dirty="0">
                <a:ea typeface="標楷體" panose="03000509000000000000" pitchFamily="65" charset="-120"/>
              </a:rPr>
              <a:t>UTC 00:00 </a:t>
            </a:r>
            <a:r>
              <a:rPr lang="zh-TW" altLang="en-US" dirty="0">
                <a:ea typeface="標楷體" panose="03000509000000000000" pitchFamily="65" charset="-120"/>
              </a:rPr>
              <a:t>重置</a:t>
            </a:r>
            <a:endParaRPr lang="en-US" altLang="zh-TW" dirty="0">
              <a:ea typeface="標楷體" panose="03000509000000000000" pitchFamily="65" charset="-120"/>
            </a:endParaRPr>
          </a:p>
          <a:p>
            <a:pPr>
              <a:lnSpc>
                <a:spcPct val="120000"/>
              </a:lnSpc>
            </a:pPr>
            <a:r>
              <a:rPr lang="en-US" altLang="zh-TW" dirty="0">
                <a:ea typeface="標楷體" panose="03000509000000000000" pitchFamily="65" charset="-120"/>
              </a:rPr>
              <a:t>GPT-o4-mini-high:</a:t>
            </a:r>
            <a:r>
              <a:rPr lang="zh-TW" altLang="en-US" dirty="0">
                <a:ea typeface="標楷體" panose="03000509000000000000" pitchFamily="65" charset="-120"/>
              </a:rPr>
              <a:t> </a:t>
            </a:r>
            <a:r>
              <a:rPr lang="en-US" altLang="zh-TW" dirty="0">
                <a:ea typeface="標楷體" panose="03000509000000000000" pitchFamily="65" charset="-120"/>
              </a:rPr>
              <a:t>100</a:t>
            </a:r>
            <a:r>
              <a:rPr lang="zh-TW" altLang="en-US" dirty="0">
                <a:ea typeface="標楷體" panose="03000509000000000000" pitchFamily="65" charset="-120"/>
              </a:rPr>
              <a:t>則訊息 </a:t>
            </a:r>
            <a:r>
              <a:rPr lang="en-US" altLang="zh-TW" dirty="0">
                <a:ea typeface="標楷體" panose="03000509000000000000" pitchFamily="65" charset="-120"/>
              </a:rPr>
              <a:t>/ </a:t>
            </a:r>
            <a:r>
              <a:rPr lang="zh-TW" altLang="en-US" dirty="0">
                <a:ea typeface="標楷體" panose="03000509000000000000" pitchFamily="65" charset="-120"/>
              </a:rPr>
              <a:t>每日，</a:t>
            </a:r>
            <a:r>
              <a:rPr lang="en-US" altLang="zh-TW" dirty="0">
                <a:ea typeface="標楷體" panose="03000509000000000000" pitchFamily="65" charset="-120"/>
              </a:rPr>
              <a:t>UTC 00:00 </a:t>
            </a:r>
            <a:r>
              <a:rPr lang="zh-TW" altLang="en-US" dirty="0">
                <a:ea typeface="標楷體" panose="03000509000000000000" pitchFamily="65" charset="-120"/>
              </a:rPr>
              <a:t>重置</a:t>
            </a:r>
            <a:endParaRPr lang="en-US" altLang="zh-TW" dirty="0">
              <a:ea typeface="標楷體" panose="03000509000000000000" pitchFamily="65" charset="-120"/>
            </a:endParaRPr>
          </a:p>
          <a:p>
            <a:pPr>
              <a:lnSpc>
                <a:spcPct val="120000"/>
              </a:lnSpc>
            </a:pPr>
            <a:endParaRPr lang="en-US" altLang="zh-TW" dirty="0"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9137595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52C9CFC8-97B7-40C2-88BC-4B89FD014C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577" y="0"/>
            <a:ext cx="11744588" cy="1325563"/>
          </a:xfrm>
        </p:spPr>
        <p:txBody>
          <a:bodyPr>
            <a:normAutofit/>
          </a:bodyPr>
          <a:lstStyle/>
          <a:p>
            <a:r>
              <a:rPr lang="zh-TW" altLang="en-US" sz="3200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後續</a:t>
            </a:r>
          </a:p>
        </p:txBody>
      </p:sp>
      <p:sp>
        <p:nvSpPr>
          <p:cNvPr id="8" name="內容版面配置區 2">
            <a:extLst>
              <a:ext uri="{FF2B5EF4-FFF2-40B4-BE49-F238E27FC236}">
                <a16:creationId xmlns:a16="http://schemas.microsoft.com/office/drawing/2014/main" id="{C790674B-9EC5-4D00-A32E-9E8F49D8D015}"/>
              </a:ext>
            </a:extLst>
          </p:cNvPr>
          <p:cNvSpPr txBox="1">
            <a:spLocks/>
          </p:cNvSpPr>
          <p:nvPr/>
        </p:nvSpPr>
        <p:spPr>
          <a:xfrm>
            <a:off x="838199" y="1456508"/>
            <a:ext cx="10515600" cy="53134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914400" lvl="2" indent="0">
              <a:lnSpc>
                <a:spcPct val="100000"/>
              </a:lnSpc>
              <a:buNone/>
            </a:pPr>
            <a:endParaRPr lang="en-US" altLang="zh-TW" dirty="0">
              <a:ea typeface="標楷體" panose="03000509000000000000" pitchFamily="65" charset="-120"/>
            </a:endParaRPr>
          </a:p>
          <a:p>
            <a:pPr>
              <a:lnSpc>
                <a:spcPct val="100000"/>
              </a:lnSpc>
            </a:pPr>
            <a:endParaRPr lang="en-US" altLang="zh-TW" sz="2400" dirty="0">
              <a:ea typeface="標楷體" panose="03000509000000000000" pitchFamily="65" charset="-120"/>
            </a:endParaRPr>
          </a:p>
          <a:p>
            <a:pPr>
              <a:lnSpc>
                <a:spcPct val="100000"/>
              </a:lnSpc>
            </a:pPr>
            <a:endParaRPr lang="en-US" altLang="zh-TW" sz="2400" dirty="0">
              <a:ea typeface="標楷體" panose="03000509000000000000" pitchFamily="65" charset="-120"/>
            </a:endParaRPr>
          </a:p>
          <a:p>
            <a:pPr>
              <a:lnSpc>
                <a:spcPct val="100000"/>
              </a:lnSpc>
            </a:pPr>
            <a:endParaRPr lang="en-US" altLang="zh-TW" sz="2400" dirty="0">
              <a:ea typeface="標楷體" panose="03000509000000000000" pitchFamily="65" charset="-120"/>
            </a:endParaRPr>
          </a:p>
          <a:p>
            <a:pPr>
              <a:lnSpc>
                <a:spcPct val="100000"/>
              </a:lnSpc>
            </a:pPr>
            <a:endParaRPr lang="en-US" altLang="zh-TW" sz="2400" dirty="0">
              <a:ea typeface="標楷體" panose="03000509000000000000" pitchFamily="65" charset="-12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altLang="zh-TW" sz="2400" dirty="0">
              <a:ea typeface="標楷體" panose="03000509000000000000" pitchFamily="65" charset="-120"/>
            </a:endParaRPr>
          </a:p>
        </p:txBody>
      </p:sp>
      <p:sp>
        <p:nvSpPr>
          <p:cNvPr id="6" name="內容版面配置區 2">
            <a:extLst>
              <a:ext uri="{FF2B5EF4-FFF2-40B4-BE49-F238E27FC236}">
                <a16:creationId xmlns:a16="http://schemas.microsoft.com/office/drawing/2014/main" id="{32562B24-0CD0-40F3-AA22-8769F801AEE1}"/>
              </a:ext>
            </a:extLst>
          </p:cNvPr>
          <p:cNvSpPr txBox="1">
            <a:spLocks/>
          </p:cNvSpPr>
          <p:nvPr/>
        </p:nvSpPr>
        <p:spPr>
          <a:xfrm>
            <a:off x="321577" y="1255824"/>
            <a:ext cx="11870423" cy="5714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</a:pPr>
            <a:r>
              <a:rPr lang="zh-TW" altLang="en-US" dirty="0">
                <a:ea typeface="標楷體" panose="03000509000000000000" pitchFamily="65" charset="-120"/>
              </a:rPr>
              <a:t>考慮使用 </a:t>
            </a:r>
            <a:r>
              <a:rPr lang="en-US" altLang="zh-TW" dirty="0">
                <a:ea typeface="標楷體" panose="03000509000000000000" pitchFamily="65" charset="-120"/>
              </a:rPr>
              <a:t>GPT-4o</a:t>
            </a:r>
            <a:r>
              <a:rPr lang="zh-TW" altLang="en-US" dirty="0">
                <a:ea typeface="標楷體" panose="03000509000000000000" pitchFamily="65" charset="-120"/>
              </a:rPr>
              <a:t> 與 </a:t>
            </a:r>
            <a:r>
              <a:rPr lang="en-US" altLang="zh-TW" dirty="0">
                <a:ea typeface="標楷體" panose="03000509000000000000" pitchFamily="65" charset="-120"/>
              </a:rPr>
              <a:t>GPT-o4-mini</a:t>
            </a:r>
            <a:r>
              <a:rPr lang="zh-TW" altLang="en-US" dirty="0">
                <a:ea typeface="標楷體" panose="03000509000000000000" pitchFamily="65" charset="-120"/>
              </a:rPr>
              <a:t> 做問卷分數預測</a:t>
            </a:r>
            <a:endParaRPr lang="en-US" altLang="zh-TW" dirty="0">
              <a:ea typeface="標楷體" panose="03000509000000000000" pitchFamily="65" charset="-120"/>
            </a:endParaRPr>
          </a:p>
          <a:p>
            <a:pPr>
              <a:lnSpc>
                <a:spcPct val="120000"/>
              </a:lnSpc>
            </a:pPr>
            <a:r>
              <a:rPr lang="zh-TW" altLang="en-US" dirty="0">
                <a:ea typeface="標楷體" panose="03000509000000000000" pitchFamily="65" charset="-120"/>
              </a:rPr>
              <a:t>考慮升級至 </a:t>
            </a:r>
            <a:r>
              <a:rPr lang="en-US" altLang="zh-TW" dirty="0">
                <a:ea typeface="標楷體" panose="03000509000000000000" pitchFamily="65" charset="-120"/>
              </a:rPr>
              <a:t>pro</a:t>
            </a:r>
            <a:r>
              <a:rPr lang="zh-TW" altLang="en-US" dirty="0">
                <a:ea typeface="標楷體" panose="03000509000000000000" pitchFamily="65" charset="-120"/>
              </a:rPr>
              <a:t> 會員</a:t>
            </a:r>
            <a:endParaRPr lang="en-US" altLang="zh-TW" dirty="0"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738681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1840</TotalTime>
  <Words>874</Words>
  <Application>Microsoft Office PowerPoint</Application>
  <PresentationFormat>寬螢幕</PresentationFormat>
  <Paragraphs>215</Paragraphs>
  <Slides>17</Slides>
  <Notes>17</Notes>
  <HiddenSlides>0</HiddenSlides>
  <MMClips>0</MMClips>
  <ScaleCrop>false</ScaleCrop>
  <HeadingPairs>
    <vt:vector size="8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內嵌 OLE 伺服程式</vt:lpstr>
      </vt:variant>
      <vt:variant>
        <vt:i4>1</vt:i4>
      </vt:variant>
      <vt:variant>
        <vt:lpstr>投影片標題</vt:lpstr>
      </vt:variant>
      <vt:variant>
        <vt:i4>17</vt:i4>
      </vt:variant>
    </vt:vector>
  </HeadingPairs>
  <TitlesOfParts>
    <vt:vector size="24" baseType="lpstr">
      <vt:lpstr>-apple-system</vt:lpstr>
      <vt:lpstr>細明體</vt:lpstr>
      <vt:lpstr>Arial</vt:lpstr>
      <vt:lpstr>Calibri</vt:lpstr>
      <vt:lpstr>Calibri Light</vt:lpstr>
      <vt:lpstr>Office 佈景主題</vt:lpstr>
      <vt:lpstr>Worksheet</vt:lpstr>
      <vt:lpstr>2025/08/14 Meeting Report</vt:lpstr>
      <vt:lpstr>4o 的憂鬱症檢測與 多任務學習 和 二元分類任務學習 比較</vt:lpstr>
      <vt:lpstr>4o 的 test_split 憂鬱症檢測結果</vt:lpstr>
      <vt:lpstr>4o 的 test_split 憂鬱症檢測結果</vt:lpstr>
      <vt:lpstr>觀察</vt:lpstr>
      <vt:lpstr>後續</vt:lpstr>
      <vt:lpstr>4o 的 PHQ8 整體預測結果</vt:lpstr>
      <vt:lpstr>4o 的 PHQ8 NoInterest 預測結果</vt:lpstr>
      <vt:lpstr>4o 的 PHQ8 Depressed 預測結果</vt:lpstr>
      <vt:lpstr>4o 的 PHQ8 Sleep 預測結果</vt:lpstr>
      <vt:lpstr>4o 的 PHQ8 Tired 預測結果</vt:lpstr>
      <vt:lpstr>4o 的 PHQ8 Appetite 預測結果</vt:lpstr>
      <vt:lpstr>4o 的 PHQ8 Failure預測結果</vt:lpstr>
      <vt:lpstr>4o 的 PHQ8 Concentrating 預測結果</vt:lpstr>
      <vt:lpstr>4o 的 PHQ8 Moving 預測結果</vt:lpstr>
      <vt:lpstr>Plus 會員各模型使用上限</vt:lpstr>
      <vt:lpstr>後續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2025/08/05 Meeting Report</dc:title>
  <dc:creator>嘉均 簡</dc:creator>
  <cp:lastModifiedBy>嘉均 簡</cp:lastModifiedBy>
  <cp:revision>21</cp:revision>
  <dcterms:created xsi:type="dcterms:W3CDTF">2025-08-05T01:53:06Z</dcterms:created>
  <dcterms:modified xsi:type="dcterms:W3CDTF">2026-01-15T22:02:19Z</dcterms:modified>
</cp:coreProperties>
</file>