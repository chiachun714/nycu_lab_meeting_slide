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32" r:id="rId3"/>
    <p:sldId id="336" r:id="rId4"/>
    <p:sldId id="334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1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59C6C-8FAA-4805-9ACA-A9D4DFE9847D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03E96-372D-49B0-A32D-A91E3978A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01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24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10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050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013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02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429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536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400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758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363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83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4A25A-1558-49C6-9254-AF70394D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875EA1-F60E-45E4-8D4B-EBED6BF67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3DFDA-F3C2-4BFF-946E-20F68524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92B1C8-2BFD-4BDD-B225-E2324E70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BC09B8-D8B3-483F-A554-176E78FB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67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EAF74-C184-4FC0-96D3-30F59B14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78E991-6997-4A4B-B76D-E2F83470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472118-76BA-43BA-8385-5876F665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CB00F2-8D9A-4662-8402-124E4BD3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357CFD-EBEF-49DC-83A6-171DAF03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08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78CD3-773B-4F6A-A6DE-B93D6E68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4CE3BC-A9AB-44F5-9567-D59662CB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594C44-531E-4DC4-AF24-7D9CC0F4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19F611-7242-4EBB-BB59-36A0D02C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49AB4B-0BFB-40A9-8564-B14D5974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6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76AB-A8EB-4C28-962A-CE178DB5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BB6800-346E-4B60-9273-9D7DD25CF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AC3CE7-29E1-4F24-AFCB-55C481980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B967D7-A55A-4D8F-9391-2BCD3970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A11677-CF5D-475F-B7D8-31236D3C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7C5CDF-90E4-47C5-BEDC-034BC18E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C3ADB-BBAE-4A81-88C8-3A67A81A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9BE75D-1510-402E-8C22-260E02AD1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97048E-74BD-491E-AA40-519F39D14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24EE29D-E94F-4A52-9DCE-1F2FAEE2C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8FA8F7A-AC67-497C-87C5-4B8AF44A0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974B631-4518-44BC-8FE7-89504EAB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474DE50-BF22-4BB1-A007-E54A6CD1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B8D349-FE4C-44D9-808C-BCEFB509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0B9EF-0B4A-41CA-8DA8-75C5D8C3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F0F529-4B68-45DB-9C20-1D211A6F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5C208A-E7D0-4934-81D1-56DE4475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4CD3454-4824-4EF1-96DE-73920B69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FD98AF-6180-48C6-A0B2-72AACD6C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118E19-9D4C-4616-A8B7-1AA0182C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BF24C-D726-411B-ADF7-995CB59E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53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A26FE-6B78-417F-8253-A8FE504E4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10BDB6-69B2-4E61-889A-318975BD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677D5B-1753-4F03-9D4E-EF583557A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1D6756-6309-4D22-9436-E3C53EA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0B5960-700A-43EF-B717-5DBFC228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1B491F-2EB1-46D5-8D43-3743C9A3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70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67555-DEC0-421E-AFB4-19304590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173C6CF-2C13-42E1-94E2-CE61E77F5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62644F-E06C-48E8-8533-CFD919C94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AC6794-16EC-4066-A131-16646FA0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966054-F230-47C0-8C45-DDF119C1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F60921-E6DD-4B68-9175-81283B49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07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B4ABA-71A7-4AE8-AFCE-E645ABED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533F43-8277-41A8-83AA-3B6F43376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5CFAB0-3455-4FCC-B468-7675CDBA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EF3055-7327-422D-A048-EFBC7471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A5C4F5-C46D-4429-8BA1-951F1D8F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5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87867FE-DD59-429E-A50E-58D0FF6D1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2AA4B8-0E51-4121-A6C5-5C793A90B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054522-C581-4F1C-A31B-190EC4DF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DB1B23-9C53-49B7-B1E5-C9162122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D74F3C-73F7-4C23-B4C3-935775A2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15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EDBB8C3-B50D-465A-9DF3-96A6625A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95440B-77A4-46E0-8F38-0844DC2FD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C2B530-A76B-482B-AD02-27287DB94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DCE19-B8A6-4C03-BDB3-8A22793A1F01}" type="datetimeFigureOut">
              <a:rPr lang="zh-TW" altLang="en-US" smtClean="0"/>
              <a:t>2025/7/3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AEC7D8-9C87-4A68-8068-E1E3E3934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7BC6BE-B951-4224-BD3E-AF2656F10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53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notesSlide" Target="../notesSlides/notesSlide4.xml"/><Relationship Id="rId7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notesSlide" Target="../notesSlides/notesSlide5.xml"/><Relationship Id="rId7" Type="http://schemas.openxmlformats.org/officeDocument/2006/relationships/package" Target="../embeddings/Microsoft_Excel_Worksheet4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notesSlide" Target="../notesSlides/notesSlide6.xml"/><Relationship Id="rId7" Type="http://schemas.openxmlformats.org/officeDocument/2006/relationships/package" Target="../embeddings/Microsoft_Excel_Worksheet6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notesSlide" Target="../notesSlides/notesSlide7.xml"/><Relationship Id="rId7" Type="http://schemas.openxmlformats.org/officeDocument/2006/relationships/package" Target="../embeddings/Microsoft_Excel_Worksheet8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Excel_Worksheet7.xlsx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notesSlide" Target="../notesSlides/notesSlide8.xml"/><Relationship Id="rId7" Type="http://schemas.openxmlformats.org/officeDocument/2006/relationships/package" Target="../embeddings/Microsoft_Excel_Worksheet10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png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9.xls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notesSlide" Target="../notesSlides/notesSlide9.xml"/><Relationship Id="rId7" Type="http://schemas.openxmlformats.org/officeDocument/2006/relationships/package" Target="../embeddings/Microsoft_Excel_Worksheet12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png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1.xls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notesSlide" Target="../notesSlides/notesSlide10.xml"/><Relationship Id="rId7" Type="http://schemas.openxmlformats.org/officeDocument/2006/relationships/package" Target="../embeddings/Microsoft_Excel_Worksheet14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3.xls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notesSlide" Target="../notesSlides/notesSlide11.xml"/><Relationship Id="rId7" Type="http://schemas.openxmlformats.org/officeDocument/2006/relationships/package" Target="../embeddings/Microsoft_Excel_Worksheet16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png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5.xls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2025/07/03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上一次報告的實驗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上禮拜討論到比較訓練 </a:t>
            </a:r>
            <a:r>
              <a:rPr lang="en-US" altLang="zh-TW" sz="2400" dirty="0">
                <a:ea typeface="標楷體" panose="03000509000000000000" pitchFamily="65" charset="-120"/>
              </a:rPr>
              <a:t>multi-task learning</a:t>
            </a:r>
            <a:r>
              <a:rPr lang="zh-TW" altLang="en-US" sz="2400" dirty="0">
                <a:ea typeface="標楷體" panose="03000509000000000000" pitchFamily="65" charset="-120"/>
              </a:rPr>
              <a:t> 與 </a:t>
            </a:r>
            <a:r>
              <a:rPr lang="en-US" altLang="zh-TW" sz="2400" dirty="0">
                <a:ea typeface="標楷體" panose="03000509000000000000" pitchFamily="65" charset="-120"/>
              </a:rPr>
              <a:t>binary classification</a:t>
            </a:r>
            <a:r>
              <a:rPr lang="zh-TW" altLang="en-US" sz="2400" dirty="0">
                <a:ea typeface="標楷體" panose="03000509000000000000" pitchFamily="65" charset="-120"/>
              </a:rPr>
              <a:t> 模型差異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不管是使用人工轉錄檔還是語音辨識轉錄檔，都是 </a:t>
            </a:r>
            <a:r>
              <a:rPr lang="en-US" altLang="zh-TW" sz="2400" dirty="0">
                <a:ea typeface="標楷體" panose="03000509000000000000" pitchFamily="65" charset="-120"/>
              </a:rPr>
              <a:t>binary classification </a:t>
            </a:r>
            <a:r>
              <a:rPr lang="zh-TW" altLang="en-US" sz="2400" dirty="0">
                <a:ea typeface="標楷體" panose="03000509000000000000" pitchFamily="65" charset="-120"/>
              </a:rPr>
              <a:t>比 </a:t>
            </a:r>
            <a:r>
              <a:rPr lang="en-US" altLang="zh-TW" sz="2400" dirty="0">
                <a:ea typeface="標楷體" panose="03000509000000000000" pitchFamily="65" charset="-120"/>
              </a:rPr>
              <a:t>multi-task </a:t>
            </a:r>
            <a:r>
              <a:rPr lang="zh-TW" altLang="en-US" sz="2400" dirty="0">
                <a:ea typeface="標楷體" panose="03000509000000000000" pitchFamily="65" charset="-120"/>
              </a:rPr>
              <a:t>好。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20DF111-3D83-4C43-9E90-676137E7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77" y="3056151"/>
            <a:ext cx="6013159" cy="25265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8D5B7B1-71A5-4873-9911-AA31EF2BF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852" y="3094584"/>
            <a:ext cx="5043313" cy="101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Multi-task learning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中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A25E7864-685B-440F-B039-C1517B91C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927393"/>
              </p:ext>
            </p:extLst>
          </p:nvPr>
        </p:nvGraphicFramePr>
        <p:xfrm>
          <a:off x="3999543" y="2681801"/>
          <a:ext cx="4192911" cy="3705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Worksheet" r:id="rId4" imgW="2295653" imgH="2028962" progId="Excel.Sheet.12">
                  <p:embed/>
                </p:oleObj>
              </mc:Choice>
              <mc:Fallback>
                <p:oleObj name="Worksheet" r:id="rId4" imgW="2295653" imgH="2028962" progId="Excel.Sheet.12">
                  <p:embed/>
                  <p:pic>
                    <p:nvPicPr>
                      <p:cNvPr id="3" name="物件 2">
                        <a:extLst>
                          <a:ext uri="{FF2B5EF4-FFF2-40B4-BE49-F238E27FC236}">
                            <a16:creationId xmlns:a16="http://schemas.microsoft.com/office/drawing/2014/main" id="{A25E7864-685B-440F-B039-C1517B91CF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9543" y="2681801"/>
                        <a:ext cx="4192911" cy="3705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4B68D2-EA40-41A0-84FB-3688C48CA947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1536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轉錄檔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人工標註，特徵提取模型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en-US" altLang="zh-TW" sz="2400" dirty="0" err="1">
                <a:ea typeface="標楷體" panose="03000509000000000000" pitchFamily="65" charset="-120"/>
              </a:rPr>
              <a:t>DepRoBERTa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訓練方法</a:t>
            </a:r>
            <a:r>
              <a:rPr lang="en-US" altLang="zh-TW" sz="2400" dirty="0">
                <a:ea typeface="標楷體" panose="03000509000000000000" pitchFamily="65" charset="-120"/>
              </a:rPr>
              <a:t>: </a:t>
            </a:r>
            <a:r>
              <a:rPr lang="zh-TW" altLang="en-US" sz="2400" dirty="0">
                <a:ea typeface="標楷體" panose="03000509000000000000" pitchFamily="65" charset="-120"/>
              </a:rPr>
              <a:t>標籤平滑 </a:t>
            </a:r>
            <a:r>
              <a:rPr lang="en-US" altLang="zh-TW" sz="2400" dirty="0">
                <a:ea typeface="標楷體" panose="03000509000000000000" pitchFamily="65" charset="-120"/>
              </a:rPr>
              <a:t>+  Balanced Sampler + class weight</a:t>
            </a:r>
          </a:p>
        </p:txBody>
      </p:sp>
    </p:spTree>
    <p:extLst>
      <p:ext uri="{BB962C8B-B14F-4D97-AF65-F5344CB8AC3E}">
        <p14:creationId xmlns:p14="http://schemas.microsoft.com/office/powerpoint/2010/main" val="63574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No interest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B1A319B-2CA5-49AB-A557-E24CDC820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98237"/>
            <a:ext cx="6250498" cy="5000398"/>
          </a:xfrm>
          <a:prstGeom prst="rect">
            <a:avLst/>
          </a:prstGeom>
        </p:spPr>
      </p:pic>
      <p:graphicFrame>
        <p:nvGraphicFramePr>
          <p:cNvPr id="19" name="物件 18">
            <a:extLst>
              <a:ext uri="{FF2B5EF4-FFF2-40B4-BE49-F238E27FC236}">
                <a16:creationId xmlns:a16="http://schemas.microsoft.com/office/drawing/2014/main" id="{BD054421-F0D2-4130-8B76-451063876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793440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Worksheet" r:id="rId5" imgW="4524262" imgH="1895547" progId="Excel.Sheet.12">
                  <p:embed/>
                </p:oleObj>
              </mc:Choice>
              <mc:Fallback>
                <p:oleObj name="Worksheet" r:id="rId5" imgW="4524262" imgH="189554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8C0CE564-F48F-46F3-BAB3-C25EE22078C8}"/>
              </a:ext>
            </a:extLst>
          </p:cNvPr>
          <p:cNvSpPr txBox="1">
            <a:spLocks/>
          </p:cNvSpPr>
          <p:nvPr/>
        </p:nvSpPr>
        <p:spPr>
          <a:xfrm>
            <a:off x="7474634" y="4943349"/>
            <a:ext cx="4139968" cy="157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22" name="物件 21">
            <a:extLst>
              <a:ext uri="{FF2B5EF4-FFF2-40B4-BE49-F238E27FC236}">
                <a16:creationId xmlns:a16="http://schemas.microsoft.com/office/drawing/2014/main" id="{ED375F15-E239-4289-B0E9-3362D7B28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788475"/>
              </p:ext>
            </p:extLst>
          </p:nvPr>
        </p:nvGraphicFramePr>
        <p:xfrm>
          <a:off x="7474634" y="2451620"/>
          <a:ext cx="3995511" cy="2195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4634" y="2451620"/>
                        <a:ext cx="3995511" cy="2195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330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Feel Depressed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D55B475-F6A4-4301-9BB5-07CFA3168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49" y="1856132"/>
            <a:ext cx="6240015" cy="4992012"/>
          </a:xfrm>
          <a:prstGeom prst="rect">
            <a:avLst/>
          </a:prstGeom>
        </p:spPr>
      </p:pic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6B70ACF8-5E6B-49E9-8BB7-C59915DDC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7" name="Worksheet" r:id="rId5" imgW="4524262" imgH="1895547" progId="Excel.Sheet.12">
                  <p:embed/>
                </p:oleObj>
              </mc:Choice>
              <mc:Fallback>
                <p:oleObj name="Worksheet" r:id="rId5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8C66027B-87AF-4828-94BE-40377B6AF441}"/>
              </a:ext>
            </a:extLst>
          </p:cNvPr>
          <p:cNvSpPr txBox="1">
            <a:spLocks/>
          </p:cNvSpPr>
          <p:nvPr/>
        </p:nvSpPr>
        <p:spPr>
          <a:xfrm>
            <a:off x="7466366" y="4932829"/>
            <a:ext cx="4139968" cy="756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9ED10568-B482-4DF3-A617-4E2AEECB74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292603"/>
              </p:ext>
            </p:extLst>
          </p:nvPr>
        </p:nvGraphicFramePr>
        <p:xfrm>
          <a:off x="7474634" y="2359296"/>
          <a:ext cx="4148237" cy="2279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8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4634" y="2359296"/>
                        <a:ext cx="4148237" cy="2279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922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Sleeping Problem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5B3C44-ADF9-4E95-A4A7-E6F8DD331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13" y="1843338"/>
            <a:ext cx="6374239" cy="5099391"/>
          </a:xfrm>
          <a:prstGeom prst="rect">
            <a:avLst/>
          </a:prstGeom>
        </p:spPr>
      </p:pic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8299199A-720A-4B5F-B835-A429E55F5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" name="Worksheet" r:id="rId5" imgW="4524262" imgH="1895547" progId="Excel.Sheet.12">
                  <p:embed/>
                </p:oleObj>
              </mc:Choice>
              <mc:Fallback>
                <p:oleObj name="Worksheet" r:id="rId5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F76B010-E391-4CED-A709-480710E089BB}"/>
              </a:ext>
            </a:extLst>
          </p:cNvPr>
          <p:cNvSpPr txBox="1">
            <a:spLocks/>
          </p:cNvSpPr>
          <p:nvPr/>
        </p:nvSpPr>
        <p:spPr>
          <a:xfrm>
            <a:off x="7383662" y="5150141"/>
            <a:ext cx="4615348" cy="3415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1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B1C36CD2-1627-4EC3-8EE6-BB08A95D0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528630"/>
              </p:ext>
            </p:extLst>
          </p:nvPr>
        </p:nvGraphicFramePr>
        <p:xfrm>
          <a:off x="7474634" y="2451620"/>
          <a:ext cx="4251969" cy="2336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4634" y="2451620"/>
                        <a:ext cx="4251969" cy="2336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284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Feel Tired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0CFA1E6-B808-4EB4-B50C-B3F9F99B9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92" y="1731764"/>
            <a:ext cx="6407795" cy="5126236"/>
          </a:xfrm>
          <a:prstGeom prst="rect">
            <a:avLst/>
          </a:prstGeom>
        </p:spPr>
      </p:pic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4CD2B78A-8B4E-4285-9AE2-437E113A9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Worksheet" r:id="rId5" imgW="4524262" imgH="1895547" progId="Excel.Sheet.12">
                  <p:embed/>
                </p:oleObj>
              </mc:Choice>
              <mc:Fallback>
                <p:oleObj name="Worksheet" r:id="rId5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3949A8A2-9591-4EDD-82A9-0F10ECA7FDC3}"/>
              </a:ext>
            </a:extLst>
          </p:cNvPr>
          <p:cNvSpPr txBox="1">
            <a:spLocks/>
          </p:cNvSpPr>
          <p:nvPr/>
        </p:nvSpPr>
        <p:spPr>
          <a:xfrm>
            <a:off x="7474635" y="5123139"/>
            <a:ext cx="4615348" cy="824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0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29963E70-5C06-4A3A-ADAB-83FA0E470B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025304"/>
              </p:ext>
            </p:extLst>
          </p:nvPr>
        </p:nvGraphicFramePr>
        <p:xfrm>
          <a:off x="7477259" y="2376374"/>
          <a:ext cx="4183836" cy="2299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7259" y="2376374"/>
                        <a:ext cx="4183836" cy="2299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24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Appetite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144D0BE0-EF41-44BF-838B-E842A7553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86158F93-18D4-4638-9311-0743AE6270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743885"/>
            <a:ext cx="6334388" cy="5067510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07EDBEFB-B106-47DA-B9ED-DF742CC569B9}"/>
              </a:ext>
            </a:extLst>
          </p:cNvPr>
          <p:cNvSpPr txBox="1">
            <a:spLocks/>
          </p:cNvSpPr>
          <p:nvPr/>
        </p:nvSpPr>
        <p:spPr>
          <a:xfrm>
            <a:off x="7474635" y="4900466"/>
            <a:ext cx="4615348" cy="1117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1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DF1E76EF-A605-4F30-909B-904F5DBE6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174797"/>
              </p:ext>
            </p:extLst>
          </p:nvPr>
        </p:nvGraphicFramePr>
        <p:xfrm>
          <a:off x="7477259" y="2295795"/>
          <a:ext cx="4141666" cy="2276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7259" y="2295795"/>
                        <a:ext cx="4141666" cy="2276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953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Failure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3A32360F-2478-49F0-B80D-757796091E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AE309B72-80FA-4E54-8639-1012EC1723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35" y="1729524"/>
            <a:ext cx="6441351" cy="5153081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60B1E8D5-842A-464F-8910-F2BAE14996F3}"/>
              </a:ext>
            </a:extLst>
          </p:cNvPr>
          <p:cNvSpPr txBox="1">
            <a:spLocks/>
          </p:cNvSpPr>
          <p:nvPr/>
        </p:nvSpPr>
        <p:spPr>
          <a:xfrm>
            <a:off x="7474635" y="5259564"/>
            <a:ext cx="4615348" cy="3415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1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4EEC746B-1881-4A54-98AE-4B42464D3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585223"/>
              </p:ext>
            </p:extLst>
          </p:nvPr>
        </p:nvGraphicFramePr>
        <p:xfrm>
          <a:off x="7477258" y="2451620"/>
          <a:ext cx="4361853" cy="239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7258" y="2451620"/>
                        <a:ext cx="4361853" cy="2397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2944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Concentration problem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7AD35EDD-47E5-4285-B5BC-AC64DF4F5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1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A8A62802-9772-4291-BFFA-08A0FD589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0" y="1826699"/>
            <a:ext cx="6315517" cy="5052413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DA889ABA-3A9C-4F58-9170-AB3EC45C822A}"/>
              </a:ext>
            </a:extLst>
          </p:cNvPr>
          <p:cNvSpPr txBox="1">
            <a:spLocks/>
          </p:cNvSpPr>
          <p:nvPr/>
        </p:nvSpPr>
        <p:spPr>
          <a:xfrm>
            <a:off x="7474634" y="4812957"/>
            <a:ext cx="4615348" cy="1779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4BDCE2B7-ED59-4825-BB2C-D30C5FE89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818917"/>
              </p:ext>
            </p:extLst>
          </p:nvPr>
        </p:nvGraphicFramePr>
        <p:xfrm>
          <a:off x="7474634" y="2261578"/>
          <a:ext cx="4320129" cy="2374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4634" y="2261578"/>
                        <a:ext cx="4320129" cy="2374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949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classification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Confustion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Matrix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Slow moving or talking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F8968F93-E85C-4B89-89A5-2685EE1D1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8274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F9EA97D-850D-4596-BB20-EC69EEBDEA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01" y="1798036"/>
            <a:ext cx="6240016" cy="4992013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BB8610FB-A308-4087-8EF5-B89DE1562B11}"/>
              </a:ext>
            </a:extLst>
          </p:cNvPr>
          <p:cNvSpPr txBox="1">
            <a:spLocks/>
          </p:cNvSpPr>
          <p:nvPr/>
        </p:nvSpPr>
        <p:spPr>
          <a:xfrm>
            <a:off x="7437539" y="5235829"/>
            <a:ext cx="4615348" cy="824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模型很難正確預測標籤</a:t>
            </a:r>
            <a:r>
              <a:rPr lang="en-US" altLang="zh-TW" sz="2400" dirty="0">
                <a:ea typeface="標楷體" panose="03000509000000000000" pitchFamily="65" charset="-120"/>
              </a:rPr>
              <a:t>1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922D5960-7B20-4FD7-8698-542CCDB57D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999485"/>
              </p:ext>
            </p:extLst>
          </p:nvPr>
        </p:nvGraphicFramePr>
        <p:xfrm>
          <a:off x="7474634" y="2376374"/>
          <a:ext cx="4388883" cy="2412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Worksheet" r:id="rId7" imgW="2305130" imgH="1266740" progId="Excel.Sheet.12">
                  <p:embed/>
                </p:oleObj>
              </mc:Choice>
              <mc:Fallback>
                <p:oleObj name="Worksheet" r:id="rId7" imgW="2305130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74634" y="2376374"/>
                        <a:ext cx="4388883" cy="2412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1168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觀察模型判斷各個症狀關注的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QA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pair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利用模型內每個症狀的 </a:t>
            </a:r>
            <a:r>
              <a:rPr lang="en-US" altLang="zh-TW" sz="2400" dirty="0">
                <a:ea typeface="標楷體" panose="03000509000000000000" pitchFamily="65" charset="-120"/>
              </a:rPr>
              <a:t>attention head</a:t>
            </a:r>
            <a:r>
              <a:rPr lang="zh-TW" altLang="en-US" sz="2400" dirty="0">
                <a:ea typeface="標楷體" panose="03000509000000000000" pitchFamily="65" charset="-120"/>
              </a:rPr>
              <a:t> 對病患的 </a:t>
            </a:r>
            <a:r>
              <a:rPr lang="en-US" altLang="zh-TW" sz="2400" dirty="0">
                <a:ea typeface="標楷體" panose="03000509000000000000" pitchFamily="65" charset="-120"/>
              </a:rPr>
              <a:t>QA pair </a:t>
            </a:r>
            <a:r>
              <a:rPr lang="zh-TW" altLang="en-US" sz="2400" dirty="0">
                <a:ea typeface="標楷體" panose="03000509000000000000" pitchFamily="65" charset="-120"/>
              </a:rPr>
              <a:t>做排序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3A6311-4DEF-4E8A-BE6F-0C3EC2D74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2410"/>
            <a:ext cx="12192000" cy="421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4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實驗步驟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新的實驗資料集，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 err="1">
                <a:ea typeface="標楷體" panose="03000509000000000000" pitchFamily="65" charset="-120"/>
              </a:rPr>
              <a:t>train_split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zh-TW" altLang="en-US" sz="2400" dirty="0">
                <a:ea typeface="標楷體" panose="03000509000000000000" pitchFamily="65" charset="-120"/>
              </a:rPr>
              <a:t> 跟 </a:t>
            </a: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endParaRPr lang="zh-TW" altLang="en-US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: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107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31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76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35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12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23</a:t>
            </a: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47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14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33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實驗數據將每個方法用 </a:t>
            </a:r>
            <a:r>
              <a:rPr lang="en-US" altLang="zh-TW" sz="2400" dirty="0">
                <a:ea typeface="標楷體" panose="03000509000000000000" pitchFamily="65" charset="-120"/>
              </a:rPr>
              <a:t>6 </a:t>
            </a:r>
            <a:r>
              <a:rPr lang="zh-TW" altLang="en-US" sz="2400" dirty="0">
                <a:ea typeface="標楷體" panose="03000509000000000000" pitchFamily="65" charset="-120"/>
              </a:rPr>
              <a:t>個種子的分數取平均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870D25-F271-42AC-8C66-E07CBAC2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94" y="3679511"/>
            <a:ext cx="9085977" cy="30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5327</TotalTime>
  <Words>735</Words>
  <Application>Microsoft Office PowerPoint</Application>
  <PresentationFormat>寬螢幕</PresentationFormat>
  <Paragraphs>186</Paragraphs>
  <Slides>13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Calibri</vt:lpstr>
      <vt:lpstr>Calibri Light</vt:lpstr>
      <vt:lpstr>Office 佈景主題</vt:lpstr>
      <vt:lpstr>Microsoft Excel 工作表</vt:lpstr>
      <vt:lpstr>2025/07/03 Meeting Report</vt:lpstr>
      <vt:lpstr>上一次報告的實驗</vt:lpstr>
      <vt:lpstr>Multi-task learning 中 PHQ8 classification 的結果</vt:lpstr>
      <vt:lpstr>PHQ8 classification 的 Confustion Matrix</vt:lpstr>
      <vt:lpstr>PHQ8 classification 的 Confustion Matrix</vt:lpstr>
      <vt:lpstr>PHQ8 classification 的 Confustion Matrix</vt:lpstr>
      <vt:lpstr>PHQ8 classification 的 Confustion Matrix</vt:lpstr>
      <vt:lpstr>PHQ8 classification 的 Confustion Matrix</vt:lpstr>
      <vt:lpstr>PHQ8 classification 的 Confustion Matrix</vt:lpstr>
      <vt:lpstr>PHQ8 classification 的 Confustion Matrix</vt:lpstr>
      <vt:lpstr>PHQ8 classification 的 Confustion Matrix</vt:lpstr>
      <vt:lpstr>觀察模型判斷各個症狀關注的QA pair</vt:lpstr>
      <vt:lpstr>實驗步驟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2025/06/24 Meeting Report</dc:title>
  <dc:creator>嘉均 簡</dc:creator>
  <cp:lastModifiedBy>嘉均 簡</cp:lastModifiedBy>
  <cp:revision>54</cp:revision>
  <dcterms:created xsi:type="dcterms:W3CDTF">2025-06-24T01:15:17Z</dcterms:created>
  <dcterms:modified xsi:type="dcterms:W3CDTF">2025-07-04T01:48:14Z</dcterms:modified>
</cp:coreProperties>
</file>