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16" r:id="rId3"/>
    <p:sldId id="317" r:id="rId4"/>
    <p:sldId id="321" r:id="rId5"/>
    <p:sldId id="322" r:id="rId6"/>
    <p:sldId id="323" r:id="rId7"/>
    <p:sldId id="319" r:id="rId8"/>
    <p:sldId id="325" r:id="rId9"/>
    <p:sldId id="32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27715-4D4C-45A7-ADC7-FCA46F7CEF2C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D9546-31A6-4812-B298-120E3EE2D1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2184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5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54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883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6640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4917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543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51981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238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ABC03B-AC37-450F-8086-ED0799E63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30F350C-4B0D-4E2E-9B4E-CE5CD6A65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E6B251-5789-4135-913C-88AC4DB0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123FB1-619F-4A9C-920E-248FDCB7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383687D-5492-4F35-AC6F-A8D4E3ED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9008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EF5C8B-07AA-49F4-924B-897B386E3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FD741B-86BF-4E22-B65F-CB7CB8B90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F9C626-034E-4FF3-8ACD-1B71B91B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E51456-21E3-41DF-AA4C-23E6E9C6B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100029-385C-4F1E-9370-F8B40AA70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4368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50C84B-F82E-4582-B5C2-3CBC52C8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BC10349-647E-4257-9F20-9956E9E94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8D7668-58D2-4BE2-A66E-A3B994A3A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581A67-EC35-4C14-9014-64FDE2F8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CF27DE-548D-4F77-99A9-D56460CE9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6183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271A5C-A2D6-425C-8B07-3B23720D2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B9855B-D42E-4E0F-A751-A89CA3DFD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3ED1BC-0361-464F-9A51-30B904CFE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32175EF-5660-45D1-88BB-6DB6998D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177219C-5386-4070-AF6D-8768A1CA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B4C269-1F38-425A-984F-1CAD5903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988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C0088F-712C-4C11-BC51-1F9968A0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1FDBF09-EBEE-4FD5-A4B2-D31DC1004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A487A60-4636-429A-93B2-39DF47719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3A1C22A-9FA2-422E-92EA-721FFCF55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6421AC2-0900-40C2-AD7C-E4B9B0E4E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716D2F5-EF77-4FEB-A933-E76D90F9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972C443-85ED-44D3-9CF4-0B06F310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7A8848-7208-4DE4-AE42-E77B0ED07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664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8CE82-2E65-4D14-97AA-3E52AB67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10898C-3D0B-4428-922F-F5E4BC33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04F13B-5E64-40E5-8DCB-28017E973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FA1BC89-8AE4-4AB3-8CB5-32338183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0683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A237AF6-E6E4-4C36-9030-D172200C5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F30312B-3371-4CC1-BBA1-35164B1B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A218CD-8883-4111-8A05-026CCE54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938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70853B-572B-47F1-B5C3-4EC7AF5A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3C900E-4A03-402A-993C-D91FF479B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E98B6A-514B-4F64-88CF-39153D2B2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E50A30-45C4-45F5-9C1C-2641FE5F1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E6DFF2-8D0D-4228-B434-0059E7C0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3AEE2AA-A6B2-4E7C-880F-7E0B69956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5106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E71BD1-54D8-4861-BDCA-9D004E52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FCA81DD-FFAD-4FF6-B80C-8062BE639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170E55-42D4-4A64-9871-E7B9D68E51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BBB238C-C99A-4D0B-A123-74DDB14A4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A5E3E8B-2BD9-466A-A50E-DD3E77516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38F240E-1B5E-4DD2-812A-8F08D0CA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365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3D49AA-E48C-4768-A032-2C44DB89B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47D3D9F-B1EC-4F8C-9B0A-F05B49EBC1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0925B0-FA7D-450A-8B25-966CAB58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A8084F-01AC-49D7-B52B-2D058290E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F576D9-6FDE-49A6-90F0-9ADF8AC6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129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8E4A211-1BF0-4699-B219-0CE2CD721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651E0AF-9B1D-482F-A7F9-B3AAC7BED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5AFD1F-06AB-41B8-82E3-326092432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5F428DE-7956-4F64-8986-B4CA58D1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AB17A5-CA0B-4DC2-AABD-5F7C49E9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188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693A986-4DEC-4E9C-B302-E2BD0DE5B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6788A0-639A-43D3-B593-9FDC1D8B4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E7ECB1-9426-4C83-A2CF-9040D560D5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B7248-C7B6-4E5E-8D96-BECA34F0510E}" type="datetimeFigureOut">
              <a:rPr lang="zh-TW" altLang="en-US" smtClean="0"/>
              <a:t>2025/3/12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11E821E-8FB9-4F20-828C-B671DC5C5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6ACEF3-69DD-4FB0-92F6-B34BFBA2F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D3956-E603-40BF-846E-FD9ABF6496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060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2024/02/18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Robert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FB41C87-B1D5-4B27-8730-C766C3C90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05293"/>
            <a:ext cx="4733925" cy="2657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111A914-226F-4375-AE8E-1E7037DC2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179" y="1105293"/>
            <a:ext cx="4772025" cy="27051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58878F5-3836-4D67-BFC0-93F65EA11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49" y="3944176"/>
            <a:ext cx="4714875" cy="26574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D517FBD-C941-4F01-AD7E-071E5223C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854" y="3934650"/>
            <a:ext cx="47053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98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Wav2Vec2.0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4AE0893-FE47-4642-BEBE-F180A7766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03" y="1157163"/>
            <a:ext cx="4733925" cy="26765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908E106-B153-4336-84FD-C08FB34FB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03" y="4000521"/>
            <a:ext cx="4733925" cy="267652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659471C-66B7-4A3A-8205-001B973126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388" y="1157163"/>
            <a:ext cx="4762500" cy="26670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7F49C2D-9B1C-4B9C-AE41-12E33B3B9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0438" y="3994359"/>
            <a:ext cx="474345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13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WavLM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2DC04D9-6492-4A08-96E2-D2E9FDB97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105293"/>
            <a:ext cx="4733925" cy="2667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2C81572-CD3F-444D-B9A6-B161F9D6D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3884983"/>
            <a:ext cx="4733925" cy="267652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7300A714-22E0-40DC-A581-EE61AF3FF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341" y="1105293"/>
            <a:ext cx="4733925" cy="267652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D574FD9-7A79-43F8-BA44-E3ACBB474A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5341" y="3884983"/>
            <a:ext cx="47339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1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Wav2Vec2.0 + Robert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7AFDF3A-351F-4402-B675-ACDFC0295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231128"/>
            <a:ext cx="4743450" cy="265747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8A6CC3C-34DD-4BE3-A0EA-12C569C7DD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13" y="4000521"/>
            <a:ext cx="4733925" cy="26574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950548C-920E-47DC-B0CC-E31EAB634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998" y="1231127"/>
            <a:ext cx="4762500" cy="265747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4FCA577-47A7-4939-B0CA-422621C6BC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1998" y="3999750"/>
            <a:ext cx="47625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273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只使用語音的資料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–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WavLM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+ Robert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訓練結果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5637810-9236-4999-BEE2-2C8D33C65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48" y="1155627"/>
            <a:ext cx="4733925" cy="26574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D3872298-5698-49FF-9EEB-6F935B7C1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948" y="3925792"/>
            <a:ext cx="4733925" cy="264795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7E42F95-AFF6-402C-B874-0F8D64E93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622" y="1175010"/>
            <a:ext cx="4762500" cy="270510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134CC95A-BD64-4ECF-98EC-7D6EC59DDA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0829" y="3935167"/>
            <a:ext cx="47244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45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實驗觀察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721F2B7-DC15-4FF5-A21B-755111CCDCBE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0286335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程式應該沒有錯誤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5909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想問老師的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721F2B7-DC15-4FF5-A21B-755111CCDCBE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0286335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每一次訓練要執行一次資料擴增嗎</a:t>
            </a:r>
            <a:r>
              <a:rPr lang="en-US" altLang="zh-TW" sz="3200" dirty="0">
                <a:ea typeface="標楷體" panose="03000509000000000000" pitchFamily="65" charset="-120"/>
              </a:rPr>
              <a:t>?</a:t>
            </a:r>
          </a:p>
          <a:p>
            <a:pPr lvl="1">
              <a:lnSpc>
                <a:spcPct val="100000"/>
              </a:lnSpc>
            </a:pPr>
            <a:r>
              <a:rPr lang="zh-TW" altLang="en-US" dirty="0">
                <a:ea typeface="標楷體" panose="03000509000000000000" pitchFamily="65" charset="-120"/>
              </a:rPr>
              <a:t>目前訓練方法是</a:t>
            </a:r>
            <a:r>
              <a:rPr lang="zh-TW" altLang="en-US" sz="2400" dirty="0">
                <a:ea typeface="標楷體" panose="03000509000000000000" pitchFamily="65" charset="-120"/>
              </a:rPr>
              <a:t>每一次訓練會執行一次資料擴增</a:t>
            </a:r>
            <a:endParaRPr lang="en-US" altLang="zh-TW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8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43823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後續實驗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721F2B7-DC15-4FF5-A21B-755111CCDCBE}"/>
              </a:ext>
            </a:extLst>
          </p:cNvPr>
          <p:cNvSpPr txBox="1">
            <a:spLocks/>
          </p:cNvSpPr>
          <p:nvPr/>
        </p:nvSpPr>
        <p:spPr>
          <a:xfrm>
            <a:off x="686464" y="1069592"/>
            <a:ext cx="11116846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降低 </a:t>
            </a:r>
            <a:r>
              <a:rPr lang="en-US" altLang="zh-TW" sz="3200" dirty="0">
                <a:ea typeface="標楷體" panose="03000509000000000000" pitchFamily="65" charset="-120"/>
              </a:rPr>
              <a:t>data augmentation </a:t>
            </a:r>
            <a:r>
              <a:rPr lang="zh-TW" altLang="en-US" sz="3200" dirty="0">
                <a:ea typeface="標楷體" panose="03000509000000000000" pitchFamily="65" charset="-120"/>
              </a:rPr>
              <a:t>的數量</a:t>
            </a:r>
            <a:endParaRPr lang="en-US" altLang="zh-TW" sz="32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目前是每個 </a:t>
            </a:r>
            <a:r>
              <a:rPr lang="en-US" altLang="zh-TW" sz="2800" dirty="0">
                <a:ea typeface="標楷體" panose="03000509000000000000" pitchFamily="65" charset="-120"/>
              </a:rPr>
              <a:t>positive samples </a:t>
            </a:r>
            <a:r>
              <a:rPr lang="zh-TW" altLang="en-US" sz="2800" dirty="0">
                <a:ea typeface="標楷體" panose="03000509000000000000" pitchFamily="65" charset="-120"/>
              </a:rPr>
              <a:t>增加 </a:t>
            </a:r>
            <a:r>
              <a:rPr lang="en-US" altLang="zh-TW" sz="2800" dirty="0">
                <a:ea typeface="標楷體" panose="03000509000000000000" pitchFamily="65" charset="-120"/>
              </a:rPr>
              <a:t>500</a:t>
            </a:r>
            <a:r>
              <a:rPr lang="zh-TW" altLang="en-US" sz="2800" dirty="0">
                <a:ea typeface="標楷體" panose="03000509000000000000" pitchFamily="65" charset="-120"/>
              </a:rPr>
              <a:t> 筆資料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lvl="2"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33 -&gt; 15531 positive samples, 76 -&gt; 15504 negative samples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降低資料擴增的數量 </a:t>
            </a:r>
            <a:r>
              <a:rPr lang="en-US" altLang="zh-TW" sz="2800" dirty="0">
                <a:ea typeface="標楷體" panose="03000509000000000000" pitchFamily="65" charset="-120"/>
              </a:rPr>
              <a:t>500 -&gt; 250 </a:t>
            </a:r>
            <a:r>
              <a:rPr lang="zh-TW" altLang="en-US" sz="2800" dirty="0">
                <a:ea typeface="標楷體" panose="03000509000000000000" pitchFamily="65" charset="-120"/>
              </a:rPr>
              <a:t>個</a:t>
            </a:r>
            <a:r>
              <a:rPr lang="en-US" altLang="zh-TW" sz="2800" dirty="0">
                <a:ea typeface="標楷體" panose="03000509000000000000" pitchFamily="65" charset="-120"/>
              </a:rPr>
              <a:t>, 100</a:t>
            </a:r>
            <a:r>
              <a:rPr lang="zh-TW" altLang="en-US" sz="2800" dirty="0">
                <a:ea typeface="標楷體" panose="03000509000000000000" pitchFamily="65" charset="-120"/>
              </a:rPr>
              <a:t> 個</a:t>
            </a:r>
            <a:r>
              <a:rPr lang="en-US" altLang="zh-TW" sz="2800" dirty="0">
                <a:ea typeface="標楷體" panose="03000509000000000000" pitchFamily="65" charset="-120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zh-TW" altLang="en-US" sz="2800" dirty="0">
                <a:ea typeface="標楷體" panose="03000509000000000000" pitchFamily="65" charset="-120"/>
              </a:rPr>
              <a:t>降低 </a:t>
            </a:r>
            <a:r>
              <a:rPr lang="en-US" altLang="zh-TW" sz="2800" dirty="0">
                <a:ea typeface="標楷體" panose="03000509000000000000" pitchFamily="65" charset="-120"/>
              </a:rPr>
              <a:t>Learning Rate, </a:t>
            </a:r>
            <a:r>
              <a:rPr lang="zh-TW" altLang="en-US" sz="2800" dirty="0">
                <a:ea typeface="標楷體" panose="03000509000000000000" pitchFamily="65" charset="-120"/>
              </a:rPr>
              <a:t>提高 </a:t>
            </a:r>
            <a:r>
              <a:rPr lang="en-US" altLang="zh-TW" sz="2800" dirty="0">
                <a:ea typeface="標楷體" panose="03000509000000000000" pitchFamily="65" charset="-120"/>
              </a:rPr>
              <a:t>Epoch, </a:t>
            </a:r>
            <a:r>
              <a:rPr lang="zh-TW" altLang="en-US" sz="2800" dirty="0">
                <a:ea typeface="標楷體" panose="03000509000000000000" pitchFamily="65" charset="-120"/>
              </a:rPr>
              <a:t>增加 </a:t>
            </a:r>
            <a:r>
              <a:rPr lang="en-US" altLang="zh-TW" sz="2800" dirty="0">
                <a:ea typeface="標楷體" panose="03000509000000000000" pitchFamily="65" charset="-120"/>
              </a:rPr>
              <a:t>Scheduler</a:t>
            </a:r>
          </a:p>
          <a:p>
            <a:pPr lvl="2">
              <a:lnSpc>
                <a:spcPct val="10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Lr: 1e-4 -&gt; 1e-5, Epoch: 10 -&gt; 50, Scheduler: </a:t>
            </a:r>
            <a:r>
              <a:rPr lang="en-US" altLang="zh-TW" sz="2400" dirty="0" err="1">
                <a:ea typeface="標楷體" panose="03000509000000000000" pitchFamily="65" charset="-120"/>
              </a:rPr>
              <a:t>CosineAnnealingWarmRestarts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不使用 </a:t>
            </a:r>
            <a:r>
              <a:rPr lang="en-US" altLang="zh-TW" sz="3200" dirty="0">
                <a:ea typeface="標楷體" panose="03000509000000000000" pitchFamily="65" charset="-120"/>
              </a:rPr>
              <a:t>data augmentation</a:t>
            </a:r>
            <a:r>
              <a:rPr lang="zh-TW" altLang="en-US" sz="3200" dirty="0">
                <a:ea typeface="標楷體" panose="03000509000000000000" pitchFamily="65" charset="-120"/>
              </a:rPr>
              <a:t> 搭配 </a:t>
            </a:r>
            <a:r>
              <a:rPr lang="en-US" altLang="zh-TW" sz="3200" dirty="0">
                <a:ea typeface="標楷體" panose="03000509000000000000" pitchFamily="65" charset="-120"/>
              </a:rPr>
              <a:t>CE loss</a:t>
            </a:r>
            <a:r>
              <a:rPr lang="zh-TW" altLang="en-US" sz="3200" dirty="0">
                <a:ea typeface="標楷體" panose="03000509000000000000" pitchFamily="65" charset="-120"/>
              </a:rPr>
              <a:t> 和 </a:t>
            </a:r>
            <a:r>
              <a:rPr lang="en-US" altLang="zh-TW" sz="3200" dirty="0">
                <a:ea typeface="標楷體" panose="03000509000000000000" pitchFamily="65" charset="-120"/>
              </a:rPr>
              <a:t>Focal loss</a:t>
            </a:r>
          </a:p>
          <a:p>
            <a:pPr>
              <a:lnSpc>
                <a:spcPct val="100000"/>
              </a:lnSpc>
            </a:pPr>
            <a:r>
              <a:rPr lang="zh-TW" altLang="en-US" sz="3200" dirty="0">
                <a:ea typeface="標楷體" panose="03000509000000000000" pitchFamily="65" charset="-120"/>
              </a:rPr>
              <a:t>實驗使用的 </a:t>
            </a:r>
            <a:r>
              <a:rPr lang="en-US" altLang="zh-TW" sz="3200" dirty="0">
                <a:ea typeface="標楷體" panose="03000509000000000000" pitchFamily="65" charset="-120"/>
              </a:rPr>
              <a:t>model</a:t>
            </a:r>
          </a:p>
          <a:p>
            <a:pPr lvl="1">
              <a:lnSpc>
                <a:spcPct val="100000"/>
              </a:lnSpc>
            </a:pPr>
            <a:r>
              <a:rPr lang="en-US" altLang="zh-TW" sz="2800" dirty="0">
                <a:ea typeface="標楷體" panose="03000509000000000000" pitchFamily="65" charset="-120"/>
              </a:rPr>
              <a:t>Robert</a:t>
            </a:r>
          </a:p>
          <a:p>
            <a:pPr lvl="1">
              <a:lnSpc>
                <a:spcPct val="100000"/>
              </a:lnSpc>
            </a:pPr>
            <a:r>
              <a:rPr lang="en-US" altLang="zh-TW" sz="2800" dirty="0" err="1">
                <a:ea typeface="標楷體" panose="03000509000000000000" pitchFamily="65" charset="-120"/>
              </a:rPr>
              <a:t>WavLM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800" dirty="0">
                <a:ea typeface="標楷體" panose="03000509000000000000" pitchFamily="65" charset="-120"/>
              </a:rPr>
              <a:t>Robert + </a:t>
            </a:r>
            <a:r>
              <a:rPr lang="en-US" altLang="zh-TW" sz="2800" dirty="0" err="1">
                <a:ea typeface="標楷體" panose="03000509000000000000" pitchFamily="65" charset="-120"/>
              </a:rPr>
              <a:t>WavLM</a:t>
            </a:r>
            <a:endParaRPr lang="en-US" altLang="zh-TW" sz="28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458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451</Words>
  <Application>Microsoft Office PowerPoint</Application>
  <PresentationFormat>寬螢幕</PresentationFormat>
  <Paragraphs>121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Office 佈景主題</vt:lpstr>
      <vt:lpstr>2024/02/18 Meeting Report</vt:lpstr>
      <vt:lpstr>只使用語音的資料 – Robert 訓練結果</vt:lpstr>
      <vt:lpstr>只使用語音的資料 – Wav2Vec2.0 訓練結果</vt:lpstr>
      <vt:lpstr>只使用語音的資料 – WavLM 訓練結果</vt:lpstr>
      <vt:lpstr>只使用語音的資料 – Wav2Vec2.0 + Robert 訓練結果</vt:lpstr>
      <vt:lpstr>只使用語音的資料 – WavLM + Robert 訓練結果</vt:lpstr>
      <vt:lpstr>實驗觀察</vt:lpstr>
      <vt:lpstr>想問老師的</vt:lpstr>
      <vt:lpstr>後續實驗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2024/02/18 Meeting Report</dc:title>
  <dc:creator>嘉均 簡</dc:creator>
  <cp:lastModifiedBy>嘉均 簡</cp:lastModifiedBy>
  <cp:revision>15</cp:revision>
  <dcterms:created xsi:type="dcterms:W3CDTF">2025-02-18T04:32:31Z</dcterms:created>
  <dcterms:modified xsi:type="dcterms:W3CDTF">2025-03-12T08:05:40Z</dcterms:modified>
</cp:coreProperties>
</file>